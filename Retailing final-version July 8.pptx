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 id="2147484282" r:id="rId2"/>
    <p:sldMasterId id="2147484286" r:id="rId3"/>
    <p:sldMasterId id="2147484291" r:id="rId4"/>
  </p:sldMasterIdLst>
  <p:notesMasterIdLst>
    <p:notesMasterId r:id="rId25"/>
  </p:notesMasterIdLst>
  <p:handoutMasterIdLst>
    <p:handoutMasterId r:id="rId26"/>
  </p:handoutMasterIdLst>
  <p:sldIdLst>
    <p:sldId id="790" r:id="rId5"/>
    <p:sldId id="793" r:id="rId6"/>
    <p:sldId id="767" r:id="rId7"/>
    <p:sldId id="722" r:id="rId8"/>
    <p:sldId id="753" r:id="rId9"/>
    <p:sldId id="797" r:id="rId10"/>
    <p:sldId id="789" r:id="rId11"/>
    <p:sldId id="701" r:id="rId12"/>
    <p:sldId id="768" r:id="rId13"/>
    <p:sldId id="711" r:id="rId14"/>
    <p:sldId id="786" r:id="rId15"/>
    <p:sldId id="791" r:id="rId16"/>
    <p:sldId id="760" r:id="rId17"/>
    <p:sldId id="762" r:id="rId18"/>
    <p:sldId id="734" r:id="rId19"/>
    <p:sldId id="717" r:id="rId20"/>
    <p:sldId id="728" r:id="rId21"/>
    <p:sldId id="772" r:id="rId22"/>
    <p:sldId id="792" r:id="rId23"/>
    <p:sldId id="780" r:id="rId24"/>
  </p:sldIdLst>
  <p:sldSz cx="9906000" cy="6858000" type="A4"/>
  <p:notesSz cx="6810375" cy="9942513"/>
  <p:defaultTextStyle>
    <a:defPPr>
      <a:defRPr lang="en-US"/>
    </a:defPPr>
    <a:lvl1pPr algn="r" rtl="0" eaLnBrk="0" fontAlgn="base" hangingPunct="0">
      <a:spcBef>
        <a:spcPct val="0"/>
      </a:spcBef>
      <a:spcAft>
        <a:spcPct val="0"/>
      </a:spcAft>
      <a:defRPr sz="2800" kern="1200">
        <a:solidFill>
          <a:schemeClr val="tx1"/>
        </a:solidFill>
        <a:latin typeface="Arial" charset="0"/>
        <a:ea typeface="+mn-ea"/>
        <a:cs typeface="+mn-cs"/>
      </a:defRPr>
    </a:lvl1pPr>
    <a:lvl2pPr marL="457200" algn="r" rtl="0" eaLnBrk="0" fontAlgn="base" hangingPunct="0">
      <a:spcBef>
        <a:spcPct val="0"/>
      </a:spcBef>
      <a:spcAft>
        <a:spcPct val="0"/>
      </a:spcAft>
      <a:defRPr sz="2800" kern="1200">
        <a:solidFill>
          <a:schemeClr val="tx1"/>
        </a:solidFill>
        <a:latin typeface="Arial" charset="0"/>
        <a:ea typeface="+mn-ea"/>
        <a:cs typeface="+mn-cs"/>
      </a:defRPr>
    </a:lvl2pPr>
    <a:lvl3pPr marL="914400" algn="r" rtl="0" eaLnBrk="0" fontAlgn="base" hangingPunct="0">
      <a:spcBef>
        <a:spcPct val="0"/>
      </a:spcBef>
      <a:spcAft>
        <a:spcPct val="0"/>
      </a:spcAft>
      <a:defRPr sz="2800" kern="1200">
        <a:solidFill>
          <a:schemeClr val="tx1"/>
        </a:solidFill>
        <a:latin typeface="Arial" charset="0"/>
        <a:ea typeface="+mn-ea"/>
        <a:cs typeface="+mn-cs"/>
      </a:defRPr>
    </a:lvl3pPr>
    <a:lvl4pPr marL="1371600" algn="r" rtl="0" eaLnBrk="0" fontAlgn="base" hangingPunct="0">
      <a:spcBef>
        <a:spcPct val="0"/>
      </a:spcBef>
      <a:spcAft>
        <a:spcPct val="0"/>
      </a:spcAft>
      <a:defRPr sz="2800" kern="1200">
        <a:solidFill>
          <a:schemeClr val="tx1"/>
        </a:solidFill>
        <a:latin typeface="Arial" charset="0"/>
        <a:ea typeface="+mn-ea"/>
        <a:cs typeface="+mn-cs"/>
      </a:defRPr>
    </a:lvl4pPr>
    <a:lvl5pPr marL="1828800" algn="r" rtl="0" eaLnBrk="0" fontAlgn="base" hangingPunct="0">
      <a:spcBef>
        <a:spcPct val="0"/>
      </a:spcBef>
      <a:spcAft>
        <a:spcPct val="0"/>
      </a:spcAft>
      <a:defRPr sz="2800" kern="1200">
        <a:solidFill>
          <a:schemeClr val="tx1"/>
        </a:solidFill>
        <a:latin typeface="Arial" charset="0"/>
        <a:ea typeface="+mn-ea"/>
        <a:cs typeface="+mn-cs"/>
      </a:defRPr>
    </a:lvl5pPr>
    <a:lvl6pPr marL="2286000" algn="l" defTabSz="914400" rtl="0" eaLnBrk="1" latinLnBrk="0" hangingPunct="1">
      <a:defRPr sz="2800" kern="1200">
        <a:solidFill>
          <a:schemeClr val="tx1"/>
        </a:solidFill>
        <a:latin typeface="Arial" charset="0"/>
        <a:ea typeface="+mn-ea"/>
        <a:cs typeface="+mn-cs"/>
      </a:defRPr>
    </a:lvl6pPr>
    <a:lvl7pPr marL="2743200" algn="l" defTabSz="914400" rtl="0" eaLnBrk="1" latinLnBrk="0" hangingPunct="1">
      <a:defRPr sz="2800" kern="1200">
        <a:solidFill>
          <a:schemeClr val="tx1"/>
        </a:solidFill>
        <a:latin typeface="Arial" charset="0"/>
        <a:ea typeface="+mn-ea"/>
        <a:cs typeface="+mn-cs"/>
      </a:defRPr>
    </a:lvl7pPr>
    <a:lvl8pPr marL="3200400" algn="l" defTabSz="914400" rtl="0" eaLnBrk="1" latinLnBrk="0" hangingPunct="1">
      <a:defRPr sz="2800" kern="1200">
        <a:solidFill>
          <a:schemeClr val="tx1"/>
        </a:solidFill>
        <a:latin typeface="Arial" charset="0"/>
        <a:ea typeface="+mn-ea"/>
        <a:cs typeface="+mn-cs"/>
      </a:defRPr>
    </a:lvl8pPr>
    <a:lvl9pPr marL="3657600" algn="l" defTabSz="914400" rtl="0" eaLnBrk="1" latinLnBrk="0" hangingPunct="1">
      <a:defRPr sz="2800" kern="1200">
        <a:solidFill>
          <a:schemeClr val="tx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uthor" initials="A" lastIdx="2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E1F6"/>
    <a:srgbClr val="001132"/>
    <a:srgbClr val="4AABFC"/>
    <a:srgbClr val="009BE1"/>
    <a:srgbClr val="0066FF"/>
    <a:srgbClr val="001236"/>
    <a:srgbClr val="051039"/>
    <a:srgbClr val="669900"/>
    <a:srgbClr val="FFFF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39" autoAdjust="0"/>
    <p:restoredTop sz="98957" autoAdjust="0"/>
  </p:normalViewPr>
  <p:slideViewPr>
    <p:cSldViewPr snapToGrid="0">
      <p:cViewPr>
        <p:scale>
          <a:sx n="89" d="100"/>
          <a:sy n="89" d="100"/>
        </p:scale>
        <p:origin x="-120" y="156"/>
      </p:cViewPr>
      <p:guideLst>
        <p:guide orient="horz" pos="2160"/>
        <p:guide pos="3120"/>
      </p:guideLst>
    </p:cSldViewPr>
  </p:slideViewPr>
  <p:outlineViewPr>
    <p:cViewPr>
      <p:scale>
        <a:sx n="33" d="100"/>
        <a:sy n="33" d="100"/>
      </p:scale>
      <p:origin x="42" y="0"/>
    </p:cViewPr>
  </p:outlineViewPr>
  <p:notesTextViewPr>
    <p:cViewPr>
      <p:scale>
        <a:sx n="66" d="100"/>
        <a:sy n="66" d="100"/>
      </p:scale>
      <p:origin x="0" y="0"/>
    </p:cViewPr>
  </p:notesTextViewPr>
  <p:sorterViewPr>
    <p:cViewPr>
      <p:scale>
        <a:sx n="100" d="100"/>
        <a:sy n="100" d="100"/>
      </p:scale>
      <p:origin x="0" y="0"/>
    </p:cViewPr>
  </p:sorterViewPr>
  <p:notesViewPr>
    <p:cSldViewPr snapToGrid="0">
      <p:cViewPr>
        <p:scale>
          <a:sx n="60" d="100"/>
          <a:sy n="60" d="100"/>
        </p:scale>
        <p:origin x="-2484" y="-582"/>
      </p:cViewPr>
      <p:guideLst>
        <p:guide orient="horz" pos="3133"/>
        <p:guide pos="214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 Id="rId4" Type="http://schemas.openxmlformats.org/officeDocument/2006/relationships/image" Target="../media/image28.png"/></Relationships>
</file>

<file path=ppt/diagrams/_rels/drawing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 Id="rId4" Type="http://schemas.openxmlformats.org/officeDocument/2006/relationships/image" Target="../media/image2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396191-30D9-4810-945D-EA1A7566B1CF}" type="doc">
      <dgm:prSet loTypeId="urn:microsoft.com/office/officeart/2008/layout/TitledPictureBlocks" loCatId="picture" qsTypeId="urn:microsoft.com/office/officeart/2005/8/quickstyle/3d1" qsCatId="3D" csTypeId="urn:microsoft.com/office/officeart/2005/8/colors/accent1_2" csCatId="accent1" phldr="1"/>
      <dgm:spPr/>
      <dgm:t>
        <a:bodyPr/>
        <a:lstStyle/>
        <a:p>
          <a:endParaRPr lang="en-US"/>
        </a:p>
      </dgm:t>
    </dgm:pt>
    <dgm:pt modelId="{0D3279EF-EF3C-4039-8EB7-9C60BF05DEAB}">
      <dgm:prSet phldrT="[Text]"/>
      <dgm:spPr>
        <a:solidFill>
          <a:srgbClr val="009BE1"/>
        </a:solidFill>
      </dgm:spPr>
      <dgm:t>
        <a:bodyPr/>
        <a:lstStyle/>
        <a:p>
          <a:r>
            <a:rPr lang="en-US" b="1" u="none" dirty="0" smtClean="0"/>
            <a:t>Users’ experience</a:t>
          </a:r>
          <a:endParaRPr lang="en-US" b="1" u="none" dirty="0"/>
        </a:p>
      </dgm:t>
    </dgm:pt>
    <dgm:pt modelId="{5A65B258-0091-40E5-B5E9-49749B788900}" type="parTrans" cxnId="{1390BA63-5951-4290-AFF1-DEC744A6602A}">
      <dgm:prSet/>
      <dgm:spPr/>
      <dgm:t>
        <a:bodyPr/>
        <a:lstStyle/>
        <a:p>
          <a:endParaRPr lang="en-US"/>
        </a:p>
      </dgm:t>
    </dgm:pt>
    <dgm:pt modelId="{769E0FA6-4331-4EE4-8DDA-21C74544E02F}" type="sibTrans" cxnId="{1390BA63-5951-4290-AFF1-DEC744A6602A}">
      <dgm:prSet/>
      <dgm:spPr/>
      <dgm:t>
        <a:bodyPr/>
        <a:lstStyle/>
        <a:p>
          <a:endParaRPr lang="en-US"/>
        </a:p>
      </dgm:t>
    </dgm:pt>
    <dgm:pt modelId="{D50364F3-D3BD-4AB7-8D8A-C206C3179944}">
      <dgm:prSet phldrT="[Text]" custT="1"/>
      <dgm:spPr>
        <a:solidFill>
          <a:schemeClr val="bg1"/>
        </a:solidFill>
        <a:ln>
          <a:solidFill>
            <a:srgbClr val="009BE1"/>
          </a:solidFill>
        </a:ln>
      </dgm:spPr>
      <dgm:t>
        <a:bodyPr/>
        <a:lstStyle/>
        <a:p>
          <a:pPr algn="ctr"/>
          <a:r>
            <a:rPr lang="en-US" sz="1000" b="0" dirty="0" smtClean="0">
              <a:solidFill>
                <a:srgbClr val="009BE1"/>
              </a:solidFill>
            </a:rPr>
            <a:t>Tracking behavioral data and data from third parties in order to offer relevant content based on individual tastes </a:t>
          </a:r>
          <a:endParaRPr lang="en-US" sz="1000" b="0" dirty="0">
            <a:solidFill>
              <a:srgbClr val="009BE1"/>
            </a:solidFill>
          </a:endParaRPr>
        </a:p>
      </dgm:t>
    </dgm:pt>
    <dgm:pt modelId="{464F6607-0126-443C-AC17-3038FDA6AC79}" type="parTrans" cxnId="{FB6D0ABA-476B-420E-B286-AE82027205DF}">
      <dgm:prSet/>
      <dgm:spPr/>
      <dgm:t>
        <a:bodyPr/>
        <a:lstStyle/>
        <a:p>
          <a:endParaRPr lang="en-US"/>
        </a:p>
      </dgm:t>
    </dgm:pt>
    <dgm:pt modelId="{C2517217-2508-4835-BD9A-A47B11BC3FD1}" type="sibTrans" cxnId="{FB6D0ABA-476B-420E-B286-AE82027205DF}">
      <dgm:prSet/>
      <dgm:spPr/>
      <dgm:t>
        <a:bodyPr/>
        <a:lstStyle/>
        <a:p>
          <a:endParaRPr lang="en-US"/>
        </a:p>
      </dgm:t>
    </dgm:pt>
    <dgm:pt modelId="{B24A0102-2117-4EF6-9942-B90CEE96DFB5}">
      <dgm:prSet phldrT="[Text]"/>
      <dgm:spPr>
        <a:solidFill>
          <a:srgbClr val="009BE1"/>
        </a:solidFill>
      </dgm:spPr>
      <dgm:t>
        <a:bodyPr/>
        <a:lstStyle/>
        <a:p>
          <a:r>
            <a:rPr lang="en-US" b="1" dirty="0" smtClean="0"/>
            <a:t>Seamless connectivity</a:t>
          </a:r>
          <a:endParaRPr lang="en-US" b="1" dirty="0"/>
        </a:p>
      </dgm:t>
    </dgm:pt>
    <dgm:pt modelId="{39BA14B1-F602-4782-AA1B-CAD13B97A6AA}" type="parTrans" cxnId="{865D1636-2F7A-439C-85D7-68C425F848B3}">
      <dgm:prSet/>
      <dgm:spPr/>
      <dgm:t>
        <a:bodyPr/>
        <a:lstStyle/>
        <a:p>
          <a:endParaRPr lang="en-US"/>
        </a:p>
      </dgm:t>
    </dgm:pt>
    <dgm:pt modelId="{56ED8DAC-4E51-4840-B59C-AF00B6385C1D}" type="sibTrans" cxnId="{865D1636-2F7A-439C-85D7-68C425F848B3}">
      <dgm:prSet/>
      <dgm:spPr/>
      <dgm:t>
        <a:bodyPr/>
        <a:lstStyle/>
        <a:p>
          <a:endParaRPr lang="en-US"/>
        </a:p>
      </dgm:t>
    </dgm:pt>
    <dgm:pt modelId="{597B37B6-3A16-42E0-BF26-8806656E4650}">
      <dgm:prSet phldrT="[Text]" custT="1"/>
      <dgm:spPr>
        <a:ln>
          <a:solidFill>
            <a:srgbClr val="009BE1"/>
          </a:solidFill>
        </a:ln>
      </dgm:spPr>
      <dgm:t>
        <a:bodyPr/>
        <a:lstStyle/>
        <a:p>
          <a:pPr algn="ctr"/>
          <a:r>
            <a:rPr lang="en-US" sz="1000" dirty="0" smtClean="0">
              <a:solidFill>
                <a:srgbClr val="009BE1"/>
              </a:solidFill>
            </a:rPr>
            <a:t>Leverages mobile technology to make the process of ordering and using a taxi service much more customer centric and personalized </a:t>
          </a:r>
          <a:endParaRPr lang="en-US" sz="1000" dirty="0">
            <a:solidFill>
              <a:srgbClr val="009BE1"/>
            </a:solidFill>
          </a:endParaRPr>
        </a:p>
      </dgm:t>
    </dgm:pt>
    <dgm:pt modelId="{A107CC37-8EB6-409B-912D-95154C0CF333}" type="parTrans" cxnId="{6843A8A9-0DC7-4FCF-A688-98A5CE9259BC}">
      <dgm:prSet/>
      <dgm:spPr/>
      <dgm:t>
        <a:bodyPr/>
        <a:lstStyle/>
        <a:p>
          <a:endParaRPr lang="en-US"/>
        </a:p>
      </dgm:t>
    </dgm:pt>
    <dgm:pt modelId="{E67EFE7A-CDAF-4568-942A-11CE5EA051C3}" type="sibTrans" cxnId="{6843A8A9-0DC7-4FCF-A688-98A5CE9259BC}">
      <dgm:prSet/>
      <dgm:spPr/>
      <dgm:t>
        <a:bodyPr/>
        <a:lstStyle/>
        <a:p>
          <a:endParaRPr lang="en-US"/>
        </a:p>
      </dgm:t>
    </dgm:pt>
    <dgm:pt modelId="{B477697E-67CC-45A5-856D-4ED07AF7AD9A}">
      <dgm:prSet phldrT="[Text]"/>
      <dgm:spPr>
        <a:solidFill>
          <a:srgbClr val="009BE1"/>
        </a:solidFill>
      </dgm:spPr>
      <dgm:t>
        <a:bodyPr/>
        <a:lstStyle/>
        <a:p>
          <a:r>
            <a:rPr lang="en-US" b="1" dirty="0" smtClean="0"/>
            <a:t>Innovation and creativity </a:t>
          </a:r>
          <a:endParaRPr lang="en-US" b="1" dirty="0"/>
        </a:p>
      </dgm:t>
    </dgm:pt>
    <dgm:pt modelId="{1A3FF84C-55B7-488C-8AF3-53BFEFA6DD03}" type="parTrans" cxnId="{DACB000E-FF6A-45E7-B2D0-1ABF0E65F480}">
      <dgm:prSet/>
      <dgm:spPr/>
      <dgm:t>
        <a:bodyPr/>
        <a:lstStyle/>
        <a:p>
          <a:endParaRPr lang="en-US"/>
        </a:p>
      </dgm:t>
    </dgm:pt>
    <dgm:pt modelId="{B72F83C6-CD9C-4CD3-BF70-21B46139B032}" type="sibTrans" cxnId="{DACB000E-FF6A-45E7-B2D0-1ABF0E65F480}">
      <dgm:prSet/>
      <dgm:spPr/>
      <dgm:t>
        <a:bodyPr/>
        <a:lstStyle/>
        <a:p>
          <a:endParaRPr lang="en-US"/>
        </a:p>
      </dgm:t>
    </dgm:pt>
    <dgm:pt modelId="{C5E878C4-133E-4E25-8734-185FBEA10E3C}">
      <dgm:prSet phldrT="[Text]" custT="1"/>
      <dgm:spPr>
        <a:ln>
          <a:solidFill>
            <a:srgbClr val="009BE1"/>
          </a:solidFill>
        </a:ln>
      </dgm:spPr>
      <dgm:t>
        <a:bodyPr/>
        <a:lstStyle/>
        <a:p>
          <a:pPr algn="ctr"/>
          <a:r>
            <a:rPr lang="en-US" sz="1000" dirty="0" smtClean="0">
              <a:solidFill>
                <a:srgbClr val="009BE1"/>
              </a:solidFill>
            </a:rPr>
            <a:t>Interactivity and engagement are key features of their use of technology. It allows them to </a:t>
          </a:r>
          <a:r>
            <a:rPr lang="en-US" sz="1000" smtClean="0">
              <a:solidFill>
                <a:srgbClr val="009BE1"/>
              </a:solidFill>
            </a:rPr>
            <a:t>reduce queues and </a:t>
          </a:r>
          <a:r>
            <a:rPr lang="en-US" sz="1000" dirty="0" smtClean="0">
              <a:solidFill>
                <a:srgbClr val="009BE1"/>
              </a:solidFill>
            </a:rPr>
            <a:t>provide personalized experience</a:t>
          </a:r>
          <a:endParaRPr lang="en-US" sz="1000" dirty="0">
            <a:solidFill>
              <a:srgbClr val="009BE1"/>
            </a:solidFill>
          </a:endParaRPr>
        </a:p>
      </dgm:t>
    </dgm:pt>
    <dgm:pt modelId="{EA10850B-51CF-456F-83AF-F752F43F8D0B}" type="parTrans" cxnId="{3AE3CA97-42CD-402C-818C-B34FF1082830}">
      <dgm:prSet/>
      <dgm:spPr/>
      <dgm:t>
        <a:bodyPr/>
        <a:lstStyle/>
        <a:p>
          <a:endParaRPr lang="en-US"/>
        </a:p>
      </dgm:t>
    </dgm:pt>
    <dgm:pt modelId="{EE71FC64-1E2C-4084-843F-4D71299D666E}" type="sibTrans" cxnId="{3AE3CA97-42CD-402C-818C-B34FF1082830}">
      <dgm:prSet/>
      <dgm:spPr/>
      <dgm:t>
        <a:bodyPr/>
        <a:lstStyle/>
        <a:p>
          <a:endParaRPr lang="en-US"/>
        </a:p>
      </dgm:t>
    </dgm:pt>
    <dgm:pt modelId="{BFD2BC4E-C79B-4937-9E32-54371A2C963B}">
      <dgm:prSet phldrT="[Text]"/>
      <dgm:spPr>
        <a:solidFill>
          <a:srgbClr val="009BE1"/>
        </a:solidFill>
      </dgm:spPr>
      <dgm:t>
        <a:bodyPr/>
        <a:lstStyle/>
        <a:p>
          <a:r>
            <a:rPr lang="en-US" b="1" dirty="0" smtClean="0"/>
            <a:t>More responsive </a:t>
          </a:r>
          <a:endParaRPr lang="en-US" b="1" dirty="0"/>
        </a:p>
      </dgm:t>
    </dgm:pt>
    <dgm:pt modelId="{F2FD08C8-CE30-49EC-BC26-AD93C30951F1}" type="parTrans" cxnId="{CBF0BCB6-2929-4505-AAB7-AB48E3F7D8BD}">
      <dgm:prSet/>
      <dgm:spPr/>
      <dgm:t>
        <a:bodyPr/>
        <a:lstStyle/>
        <a:p>
          <a:endParaRPr lang="en-US"/>
        </a:p>
      </dgm:t>
    </dgm:pt>
    <dgm:pt modelId="{CC9463CD-ACC9-4476-9ADF-2C4F9519A701}" type="sibTrans" cxnId="{CBF0BCB6-2929-4505-AAB7-AB48E3F7D8BD}">
      <dgm:prSet/>
      <dgm:spPr/>
      <dgm:t>
        <a:bodyPr/>
        <a:lstStyle/>
        <a:p>
          <a:endParaRPr lang="en-US"/>
        </a:p>
      </dgm:t>
    </dgm:pt>
    <dgm:pt modelId="{C070E805-8547-4B38-86A5-40ADA7C13F09}">
      <dgm:prSet phldrT="[Text]" custT="1"/>
      <dgm:spPr>
        <a:ln>
          <a:solidFill>
            <a:srgbClr val="009BE1"/>
          </a:solidFill>
        </a:ln>
      </dgm:spPr>
      <dgm:t>
        <a:bodyPr/>
        <a:lstStyle/>
        <a:p>
          <a:pPr algn="ctr"/>
          <a:r>
            <a:rPr lang="en-US" sz="1000" dirty="0" smtClean="0">
              <a:solidFill>
                <a:srgbClr val="009BE1"/>
              </a:solidFill>
            </a:rPr>
            <a:t>They are taking the use of big data and analytics one step further by deploying an “anticipatory shipping” process  </a:t>
          </a:r>
          <a:endParaRPr lang="en-US" sz="1000" dirty="0">
            <a:solidFill>
              <a:srgbClr val="009BE1"/>
            </a:solidFill>
          </a:endParaRPr>
        </a:p>
      </dgm:t>
    </dgm:pt>
    <dgm:pt modelId="{49D95951-34CD-4203-B9CB-3DBAA193A502}" type="parTrans" cxnId="{5BCA3DBA-C2D9-483E-8358-01A6CE3B26A4}">
      <dgm:prSet/>
      <dgm:spPr/>
      <dgm:t>
        <a:bodyPr/>
        <a:lstStyle/>
        <a:p>
          <a:endParaRPr lang="en-US"/>
        </a:p>
      </dgm:t>
    </dgm:pt>
    <dgm:pt modelId="{592B1957-BDA0-4F1F-A82E-4740EC9F0F88}" type="sibTrans" cxnId="{5BCA3DBA-C2D9-483E-8358-01A6CE3B26A4}">
      <dgm:prSet/>
      <dgm:spPr/>
      <dgm:t>
        <a:bodyPr/>
        <a:lstStyle/>
        <a:p>
          <a:endParaRPr lang="en-US"/>
        </a:p>
      </dgm:t>
    </dgm:pt>
    <dgm:pt modelId="{9D7F3223-7EB3-424D-B212-9687EB0E9C71}" type="pres">
      <dgm:prSet presAssocID="{4F396191-30D9-4810-945D-EA1A7566B1CF}" presName="rootNode" presStyleCnt="0">
        <dgm:presLayoutVars>
          <dgm:chMax/>
          <dgm:chPref/>
          <dgm:dir/>
          <dgm:animLvl val="lvl"/>
        </dgm:presLayoutVars>
      </dgm:prSet>
      <dgm:spPr/>
      <dgm:t>
        <a:bodyPr/>
        <a:lstStyle/>
        <a:p>
          <a:endParaRPr lang="en-US"/>
        </a:p>
      </dgm:t>
    </dgm:pt>
    <dgm:pt modelId="{F086454B-8B1C-4326-92D9-432639FC8B3D}" type="pres">
      <dgm:prSet presAssocID="{0D3279EF-EF3C-4039-8EB7-9C60BF05DEAB}" presName="composite" presStyleCnt="0"/>
      <dgm:spPr/>
    </dgm:pt>
    <dgm:pt modelId="{B314E0FA-5B75-4459-ADAC-4DCFD1160E82}" type="pres">
      <dgm:prSet presAssocID="{0D3279EF-EF3C-4039-8EB7-9C60BF05DEAB}" presName="ParentText" presStyleLbl="node1" presStyleIdx="0" presStyleCnt="4">
        <dgm:presLayoutVars>
          <dgm:chMax val="1"/>
          <dgm:chPref val="1"/>
          <dgm:bulletEnabled val="1"/>
        </dgm:presLayoutVars>
      </dgm:prSet>
      <dgm:spPr/>
      <dgm:t>
        <a:bodyPr/>
        <a:lstStyle/>
        <a:p>
          <a:endParaRPr lang="en-US"/>
        </a:p>
      </dgm:t>
    </dgm:pt>
    <dgm:pt modelId="{F5FE4B18-D1D2-45AE-9163-7D3BC9FAE862}" type="pres">
      <dgm:prSet presAssocID="{0D3279EF-EF3C-4039-8EB7-9C60BF05DEAB}" presName="Image" presStyleLbl="bgImgPlace1" presStyleIdx="0" presStyleCnt="4"/>
      <dgm:spPr>
        <a:blipFill rotWithShape="1">
          <a:blip xmlns:r="http://schemas.openxmlformats.org/officeDocument/2006/relationships" r:embed="rId1" cstate="email">
            <a:extLst>
              <a:ext uri="{28A0092B-C50C-407E-A947-70E740481C1C}">
                <a14:useLocalDpi xmlns:a14="http://schemas.microsoft.com/office/drawing/2010/main"/>
              </a:ext>
            </a:extLst>
          </a:blip>
          <a:stretch>
            <a:fillRect/>
          </a:stretch>
        </a:blipFill>
      </dgm:spPr>
      <dgm:t>
        <a:bodyPr/>
        <a:lstStyle/>
        <a:p>
          <a:endParaRPr lang="en-US"/>
        </a:p>
      </dgm:t>
    </dgm:pt>
    <dgm:pt modelId="{0096C0D4-C638-49A8-8ECF-50CE6AED5A81}" type="pres">
      <dgm:prSet presAssocID="{0D3279EF-EF3C-4039-8EB7-9C60BF05DEAB}" presName="ChildText" presStyleLbl="fgAcc1" presStyleIdx="0" presStyleCnt="4" custScaleX="115889" custScaleY="137299" custLinFactNeighborX="28492" custLinFactNeighborY="35278">
        <dgm:presLayoutVars>
          <dgm:chMax val="0"/>
          <dgm:chPref val="0"/>
          <dgm:bulletEnabled val="1"/>
        </dgm:presLayoutVars>
      </dgm:prSet>
      <dgm:spPr/>
      <dgm:t>
        <a:bodyPr/>
        <a:lstStyle/>
        <a:p>
          <a:endParaRPr lang="en-US"/>
        </a:p>
      </dgm:t>
    </dgm:pt>
    <dgm:pt modelId="{FA4C7137-4E64-412F-BA55-E39CAACB8341}" type="pres">
      <dgm:prSet presAssocID="{769E0FA6-4331-4EE4-8DDA-21C74544E02F}" presName="sibTrans" presStyleCnt="0"/>
      <dgm:spPr/>
    </dgm:pt>
    <dgm:pt modelId="{4017B73E-8530-40AA-80CB-D3734FA35A4C}" type="pres">
      <dgm:prSet presAssocID="{B24A0102-2117-4EF6-9942-B90CEE96DFB5}" presName="composite" presStyleCnt="0"/>
      <dgm:spPr/>
    </dgm:pt>
    <dgm:pt modelId="{45BFFED8-BA4F-4024-9EDF-25E698E149EA}" type="pres">
      <dgm:prSet presAssocID="{B24A0102-2117-4EF6-9942-B90CEE96DFB5}" presName="ParentText" presStyleLbl="node1" presStyleIdx="1" presStyleCnt="4" custLinFactNeighborX="17604">
        <dgm:presLayoutVars>
          <dgm:chMax val="1"/>
          <dgm:chPref val="1"/>
          <dgm:bulletEnabled val="1"/>
        </dgm:presLayoutVars>
      </dgm:prSet>
      <dgm:spPr/>
      <dgm:t>
        <a:bodyPr/>
        <a:lstStyle/>
        <a:p>
          <a:endParaRPr lang="en-US"/>
        </a:p>
      </dgm:t>
    </dgm:pt>
    <dgm:pt modelId="{CA9E112D-9A3B-4CAD-8CB2-5DFC4130C7D5}" type="pres">
      <dgm:prSet presAssocID="{B24A0102-2117-4EF6-9942-B90CEE96DFB5}" presName="Image" presStyleLbl="bgImgPlace1" presStyleIdx="1" presStyleCnt="4" custLinFactNeighborX="17604"/>
      <dgm:spPr>
        <a:blipFill rotWithShape="1">
          <a:blip xmlns:r="http://schemas.openxmlformats.org/officeDocument/2006/relationships" r:embed="rId2" cstate="email">
            <a:extLst>
              <a:ext uri="{28A0092B-C50C-407E-A947-70E740481C1C}">
                <a14:useLocalDpi xmlns:a14="http://schemas.microsoft.com/office/drawing/2010/main"/>
              </a:ext>
            </a:extLst>
          </a:blip>
          <a:stretch>
            <a:fillRect/>
          </a:stretch>
        </a:blipFill>
      </dgm:spPr>
      <dgm:t>
        <a:bodyPr/>
        <a:lstStyle/>
        <a:p>
          <a:endParaRPr lang="en-US"/>
        </a:p>
      </dgm:t>
    </dgm:pt>
    <dgm:pt modelId="{BF29A9F8-F187-4E68-8BE8-AF95A0D716D4}" type="pres">
      <dgm:prSet presAssocID="{B24A0102-2117-4EF6-9942-B90CEE96DFB5}" presName="ChildText" presStyleLbl="fgAcc1" presStyleIdx="1" presStyleCnt="4" custScaleX="119301" custScaleY="145702" custLinFactNeighborX="64462" custLinFactNeighborY="37794">
        <dgm:presLayoutVars>
          <dgm:chMax val="0"/>
          <dgm:chPref val="0"/>
          <dgm:bulletEnabled val="1"/>
        </dgm:presLayoutVars>
      </dgm:prSet>
      <dgm:spPr/>
      <dgm:t>
        <a:bodyPr/>
        <a:lstStyle/>
        <a:p>
          <a:endParaRPr lang="en-US"/>
        </a:p>
      </dgm:t>
    </dgm:pt>
    <dgm:pt modelId="{8DC0E4CC-8469-42BF-A853-1A98247819B1}" type="pres">
      <dgm:prSet presAssocID="{56ED8DAC-4E51-4840-B59C-AF00B6385C1D}" presName="sibTrans" presStyleCnt="0"/>
      <dgm:spPr/>
    </dgm:pt>
    <dgm:pt modelId="{1F86391D-78FF-4D89-950D-99AAE27CAC81}" type="pres">
      <dgm:prSet presAssocID="{B477697E-67CC-45A5-856D-4ED07AF7AD9A}" presName="composite" presStyleCnt="0"/>
      <dgm:spPr/>
    </dgm:pt>
    <dgm:pt modelId="{63DE5D4F-B79D-46F9-97A9-50554EFABA28}" type="pres">
      <dgm:prSet presAssocID="{B477697E-67CC-45A5-856D-4ED07AF7AD9A}" presName="ParentText" presStyleLbl="node1" presStyleIdx="2" presStyleCnt="4">
        <dgm:presLayoutVars>
          <dgm:chMax val="1"/>
          <dgm:chPref val="1"/>
          <dgm:bulletEnabled val="1"/>
        </dgm:presLayoutVars>
      </dgm:prSet>
      <dgm:spPr/>
      <dgm:t>
        <a:bodyPr/>
        <a:lstStyle/>
        <a:p>
          <a:endParaRPr lang="en-US"/>
        </a:p>
      </dgm:t>
    </dgm:pt>
    <dgm:pt modelId="{D566FC2F-D7BF-44BD-B569-9C1B5709423A}" type="pres">
      <dgm:prSet presAssocID="{B477697E-67CC-45A5-856D-4ED07AF7AD9A}" presName="Image" presStyleLbl="bgImgPlace1" presStyleIdx="2" presStyleCnt="4"/>
      <dgm:spPr>
        <a:blipFill rotWithShape="1">
          <a:blip xmlns:r="http://schemas.openxmlformats.org/officeDocument/2006/relationships" r:embed="rId3" cstate="email">
            <a:extLst>
              <a:ext uri="{28A0092B-C50C-407E-A947-70E740481C1C}">
                <a14:useLocalDpi xmlns:a14="http://schemas.microsoft.com/office/drawing/2010/main"/>
              </a:ext>
            </a:extLst>
          </a:blip>
          <a:stretch>
            <a:fillRect/>
          </a:stretch>
        </a:blipFill>
      </dgm:spPr>
      <dgm:t>
        <a:bodyPr/>
        <a:lstStyle/>
        <a:p>
          <a:endParaRPr lang="en-US"/>
        </a:p>
      </dgm:t>
    </dgm:pt>
    <dgm:pt modelId="{58CF65A6-7418-46AA-B1B1-C1FD49CE4CDD}" type="pres">
      <dgm:prSet presAssocID="{B477697E-67CC-45A5-856D-4ED07AF7AD9A}" presName="ChildText" presStyleLbl="fgAcc1" presStyleIdx="2" presStyleCnt="4" custScaleX="119922" custScaleY="137497" custLinFactNeighborX="32151" custLinFactNeighborY="33247">
        <dgm:presLayoutVars>
          <dgm:chMax val="0"/>
          <dgm:chPref val="0"/>
          <dgm:bulletEnabled val="1"/>
        </dgm:presLayoutVars>
      </dgm:prSet>
      <dgm:spPr/>
      <dgm:t>
        <a:bodyPr/>
        <a:lstStyle/>
        <a:p>
          <a:endParaRPr lang="en-US"/>
        </a:p>
      </dgm:t>
    </dgm:pt>
    <dgm:pt modelId="{EC144F68-6237-4B13-A8AE-A58AEBE2F9A6}" type="pres">
      <dgm:prSet presAssocID="{B72F83C6-CD9C-4CD3-BF70-21B46139B032}" presName="sibTrans" presStyleCnt="0"/>
      <dgm:spPr/>
    </dgm:pt>
    <dgm:pt modelId="{111D2BE6-08C1-4A92-990A-1E4B21891F84}" type="pres">
      <dgm:prSet presAssocID="{BFD2BC4E-C79B-4937-9E32-54371A2C963B}" presName="composite" presStyleCnt="0"/>
      <dgm:spPr/>
    </dgm:pt>
    <dgm:pt modelId="{701637FE-D276-4F0D-95AF-1C8B919FB899}" type="pres">
      <dgm:prSet presAssocID="{BFD2BC4E-C79B-4937-9E32-54371A2C963B}" presName="ParentText" presStyleLbl="node1" presStyleIdx="3" presStyleCnt="4" custLinFactNeighborX="17604">
        <dgm:presLayoutVars>
          <dgm:chMax val="1"/>
          <dgm:chPref val="1"/>
          <dgm:bulletEnabled val="1"/>
        </dgm:presLayoutVars>
      </dgm:prSet>
      <dgm:spPr/>
      <dgm:t>
        <a:bodyPr/>
        <a:lstStyle/>
        <a:p>
          <a:endParaRPr lang="en-US"/>
        </a:p>
      </dgm:t>
    </dgm:pt>
    <dgm:pt modelId="{457DFE77-3B0F-4F27-893B-529D7C9A3ABC}" type="pres">
      <dgm:prSet presAssocID="{BFD2BC4E-C79B-4937-9E32-54371A2C963B}" presName="Image" presStyleLbl="bgImgPlace1" presStyleIdx="3" presStyleCnt="4" custLinFactNeighborX="17604"/>
      <dgm:spPr>
        <a:blipFill rotWithShape="1">
          <a:blip xmlns:r="http://schemas.openxmlformats.org/officeDocument/2006/relationships" r:embed="rId4" cstate="email">
            <a:extLst>
              <a:ext uri="{28A0092B-C50C-407E-A947-70E740481C1C}">
                <a14:useLocalDpi xmlns:a14="http://schemas.microsoft.com/office/drawing/2010/main"/>
              </a:ext>
            </a:extLst>
          </a:blip>
          <a:stretch>
            <a:fillRect/>
          </a:stretch>
        </a:blipFill>
      </dgm:spPr>
      <dgm:t>
        <a:bodyPr/>
        <a:lstStyle/>
        <a:p>
          <a:endParaRPr lang="en-US"/>
        </a:p>
      </dgm:t>
    </dgm:pt>
    <dgm:pt modelId="{64D9131F-A254-4A52-8855-B4B216DE1C73}" type="pres">
      <dgm:prSet presAssocID="{BFD2BC4E-C79B-4937-9E32-54371A2C963B}" presName="ChildText" presStyleLbl="fgAcc1" presStyleIdx="3" presStyleCnt="4" custScaleX="122477" custScaleY="134942" custLinFactNeighborX="61730" custLinFactNeighborY="35516">
        <dgm:presLayoutVars>
          <dgm:chMax val="0"/>
          <dgm:chPref val="0"/>
          <dgm:bulletEnabled val="1"/>
        </dgm:presLayoutVars>
      </dgm:prSet>
      <dgm:spPr/>
      <dgm:t>
        <a:bodyPr/>
        <a:lstStyle/>
        <a:p>
          <a:endParaRPr lang="en-US"/>
        </a:p>
      </dgm:t>
    </dgm:pt>
  </dgm:ptLst>
  <dgm:cxnLst>
    <dgm:cxn modelId="{6843A8A9-0DC7-4FCF-A688-98A5CE9259BC}" srcId="{B24A0102-2117-4EF6-9942-B90CEE96DFB5}" destId="{597B37B6-3A16-42E0-BF26-8806656E4650}" srcOrd="0" destOrd="0" parTransId="{A107CC37-8EB6-409B-912D-95154C0CF333}" sibTransId="{E67EFE7A-CDAF-4568-942A-11CE5EA051C3}"/>
    <dgm:cxn modelId="{CBF0BCB6-2929-4505-AAB7-AB48E3F7D8BD}" srcId="{4F396191-30D9-4810-945D-EA1A7566B1CF}" destId="{BFD2BC4E-C79B-4937-9E32-54371A2C963B}" srcOrd="3" destOrd="0" parTransId="{F2FD08C8-CE30-49EC-BC26-AD93C30951F1}" sibTransId="{CC9463CD-ACC9-4476-9ADF-2C4F9519A701}"/>
    <dgm:cxn modelId="{54D74C34-F234-4190-AC96-ACCBDA72345F}" type="presOf" srcId="{4F396191-30D9-4810-945D-EA1A7566B1CF}" destId="{9D7F3223-7EB3-424D-B212-9687EB0E9C71}" srcOrd="0" destOrd="0" presId="urn:microsoft.com/office/officeart/2008/layout/TitledPictureBlocks"/>
    <dgm:cxn modelId="{36A58C94-5B04-4B91-BE7A-1A9B7F17C5A1}" type="presOf" srcId="{0D3279EF-EF3C-4039-8EB7-9C60BF05DEAB}" destId="{B314E0FA-5B75-4459-ADAC-4DCFD1160E82}" srcOrd="0" destOrd="0" presId="urn:microsoft.com/office/officeart/2008/layout/TitledPictureBlocks"/>
    <dgm:cxn modelId="{D3F46D50-12FD-46D5-BF20-9FAAEF58C0BD}" type="presOf" srcId="{B24A0102-2117-4EF6-9942-B90CEE96DFB5}" destId="{45BFFED8-BA4F-4024-9EDF-25E698E149EA}" srcOrd="0" destOrd="0" presId="urn:microsoft.com/office/officeart/2008/layout/TitledPictureBlocks"/>
    <dgm:cxn modelId="{FB6D0ABA-476B-420E-B286-AE82027205DF}" srcId="{0D3279EF-EF3C-4039-8EB7-9C60BF05DEAB}" destId="{D50364F3-D3BD-4AB7-8D8A-C206C3179944}" srcOrd="0" destOrd="0" parTransId="{464F6607-0126-443C-AC17-3038FDA6AC79}" sibTransId="{C2517217-2508-4835-BD9A-A47B11BC3FD1}"/>
    <dgm:cxn modelId="{5BCA3DBA-C2D9-483E-8358-01A6CE3B26A4}" srcId="{BFD2BC4E-C79B-4937-9E32-54371A2C963B}" destId="{C070E805-8547-4B38-86A5-40ADA7C13F09}" srcOrd="0" destOrd="0" parTransId="{49D95951-34CD-4203-B9CB-3DBAA193A502}" sibTransId="{592B1957-BDA0-4F1F-A82E-4740EC9F0F88}"/>
    <dgm:cxn modelId="{E8426688-54EC-4513-873B-B1A0941FEA09}" type="presOf" srcId="{C070E805-8547-4B38-86A5-40ADA7C13F09}" destId="{64D9131F-A254-4A52-8855-B4B216DE1C73}" srcOrd="0" destOrd="0" presId="urn:microsoft.com/office/officeart/2008/layout/TitledPictureBlocks"/>
    <dgm:cxn modelId="{01B1D2FE-06F8-4DCA-AD08-9C803AAA728B}" type="presOf" srcId="{597B37B6-3A16-42E0-BF26-8806656E4650}" destId="{BF29A9F8-F187-4E68-8BE8-AF95A0D716D4}" srcOrd="0" destOrd="0" presId="urn:microsoft.com/office/officeart/2008/layout/TitledPictureBlocks"/>
    <dgm:cxn modelId="{3AE3CA97-42CD-402C-818C-B34FF1082830}" srcId="{B477697E-67CC-45A5-856D-4ED07AF7AD9A}" destId="{C5E878C4-133E-4E25-8734-185FBEA10E3C}" srcOrd="0" destOrd="0" parTransId="{EA10850B-51CF-456F-83AF-F752F43F8D0B}" sibTransId="{EE71FC64-1E2C-4084-843F-4D71299D666E}"/>
    <dgm:cxn modelId="{14E4FB9E-5CA4-4E3E-9005-63E1C1AE9AB4}" type="presOf" srcId="{B477697E-67CC-45A5-856D-4ED07AF7AD9A}" destId="{63DE5D4F-B79D-46F9-97A9-50554EFABA28}" srcOrd="0" destOrd="0" presId="urn:microsoft.com/office/officeart/2008/layout/TitledPictureBlocks"/>
    <dgm:cxn modelId="{1390BA63-5951-4290-AFF1-DEC744A6602A}" srcId="{4F396191-30D9-4810-945D-EA1A7566B1CF}" destId="{0D3279EF-EF3C-4039-8EB7-9C60BF05DEAB}" srcOrd="0" destOrd="0" parTransId="{5A65B258-0091-40E5-B5E9-49749B788900}" sibTransId="{769E0FA6-4331-4EE4-8DDA-21C74544E02F}"/>
    <dgm:cxn modelId="{DACB000E-FF6A-45E7-B2D0-1ABF0E65F480}" srcId="{4F396191-30D9-4810-945D-EA1A7566B1CF}" destId="{B477697E-67CC-45A5-856D-4ED07AF7AD9A}" srcOrd="2" destOrd="0" parTransId="{1A3FF84C-55B7-488C-8AF3-53BFEFA6DD03}" sibTransId="{B72F83C6-CD9C-4CD3-BF70-21B46139B032}"/>
    <dgm:cxn modelId="{9101D823-A3D6-4531-8743-A68E32A0D09D}" type="presOf" srcId="{C5E878C4-133E-4E25-8734-185FBEA10E3C}" destId="{58CF65A6-7418-46AA-B1B1-C1FD49CE4CDD}" srcOrd="0" destOrd="0" presId="urn:microsoft.com/office/officeart/2008/layout/TitledPictureBlocks"/>
    <dgm:cxn modelId="{F954B071-7DEC-4F75-851C-A4874E90BB80}" type="presOf" srcId="{D50364F3-D3BD-4AB7-8D8A-C206C3179944}" destId="{0096C0D4-C638-49A8-8ECF-50CE6AED5A81}" srcOrd="0" destOrd="0" presId="urn:microsoft.com/office/officeart/2008/layout/TitledPictureBlocks"/>
    <dgm:cxn modelId="{EC172B74-3994-4B2D-8DBC-189A0A5E1590}" type="presOf" srcId="{BFD2BC4E-C79B-4937-9E32-54371A2C963B}" destId="{701637FE-D276-4F0D-95AF-1C8B919FB899}" srcOrd="0" destOrd="0" presId="urn:microsoft.com/office/officeart/2008/layout/TitledPictureBlocks"/>
    <dgm:cxn modelId="{865D1636-2F7A-439C-85D7-68C425F848B3}" srcId="{4F396191-30D9-4810-945D-EA1A7566B1CF}" destId="{B24A0102-2117-4EF6-9942-B90CEE96DFB5}" srcOrd="1" destOrd="0" parTransId="{39BA14B1-F602-4782-AA1B-CAD13B97A6AA}" sibTransId="{56ED8DAC-4E51-4840-B59C-AF00B6385C1D}"/>
    <dgm:cxn modelId="{5BA7D5AC-C307-454E-889C-791FB7330DFA}" type="presParOf" srcId="{9D7F3223-7EB3-424D-B212-9687EB0E9C71}" destId="{F086454B-8B1C-4326-92D9-432639FC8B3D}" srcOrd="0" destOrd="0" presId="urn:microsoft.com/office/officeart/2008/layout/TitledPictureBlocks"/>
    <dgm:cxn modelId="{20F674F9-36D8-4443-8CF5-2DC97237E023}" type="presParOf" srcId="{F086454B-8B1C-4326-92D9-432639FC8B3D}" destId="{B314E0FA-5B75-4459-ADAC-4DCFD1160E82}" srcOrd="0" destOrd="0" presId="urn:microsoft.com/office/officeart/2008/layout/TitledPictureBlocks"/>
    <dgm:cxn modelId="{52D46C26-7082-4FFB-A4E9-E09AC1BBBFD4}" type="presParOf" srcId="{F086454B-8B1C-4326-92D9-432639FC8B3D}" destId="{F5FE4B18-D1D2-45AE-9163-7D3BC9FAE862}" srcOrd="1" destOrd="0" presId="urn:microsoft.com/office/officeart/2008/layout/TitledPictureBlocks"/>
    <dgm:cxn modelId="{5A0F6884-3BF9-4C07-9E94-AAD6911466A7}" type="presParOf" srcId="{F086454B-8B1C-4326-92D9-432639FC8B3D}" destId="{0096C0D4-C638-49A8-8ECF-50CE6AED5A81}" srcOrd="2" destOrd="0" presId="urn:microsoft.com/office/officeart/2008/layout/TitledPictureBlocks"/>
    <dgm:cxn modelId="{A82014C0-55A4-4608-8A88-7456B29CE034}" type="presParOf" srcId="{9D7F3223-7EB3-424D-B212-9687EB0E9C71}" destId="{FA4C7137-4E64-412F-BA55-E39CAACB8341}" srcOrd="1" destOrd="0" presId="urn:microsoft.com/office/officeart/2008/layout/TitledPictureBlocks"/>
    <dgm:cxn modelId="{8CFC3333-AD8C-4D76-BF84-877A90070485}" type="presParOf" srcId="{9D7F3223-7EB3-424D-B212-9687EB0E9C71}" destId="{4017B73E-8530-40AA-80CB-D3734FA35A4C}" srcOrd="2" destOrd="0" presId="urn:microsoft.com/office/officeart/2008/layout/TitledPictureBlocks"/>
    <dgm:cxn modelId="{6946297F-5620-4454-816E-8C7FCB073223}" type="presParOf" srcId="{4017B73E-8530-40AA-80CB-D3734FA35A4C}" destId="{45BFFED8-BA4F-4024-9EDF-25E698E149EA}" srcOrd="0" destOrd="0" presId="urn:microsoft.com/office/officeart/2008/layout/TitledPictureBlocks"/>
    <dgm:cxn modelId="{B9EEE660-210D-4288-B812-CFD5A97434B3}" type="presParOf" srcId="{4017B73E-8530-40AA-80CB-D3734FA35A4C}" destId="{CA9E112D-9A3B-4CAD-8CB2-5DFC4130C7D5}" srcOrd="1" destOrd="0" presId="urn:microsoft.com/office/officeart/2008/layout/TitledPictureBlocks"/>
    <dgm:cxn modelId="{89BB20F0-7E9E-400D-9FBF-20574C1ACB12}" type="presParOf" srcId="{4017B73E-8530-40AA-80CB-D3734FA35A4C}" destId="{BF29A9F8-F187-4E68-8BE8-AF95A0D716D4}" srcOrd="2" destOrd="0" presId="urn:microsoft.com/office/officeart/2008/layout/TitledPictureBlocks"/>
    <dgm:cxn modelId="{81197BDB-E5C5-448C-B15E-389E3BC62636}" type="presParOf" srcId="{9D7F3223-7EB3-424D-B212-9687EB0E9C71}" destId="{8DC0E4CC-8469-42BF-A853-1A98247819B1}" srcOrd="3" destOrd="0" presId="urn:microsoft.com/office/officeart/2008/layout/TitledPictureBlocks"/>
    <dgm:cxn modelId="{68C48F49-8677-406B-A65A-AA710CB97AF8}" type="presParOf" srcId="{9D7F3223-7EB3-424D-B212-9687EB0E9C71}" destId="{1F86391D-78FF-4D89-950D-99AAE27CAC81}" srcOrd="4" destOrd="0" presId="urn:microsoft.com/office/officeart/2008/layout/TitledPictureBlocks"/>
    <dgm:cxn modelId="{2CE785F1-44F7-4F9F-9639-415ACC30EEE2}" type="presParOf" srcId="{1F86391D-78FF-4D89-950D-99AAE27CAC81}" destId="{63DE5D4F-B79D-46F9-97A9-50554EFABA28}" srcOrd="0" destOrd="0" presId="urn:microsoft.com/office/officeart/2008/layout/TitledPictureBlocks"/>
    <dgm:cxn modelId="{C852050E-5158-480D-BED5-17B984CBD804}" type="presParOf" srcId="{1F86391D-78FF-4D89-950D-99AAE27CAC81}" destId="{D566FC2F-D7BF-44BD-B569-9C1B5709423A}" srcOrd="1" destOrd="0" presId="urn:microsoft.com/office/officeart/2008/layout/TitledPictureBlocks"/>
    <dgm:cxn modelId="{BFBF4A54-1C73-4D63-A053-BE6A79953DAC}" type="presParOf" srcId="{1F86391D-78FF-4D89-950D-99AAE27CAC81}" destId="{58CF65A6-7418-46AA-B1B1-C1FD49CE4CDD}" srcOrd="2" destOrd="0" presId="urn:microsoft.com/office/officeart/2008/layout/TitledPictureBlocks"/>
    <dgm:cxn modelId="{A1E4C995-373F-4326-9A65-2B436F8FB69D}" type="presParOf" srcId="{9D7F3223-7EB3-424D-B212-9687EB0E9C71}" destId="{EC144F68-6237-4B13-A8AE-A58AEBE2F9A6}" srcOrd="5" destOrd="0" presId="urn:microsoft.com/office/officeart/2008/layout/TitledPictureBlocks"/>
    <dgm:cxn modelId="{C8F06CE3-02BF-4256-ABD7-6B883C658F26}" type="presParOf" srcId="{9D7F3223-7EB3-424D-B212-9687EB0E9C71}" destId="{111D2BE6-08C1-4A92-990A-1E4B21891F84}" srcOrd="6" destOrd="0" presId="urn:microsoft.com/office/officeart/2008/layout/TitledPictureBlocks"/>
    <dgm:cxn modelId="{E3A3513E-9541-434F-A8FE-7734349AD2D6}" type="presParOf" srcId="{111D2BE6-08C1-4A92-990A-1E4B21891F84}" destId="{701637FE-D276-4F0D-95AF-1C8B919FB899}" srcOrd="0" destOrd="0" presId="urn:microsoft.com/office/officeart/2008/layout/TitledPictureBlocks"/>
    <dgm:cxn modelId="{6C8DB5A2-6A62-4427-AABA-4A2E5044FEE0}" type="presParOf" srcId="{111D2BE6-08C1-4A92-990A-1E4B21891F84}" destId="{457DFE77-3B0F-4F27-893B-529D7C9A3ABC}" srcOrd="1" destOrd="0" presId="urn:microsoft.com/office/officeart/2008/layout/TitledPictureBlocks"/>
    <dgm:cxn modelId="{5B24FB27-C550-4ABF-9BAF-1A83E019531A}" type="presParOf" srcId="{111D2BE6-08C1-4A92-990A-1E4B21891F84}" destId="{64D9131F-A254-4A52-8855-B4B216DE1C73}" srcOrd="2" destOrd="0" presId="urn:microsoft.com/office/officeart/2008/layout/TitledPictureBlock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FE4B18-D1D2-45AE-9163-7D3BC9FAE862}">
      <dsp:nvSpPr>
        <dsp:cNvPr id="0" name=""/>
        <dsp:cNvSpPr/>
      </dsp:nvSpPr>
      <dsp:spPr>
        <a:xfrm>
          <a:off x="1164419" y="408127"/>
          <a:ext cx="2172297" cy="1840574"/>
        </a:xfrm>
        <a:prstGeom prst="rect">
          <a:avLst/>
        </a:prstGeom>
        <a:blipFill rotWithShape="1">
          <a:blip xmlns:r="http://schemas.openxmlformats.org/officeDocument/2006/relationships" r:embed="rId1" cstate="email">
            <a:extLst>
              <a:ext uri="{28A0092B-C50C-407E-A947-70E740481C1C}">
                <a14:useLocalDpi xmlns:a14="http://schemas.microsoft.com/office/drawing/2010/main"/>
              </a:ext>
            </a:extLst>
          </a:blip>
          <a:stretch>
            <a:fillRect/>
          </a:stretch>
        </a:blipFill>
        <a:ln>
          <a:noFill/>
        </a:ln>
        <a:effectLst>
          <a:outerShdw blurRad="40000" dist="23000" dir="5400000" rotWithShape="0">
            <a:srgbClr val="000000">
              <a:alpha val="35000"/>
            </a:srgbClr>
          </a:outerShdw>
        </a:effectLst>
        <a:scene3d>
          <a:camera prst="orthographicFront"/>
          <a:lightRig rig="flat" dir="t"/>
        </a:scene3d>
        <a:sp3d z="-190500" prstMaterial="plastic">
          <a:bevelT w="88900" h="88900"/>
          <a:bevelB w="88900" h="31750" prst="angle"/>
        </a:sp3d>
      </dsp:spPr>
      <dsp:style>
        <a:lnRef idx="0">
          <a:scrgbClr r="0" g="0" b="0"/>
        </a:lnRef>
        <a:fillRef idx="3">
          <a:scrgbClr r="0" g="0" b="0"/>
        </a:fillRef>
        <a:effectRef idx="2">
          <a:scrgbClr r="0" g="0" b="0"/>
        </a:effectRef>
        <a:fontRef idx="minor"/>
      </dsp:style>
    </dsp:sp>
    <dsp:sp modelId="{0096C0D4-C638-49A8-8ECF-50CE6AED5A81}">
      <dsp:nvSpPr>
        <dsp:cNvPr id="0" name=""/>
        <dsp:cNvSpPr/>
      </dsp:nvSpPr>
      <dsp:spPr>
        <a:xfrm>
          <a:off x="3259100" y="843968"/>
          <a:ext cx="1193739" cy="1471984"/>
        </a:xfrm>
        <a:prstGeom prst="roundRect">
          <a:avLst>
            <a:gd name="adj" fmla="val 10000"/>
          </a:avLst>
        </a:prstGeom>
        <a:solidFill>
          <a:schemeClr val="bg1"/>
        </a:solidFill>
        <a:ln w="9525" cap="flat" cmpd="sng" algn="ctr">
          <a:solidFill>
            <a:srgbClr val="009BE1"/>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0" kern="1200" dirty="0" smtClean="0">
              <a:solidFill>
                <a:srgbClr val="009BE1"/>
              </a:solidFill>
            </a:rPr>
            <a:t>Tracking behavioral data and data from third parties in order to offer relevant content based on individual tastes </a:t>
          </a:r>
          <a:endParaRPr lang="en-US" sz="1000" b="0" kern="1200" dirty="0">
            <a:solidFill>
              <a:srgbClr val="009BE1"/>
            </a:solidFill>
          </a:endParaRPr>
        </a:p>
      </dsp:txBody>
      <dsp:txXfrm>
        <a:off x="3294063" y="878931"/>
        <a:ext cx="1123813" cy="1402058"/>
      </dsp:txXfrm>
    </dsp:sp>
    <dsp:sp modelId="{B314E0FA-5B75-4459-ADAC-4DCFD1160E82}">
      <dsp:nvSpPr>
        <dsp:cNvPr id="0" name=""/>
        <dsp:cNvSpPr/>
      </dsp:nvSpPr>
      <dsp:spPr>
        <a:xfrm>
          <a:off x="1164419" y="57169"/>
          <a:ext cx="2172297" cy="316939"/>
        </a:xfrm>
        <a:prstGeom prst="rect">
          <a:avLst/>
        </a:prstGeom>
        <a:solidFill>
          <a:srgbClr val="009BE1"/>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b="1" u="none" kern="1200" dirty="0" smtClean="0"/>
            <a:t>Users’ experience</a:t>
          </a:r>
          <a:endParaRPr lang="en-US" sz="1300" b="1" u="none" kern="1200" dirty="0"/>
        </a:p>
      </dsp:txBody>
      <dsp:txXfrm>
        <a:off x="1164419" y="57169"/>
        <a:ext cx="2172297" cy="316939"/>
      </dsp:txXfrm>
    </dsp:sp>
    <dsp:sp modelId="{CA9E112D-9A3B-4CAD-8CB2-5DFC4130C7D5}">
      <dsp:nvSpPr>
        <dsp:cNvPr id="0" name=""/>
        <dsp:cNvSpPr/>
      </dsp:nvSpPr>
      <dsp:spPr>
        <a:xfrm>
          <a:off x="4944581" y="408127"/>
          <a:ext cx="2172297" cy="1840574"/>
        </a:xfrm>
        <a:prstGeom prst="rect">
          <a:avLst/>
        </a:prstGeom>
        <a:blipFill rotWithShape="1">
          <a:blip xmlns:r="http://schemas.openxmlformats.org/officeDocument/2006/relationships" r:embed="rId2" cstate="email">
            <a:extLst>
              <a:ext uri="{28A0092B-C50C-407E-A947-70E740481C1C}">
                <a14:useLocalDpi xmlns:a14="http://schemas.microsoft.com/office/drawing/2010/main"/>
              </a:ext>
            </a:extLst>
          </a:blip>
          <a:stretch>
            <a:fillRect/>
          </a:stretch>
        </a:blipFill>
        <a:ln>
          <a:noFill/>
        </a:ln>
        <a:effectLst>
          <a:outerShdw blurRad="40000" dist="23000" dir="5400000" rotWithShape="0">
            <a:srgbClr val="000000">
              <a:alpha val="35000"/>
            </a:srgbClr>
          </a:outerShdw>
        </a:effectLst>
        <a:scene3d>
          <a:camera prst="orthographicFront"/>
          <a:lightRig rig="flat" dir="t"/>
        </a:scene3d>
        <a:sp3d z="-190500" prstMaterial="plastic">
          <a:bevelT w="88900" h="88900"/>
          <a:bevelB w="88900" h="31750" prst="angle"/>
        </a:sp3d>
      </dsp:spPr>
      <dsp:style>
        <a:lnRef idx="0">
          <a:scrgbClr r="0" g="0" b="0"/>
        </a:lnRef>
        <a:fillRef idx="3">
          <a:scrgbClr r="0" g="0" b="0"/>
        </a:fillRef>
        <a:effectRef idx="2">
          <a:scrgbClr r="0" g="0" b="0"/>
        </a:effectRef>
        <a:fontRef idx="minor"/>
      </dsp:style>
    </dsp:sp>
    <dsp:sp modelId="{BF29A9F8-F187-4E68-8BE8-AF95A0D716D4}">
      <dsp:nvSpPr>
        <dsp:cNvPr id="0" name=""/>
        <dsp:cNvSpPr/>
      </dsp:nvSpPr>
      <dsp:spPr>
        <a:xfrm>
          <a:off x="7009795" y="825898"/>
          <a:ext cx="1228885" cy="1562073"/>
        </a:xfrm>
        <a:prstGeom prst="roundRect">
          <a:avLst>
            <a:gd name="adj" fmla="val 10000"/>
          </a:avLst>
        </a:prstGeom>
        <a:solidFill>
          <a:schemeClr val="lt1">
            <a:alpha val="90000"/>
            <a:hueOff val="0"/>
            <a:satOff val="0"/>
            <a:lumOff val="0"/>
            <a:alphaOff val="0"/>
          </a:schemeClr>
        </a:solidFill>
        <a:ln w="9525" cap="flat" cmpd="sng" algn="ctr">
          <a:solidFill>
            <a:srgbClr val="009BE1"/>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dirty="0" smtClean="0">
              <a:solidFill>
                <a:srgbClr val="009BE1"/>
              </a:solidFill>
            </a:rPr>
            <a:t>Leverages mobile technology to make the process of ordering and using a taxi service much more customer centric and personalized </a:t>
          </a:r>
          <a:endParaRPr lang="en-US" sz="1000" kern="1200" dirty="0">
            <a:solidFill>
              <a:srgbClr val="009BE1"/>
            </a:solidFill>
          </a:endParaRPr>
        </a:p>
      </dsp:txBody>
      <dsp:txXfrm>
        <a:off x="7045788" y="861891"/>
        <a:ext cx="1156899" cy="1490087"/>
      </dsp:txXfrm>
    </dsp:sp>
    <dsp:sp modelId="{45BFFED8-BA4F-4024-9EDF-25E698E149EA}">
      <dsp:nvSpPr>
        <dsp:cNvPr id="0" name=""/>
        <dsp:cNvSpPr/>
      </dsp:nvSpPr>
      <dsp:spPr>
        <a:xfrm>
          <a:off x="4944581" y="57169"/>
          <a:ext cx="2172297" cy="316939"/>
        </a:xfrm>
        <a:prstGeom prst="rect">
          <a:avLst/>
        </a:prstGeom>
        <a:solidFill>
          <a:srgbClr val="009BE1"/>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b="1" kern="1200" dirty="0" smtClean="0"/>
            <a:t>Seamless connectivity</a:t>
          </a:r>
          <a:endParaRPr lang="en-US" sz="1300" b="1" kern="1200" dirty="0"/>
        </a:p>
      </dsp:txBody>
      <dsp:txXfrm>
        <a:off x="4944581" y="57169"/>
        <a:ext cx="2172297" cy="316939"/>
      </dsp:txXfrm>
    </dsp:sp>
    <dsp:sp modelId="{D566FC2F-D7BF-44BD-B569-9C1B5709423A}">
      <dsp:nvSpPr>
        <dsp:cNvPr id="0" name=""/>
        <dsp:cNvSpPr/>
      </dsp:nvSpPr>
      <dsp:spPr>
        <a:xfrm>
          <a:off x="1145855" y="2890970"/>
          <a:ext cx="2172297" cy="1840574"/>
        </a:xfrm>
        <a:prstGeom prst="rect">
          <a:avLst/>
        </a:prstGeom>
        <a:blipFill rotWithShape="1">
          <a:blip xmlns:r="http://schemas.openxmlformats.org/officeDocument/2006/relationships" r:embed="rId3" cstate="email">
            <a:extLst>
              <a:ext uri="{28A0092B-C50C-407E-A947-70E740481C1C}">
                <a14:useLocalDpi xmlns:a14="http://schemas.microsoft.com/office/drawing/2010/main"/>
              </a:ext>
            </a:extLst>
          </a:blip>
          <a:stretch>
            <a:fillRect/>
          </a:stretch>
        </a:blipFill>
        <a:ln>
          <a:noFill/>
        </a:ln>
        <a:effectLst>
          <a:outerShdw blurRad="40000" dist="23000" dir="5400000" rotWithShape="0">
            <a:srgbClr val="000000">
              <a:alpha val="35000"/>
            </a:srgbClr>
          </a:outerShdw>
        </a:effectLst>
        <a:scene3d>
          <a:camera prst="orthographicFront"/>
          <a:lightRig rig="flat" dir="t"/>
        </a:scene3d>
        <a:sp3d z="-190500" prstMaterial="plastic">
          <a:bevelT w="88900" h="88900"/>
          <a:bevelB w="88900" h="31750" prst="angle"/>
        </a:sp3d>
      </dsp:spPr>
      <dsp:style>
        <a:lnRef idx="0">
          <a:scrgbClr r="0" g="0" b="0"/>
        </a:lnRef>
        <a:fillRef idx="3">
          <a:scrgbClr r="0" g="0" b="0"/>
        </a:fillRef>
        <a:effectRef idx="2">
          <a:scrgbClr r="0" g="0" b="0"/>
        </a:effectRef>
        <a:fontRef idx="minor"/>
      </dsp:style>
    </dsp:sp>
    <dsp:sp modelId="{58CF65A6-7418-46AA-B1B1-C1FD49CE4CDD}">
      <dsp:nvSpPr>
        <dsp:cNvPr id="0" name=""/>
        <dsp:cNvSpPr/>
      </dsp:nvSpPr>
      <dsp:spPr>
        <a:xfrm>
          <a:off x="3257455" y="3303975"/>
          <a:ext cx="1235282" cy="1474107"/>
        </a:xfrm>
        <a:prstGeom prst="roundRect">
          <a:avLst>
            <a:gd name="adj" fmla="val 10000"/>
          </a:avLst>
        </a:prstGeom>
        <a:solidFill>
          <a:schemeClr val="lt1">
            <a:alpha val="90000"/>
            <a:hueOff val="0"/>
            <a:satOff val="0"/>
            <a:lumOff val="0"/>
            <a:alphaOff val="0"/>
          </a:schemeClr>
        </a:solidFill>
        <a:ln w="9525" cap="flat" cmpd="sng" algn="ctr">
          <a:solidFill>
            <a:srgbClr val="009BE1"/>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dirty="0" smtClean="0">
              <a:solidFill>
                <a:srgbClr val="009BE1"/>
              </a:solidFill>
            </a:rPr>
            <a:t>Interactivity and engagement are key features of their use of technology. It allows them to </a:t>
          </a:r>
          <a:r>
            <a:rPr lang="en-US" sz="1000" kern="1200" smtClean="0">
              <a:solidFill>
                <a:srgbClr val="009BE1"/>
              </a:solidFill>
            </a:rPr>
            <a:t>reduce queues and </a:t>
          </a:r>
          <a:r>
            <a:rPr lang="en-US" sz="1000" kern="1200" dirty="0" smtClean="0">
              <a:solidFill>
                <a:srgbClr val="009BE1"/>
              </a:solidFill>
            </a:rPr>
            <a:t>provide personalized experience</a:t>
          </a:r>
          <a:endParaRPr lang="en-US" sz="1000" kern="1200" dirty="0">
            <a:solidFill>
              <a:srgbClr val="009BE1"/>
            </a:solidFill>
          </a:endParaRPr>
        </a:p>
      </dsp:txBody>
      <dsp:txXfrm>
        <a:off x="3293635" y="3340155"/>
        <a:ext cx="1162922" cy="1401747"/>
      </dsp:txXfrm>
    </dsp:sp>
    <dsp:sp modelId="{63DE5D4F-B79D-46F9-97A9-50554EFABA28}">
      <dsp:nvSpPr>
        <dsp:cNvPr id="0" name=""/>
        <dsp:cNvSpPr/>
      </dsp:nvSpPr>
      <dsp:spPr>
        <a:xfrm>
          <a:off x="1145855" y="2540012"/>
          <a:ext cx="2172297" cy="316939"/>
        </a:xfrm>
        <a:prstGeom prst="rect">
          <a:avLst/>
        </a:prstGeom>
        <a:solidFill>
          <a:srgbClr val="009BE1"/>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b="1" kern="1200" dirty="0" smtClean="0"/>
            <a:t>Innovation and creativity </a:t>
          </a:r>
          <a:endParaRPr lang="en-US" sz="1300" b="1" kern="1200" dirty="0"/>
        </a:p>
      </dsp:txBody>
      <dsp:txXfrm>
        <a:off x="1145855" y="2540012"/>
        <a:ext cx="2172297" cy="316939"/>
      </dsp:txXfrm>
    </dsp:sp>
    <dsp:sp modelId="{457DFE77-3B0F-4F27-893B-529D7C9A3ABC}">
      <dsp:nvSpPr>
        <dsp:cNvPr id="0" name=""/>
        <dsp:cNvSpPr/>
      </dsp:nvSpPr>
      <dsp:spPr>
        <a:xfrm>
          <a:off x="4946788" y="2890970"/>
          <a:ext cx="2172297" cy="1840574"/>
        </a:xfrm>
        <a:prstGeom prst="rect">
          <a:avLst/>
        </a:prstGeom>
        <a:blipFill rotWithShape="1">
          <a:blip xmlns:r="http://schemas.openxmlformats.org/officeDocument/2006/relationships" r:embed="rId4" cstate="email">
            <a:extLst>
              <a:ext uri="{28A0092B-C50C-407E-A947-70E740481C1C}">
                <a14:useLocalDpi xmlns:a14="http://schemas.microsoft.com/office/drawing/2010/main"/>
              </a:ext>
            </a:extLst>
          </a:blip>
          <a:stretch>
            <a:fillRect/>
          </a:stretch>
        </a:blipFill>
        <a:ln>
          <a:noFill/>
        </a:ln>
        <a:effectLst>
          <a:outerShdw blurRad="40000" dist="23000" dir="5400000" rotWithShape="0">
            <a:srgbClr val="000000">
              <a:alpha val="35000"/>
            </a:srgbClr>
          </a:outerShdw>
        </a:effectLst>
        <a:scene3d>
          <a:camera prst="orthographicFront"/>
          <a:lightRig rig="flat" dir="t"/>
        </a:scene3d>
        <a:sp3d z="-190500" prstMaterial="plastic">
          <a:bevelT w="88900" h="88900"/>
          <a:bevelB w="88900" h="31750" prst="angle"/>
        </a:sp3d>
      </dsp:spPr>
      <dsp:style>
        <a:lnRef idx="0">
          <a:scrgbClr r="0" g="0" b="0"/>
        </a:lnRef>
        <a:fillRef idx="3">
          <a:scrgbClr r="0" g="0" b="0"/>
        </a:fillRef>
        <a:effectRef idx="2">
          <a:scrgbClr r="0" g="0" b="0"/>
        </a:effectRef>
        <a:fontRef idx="minor"/>
      </dsp:style>
    </dsp:sp>
    <dsp:sp modelId="{64D9131F-A254-4A52-8855-B4B216DE1C73}">
      <dsp:nvSpPr>
        <dsp:cNvPr id="0" name=""/>
        <dsp:cNvSpPr/>
      </dsp:nvSpPr>
      <dsp:spPr>
        <a:xfrm>
          <a:off x="6967502" y="3341997"/>
          <a:ext cx="1261600" cy="1446715"/>
        </a:xfrm>
        <a:prstGeom prst="roundRect">
          <a:avLst>
            <a:gd name="adj" fmla="val 10000"/>
          </a:avLst>
        </a:prstGeom>
        <a:solidFill>
          <a:schemeClr val="lt1">
            <a:alpha val="90000"/>
            <a:hueOff val="0"/>
            <a:satOff val="0"/>
            <a:lumOff val="0"/>
            <a:alphaOff val="0"/>
          </a:schemeClr>
        </a:solidFill>
        <a:ln w="9525" cap="flat" cmpd="sng" algn="ctr">
          <a:solidFill>
            <a:srgbClr val="009BE1"/>
          </a:solidFill>
          <a:prstDash val="solid"/>
        </a:ln>
        <a:effectLst>
          <a:outerShdw blurRad="40000" dist="23000" dir="5400000" rotWithShape="0">
            <a:srgbClr val="000000">
              <a:alpha val="35000"/>
            </a:srgbClr>
          </a:outerShdw>
        </a:effectLst>
        <a:scene3d>
          <a:camera prst="orthographicFront"/>
          <a:lightRig rig="flat" dir="t"/>
        </a:scene3d>
        <a:sp3d z="190500"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kern="1200" dirty="0" smtClean="0">
              <a:solidFill>
                <a:srgbClr val="009BE1"/>
              </a:solidFill>
            </a:rPr>
            <a:t>They are taking the use of big data and analytics one step further by deploying an “anticipatory shipping” process  </a:t>
          </a:r>
          <a:endParaRPr lang="en-US" sz="1000" kern="1200" dirty="0">
            <a:solidFill>
              <a:srgbClr val="009BE1"/>
            </a:solidFill>
          </a:endParaRPr>
        </a:p>
      </dsp:txBody>
      <dsp:txXfrm>
        <a:off x="7004453" y="3378948"/>
        <a:ext cx="1187698" cy="1372813"/>
      </dsp:txXfrm>
    </dsp:sp>
    <dsp:sp modelId="{701637FE-D276-4F0D-95AF-1C8B919FB899}">
      <dsp:nvSpPr>
        <dsp:cNvPr id="0" name=""/>
        <dsp:cNvSpPr/>
      </dsp:nvSpPr>
      <dsp:spPr>
        <a:xfrm>
          <a:off x="4946788" y="2540012"/>
          <a:ext cx="2172297" cy="316939"/>
        </a:xfrm>
        <a:prstGeom prst="rect">
          <a:avLst/>
        </a:prstGeom>
        <a:solidFill>
          <a:srgbClr val="009BE1"/>
        </a:soli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sz="1300" b="1" kern="1200" dirty="0" smtClean="0"/>
            <a:t>More responsive </a:t>
          </a:r>
          <a:endParaRPr lang="en-US" sz="1300" b="1" kern="1200" dirty="0"/>
        </a:p>
      </dsp:txBody>
      <dsp:txXfrm>
        <a:off x="4946788" y="2540012"/>
        <a:ext cx="2172297" cy="316939"/>
      </dsp:txXfrm>
    </dsp:sp>
  </dsp:spTree>
</dsp:drawing>
</file>

<file path=ppt/diagrams/layout1.xml><?xml version="1.0" encoding="utf-8"?>
<dgm:layoutDef xmlns:dgm="http://schemas.openxmlformats.org/drawingml/2006/diagram" xmlns:a="http://schemas.openxmlformats.org/drawingml/2006/main" uniqueId="urn:microsoft.com/office/officeart/2008/layout/TitledPictureBlocks">
  <dgm:title val=""/>
  <dgm:desc val=""/>
  <dgm:catLst>
    <dgm:cat type="picture" pri="10000"/>
    <dgm:cat type="pictureconvert" pri="10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rootNode">
    <dgm:varLst>
      <dgm:chMax/>
      <dgm:chPref/>
      <dgm:dir/>
      <dgm:animLvl val="lvl"/>
    </dgm:varLst>
    <dgm:choose name="Name0">
      <dgm:if name="Name1" func="var" arg="dir" op="equ" val="norm">
        <dgm:alg type="snake">
          <dgm:param type="off" val="ctr"/>
          <dgm:param type="grDir" val="tL"/>
        </dgm:alg>
      </dgm:if>
      <dgm:else name="Name2">
        <dgm:alg type="snake">
          <dgm:param type="off" val="ctr"/>
          <dgm:param type="grDir" val="tR"/>
        </dgm:alg>
      </dgm:else>
    </dgm:choose>
    <dgm:shape xmlns:r="http://schemas.openxmlformats.org/officeDocument/2006/relationships" r:blip="">
      <dgm:adjLst/>
    </dgm:shape>
    <dgm:constrLst>
      <dgm:constr type="primFontSz" for="des" forName="ParentText" op="equ"/>
      <dgm:constr type="primFontSz" for="des" forName="ChildText" op="equ"/>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787"/>
        </dgm:alg>
        <dgm:shape xmlns:r="http://schemas.openxmlformats.org/officeDocument/2006/relationships" r:blip="">
          <dgm:adjLst/>
        </dgm:shape>
        <dgm:choose name="Name3">
          <dgm:if name="Name4" func="var" arg="dir" op="equ" val="norm">
            <dgm:constrLst>
              <dgm:constr type="l" for="ch" forName="ParentText" refType="w" fact="0"/>
              <dgm:constr type="t" for="ch" forName="ParentText" refType="h" fact="0"/>
              <dgm:constr type="w" for="ch" forName="ParentText" refType="w" fact="0.7457"/>
              <dgm:constr type="h" for="ch" forName="ParentText" refType="h" fact="0.15"/>
              <dgm:constr type="l" for="ch" forName="Image" refType="w" fact="0"/>
              <dgm:constr type="t" for="ch" forName="Image" refType="h" fact="0.1661"/>
              <dgm:constr type="w" for="ch" forName="Image" refType="w" fact="0.7457"/>
              <dgm:constr type="h" for="ch" forName="Image" refType="h" fact="0.8711"/>
              <dgm:constr type="l" for="ch" forName="ChildText" refType="w" fact="0.6464"/>
              <dgm:constr type="t" for="ch" forName="ChildText" refType="h" fact="0.288"/>
              <dgm:constr type="w" for="ch" forName="ChildText" refType="w" fact="0.3536"/>
              <dgm:constr type="h" for="ch" forName="ChildText" refType="h" fact="0.5074"/>
            </dgm:constrLst>
          </dgm:if>
          <dgm:else name="Name5">
            <dgm:constrLst>
              <dgm:constr type="l" for="ch" forName="ParentText" refType="w" fact="0.26"/>
              <dgm:constr type="t" for="ch" forName="ParentText" refType="h" fact="0"/>
              <dgm:constr type="w" for="ch" forName="ParentText" refType="w" fact="0.7457"/>
              <dgm:constr type="h" for="ch" forName="ParentText" refType="h" fact="0.15"/>
              <dgm:constr type="l" for="ch" forName="Image" refType="w" fact="0.26"/>
              <dgm:constr type="t" for="ch" forName="Image" refType="h" fact="0.1661"/>
              <dgm:constr type="w" for="ch" forName="Image" refType="w" fact="0.7446"/>
              <dgm:constr type="h" for="ch" forName="Image" refType="h" fact="0.8711"/>
              <dgm:constr type="l" for="ch" forName="ChildText" refType="w" fact="0"/>
              <dgm:constr type="t" for="ch" forName="ChildText" refType="h" fact="0.288"/>
              <dgm:constr type="w" for="ch" forName="ChildText" refType="w" fact="0.3536"/>
              <dgm:constr type="h" for="ch" forName="ChildText" refType="h" fact="0.5074"/>
            </dgm:constrLst>
          </dgm:else>
        </dgm:choose>
        <dgm:layoutNode name="ParentText" styleLbl="node1">
          <dgm:varLst>
            <dgm:chMax val="1"/>
            <dgm:chPref val="1"/>
            <dgm:bulletEnabled val="1"/>
          </dgm:varLst>
          <dgm:alg type="tx"/>
          <dgm:shape xmlns:r="http://schemas.openxmlformats.org/officeDocument/2006/relationships" type="rect" r:blip="" zOrderOff="10">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Image" styleLbl="bgImgPlace1">
          <dgm:alg type="sp"/>
          <dgm:shape xmlns:r="http://schemas.openxmlformats.org/officeDocument/2006/relationships" type="rect" r:blip="" blipPhldr="1">
            <dgm:adjLst/>
          </dgm:shape>
          <dgm:presOf/>
        </dgm:layoutNode>
        <dgm:layoutNode name="ChildText" styleLbl="fgAcc1">
          <dgm:varLst>
            <dgm:chMax val="0"/>
            <dgm:chPref val="0"/>
            <dgm:bulletEnabled val="1"/>
          </dgm:varLst>
          <dgm:choose name="Name6">
            <dgm:if name="Name7" axis="des" ptType="node" func="cnt" op="equ" val="1">
              <dgm:alg type="tx">
                <dgm:param type="stBulletLvl" val="2"/>
                <dgm:param type="txAnchorVertCh" val="mid"/>
                <dgm:param type="parTxLTRAlign" val="l"/>
              </dgm:alg>
            </dgm:if>
            <dgm:else name="Name8">
              <dgm:alg type="tx">
                <dgm:param type="stBulletLvl" val="1"/>
                <dgm:param type="txAnchorVertCh" val="mid"/>
              </dgm:alg>
            </dgm:else>
          </dgm:choose>
          <dgm:choose name="Name9">
            <dgm:if name="Name10" axis="ch" ptType="node" func="cnt" op="gte" val="1">
              <dgm:shape xmlns:r="http://schemas.openxmlformats.org/officeDocument/2006/relationships" type="roundRect" r:blip="">
                <dgm:adjLst>
                  <dgm:adj idx="1" val="0.1"/>
                </dgm:adjLst>
              </dgm:shape>
              <dgm:presOf axis="des" ptType="node"/>
            </dgm:if>
            <dgm:else name="Name11">
              <dgm:shape xmlns:r="http://schemas.openxmlformats.org/officeDocument/2006/relationships" type="roundRect" r:blip="" hideGeom="1">
                <dgm:adjLst>
                  <dgm:adj idx="1" val="0.1"/>
                </dgm:adjLst>
              </dgm:shape>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NULL"/></Relationships>
</file>

<file path=ppt/drawings/_rels/vmlDrawing2.vml.rels><?xml version="1.0" encoding="UTF-8" standalone="yes"?>
<Relationships xmlns="http://schemas.openxmlformats.org/package/2006/relationships"><Relationship Id="rId1" Type="http://schemas.openxmlformats.org/officeDocument/2006/relationships/image" Target="NUL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7" y="8"/>
            <a:ext cx="2924175" cy="5334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37" tIns="41465" rIns="82937" bIns="41465" numCol="1" anchor="t" anchorCtr="0" compatLnSpc="1">
            <a:prstTxWarp prst="textNoShape">
              <a:avLst/>
            </a:prstTxWarp>
          </a:bodyPr>
          <a:lstStyle>
            <a:lvl1pPr algn="l" defTabSz="828566">
              <a:defRPr sz="1200"/>
            </a:lvl1pPr>
          </a:lstStyle>
          <a:p>
            <a:pPr>
              <a:defRPr/>
            </a:pPr>
            <a:endParaRPr lang="en-GB"/>
          </a:p>
        </p:txBody>
      </p:sp>
      <p:sp>
        <p:nvSpPr>
          <p:cNvPr id="5123" name="Rectangle 3"/>
          <p:cNvSpPr>
            <a:spLocks noGrp="1" noChangeArrowheads="1"/>
          </p:cNvSpPr>
          <p:nvPr>
            <p:ph type="dt" sz="quarter" idx="1"/>
          </p:nvPr>
        </p:nvSpPr>
        <p:spPr bwMode="auto">
          <a:xfrm>
            <a:off x="3848104" y="8"/>
            <a:ext cx="2924175" cy="5334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37" tIns="41465" rIns="82937" bIns="41465" numCol="1" anchor="t" anchorCtr="0" compatLnSpc="1">
            <a:prstTxWarp prst="textNoShape">
              <a:avLst/>
            </a:prstTxWarp>
          </a:bodyPr>
          <a:lstStyle>
            <a:lvl1pPr defTabSz="828566">
              <a:defRPr sz="1200"/>
            </a:lvl1pPr>
          </a:lstStyle>
          <a:p>
            <a:pPr>
              <a:defRPr/>
            </a:pPr>
            <a:endParaRPr lang="en-GB"/>
          </a:p>
        </p:txBody>
      </p:sp>
      <p:sp>
        <p:nvSpPr>
          <p:cNvPr id="5124" name="Rectangle 4"/>
          <p:cNvSpPr>
            <a:spLocks noGrp="1" noChangeArrowheads="1"/>
          </p:cNvSpPr>
          <p:nvPr>
            <p:ph type="ftr" sz="quarter" idx="2"/>
          </p:nvPr>
        </p:nvSpPr>
        <p:spPr bwMode="auto">
          <a:xfrm>
            <a:off x="7" y="9409121"/>
            <a:ext cx="2924175" cy="5334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37" tIns="41465" rIns="82937" bIns="41465" numCol="1" anchor="b" anchorCtr="0" compatLnSpc="1">
            <a:prstTxWarp prst="textNoShape">
              <a:avLst/>
            </a:prstTxWarp>
          </a:bodyPr>
          <a:lstStyle>
            <a:lvl1pPr algn="l" defTabSz="828566">
              <a:defRPr sz="1200"/>
            </a:lvl1pPr>
          </a:lstStyle>
          <a:p>
            <a:pPr>
              <a:defRPr/>
            </a:pPr>
            <a:endParaRPr lang="en-GB"/>
          </a:p>
        </p:txBody>
      </p:sp>
      <p:sp>
        <p:nvSpPr>
          <p:cNvPr id="5125" name="Rectangle 5"/>
          <p:cNvSpPr>
            <a:spLocks noGrp="1" noChangeArrowheads="1"/>
          </p:cNvSpPr>
          <p:nvPr>
            <p:ph type="sldNum" sz="quarter" idx="3"/>
          </p:nvPr>
        </p:nvSpPr>
        <p:spPr bwMode="auto">
          <a:xfrm>
            <a:off x="3848104" y="9409121"/>
            <a:ext cx="2924175" cy="5334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37" tIns="41465" rIns="82937" bIns="41465" numCol="1" anchor="b" anchorCtr="0" compatLnSpc="1">
            <a:prstTxWarp prst="textNoShape">
              <a:avLst/>
            </a:prstTxWarp>
          </a:bodyPr>
          <a:lstStyle>
            <a:lvl1pPr defTabSz="828566">
              <a:defRPr sz="1200"/>
            </a:lvl1pPr>
          </a:lstStyle>
          <a:p>
            <a:pPr>
              <a:defRPr/>
            </a:pPr>
            <a:fld id="{0C817161-6761-4B67-A7B2-496D018D2C40}" type="slidenum">
              <a:rPr lang="en-GB"/>
              <a:pPr>
                <a:defRPr/>
              </a:pPr>
              <a:t>‹N°›</a:t>
            </a:fld>
            <a:endParaRPr lang="en-GB"/>
          </a:p>
        </p:txBody>
      </p:sp>
    </p:spTree>
    <p:extLst>
      <p:ext uri="{BB962C8B-B14F-4D97-AF65-F5344CB8AC3E}">
        <p14:creationId xmlns:p14="http://schemas.microsoft.com/office/powerpoint/2010/main" val="551345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5" y="7"/>
            <a:ext cx="29511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37" tIns="41465" rIns="82937" bIns="41465" numCol="1" anchor="t" anchorCtr="0" compatLnSpc="1">
            <a:prstTxWarp prst="textNoShape">
              <a:avLst/>
            </a:prstTxWarp>
          </a:bodyPr>
          <a:lstStyle>
            <a:lvl1pPr algn="l" defTabSz="828566">
              <a:defRPr sz="1200"/>
            </a:lvl1pPr>
          </a:lstStyle>
          <a:p>
            <a:pPr>
              <a:defRPr/>
            </a:pPr>
            <a:endParaRPr lang="en-GB"/>
          </a:p>
        </p:txBody>
      </p:sp>
      <p:sp>
        <p:nvSpPr>
          <p:cNvPr id="4099" name="Rectangle 3"/>
          <p:cNvSpPr>
            <a:spLocks noGrp="1" noChangeArrowheads="1"/>
          </p:cNvSpPr>
          <p:nvPr>
            <p:ph type="dt" idx="1"/>
          </p:nvPr>
        </p:nvSpPr>
        <p:spPr bwMode="auto">
          <a:xfrm>
            <a:off x="3859222" y="7"/>
            <a:ext cx="2951161"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37" tIns="41465" rIns="82937" bIns="41465" numCol="1" anchor="t" anchorCtr="0" compatLnSpc="1">
            <a:prstTxWarp prst="textNoShape">
              <a:avLst/>
            </a:prstTxWarp>
          </a:bodyPr>
          <a:lstStyle>
            <a:lvl1pPr defTabSz="828566">
              <a:defRPr sz="1200"/>
            </a:lvl1pPr>
          </a:lstStyle>
          <a:p>
            <a:pPr>
              <a:defRPr/>
            </a:pPr>
            <a:endParaRPr lang="en-GB"/>
          </a:p>
        </p:txBody>
      </p:sp>
      <p:sp>
        <p:nvSpPr>
          <p:cNvPr id="147460" name="Rectangle 4"/>
          <p:cNvSpPr>
            <a:spLocks noGrp="1" noRot="1" noChangeAspect="1" noChangeArrowheads="1" noTextEdit="1"/>
          </p:cNvSpPr>
          <p:nvPr>
            <p:ph type="sldImg" idx="2"/>
          </p:nvPr>
        </p:nvSpPr>
        <p:spPr bwMode="auto">
          <a:xfrm>
            <a:off x="708025" y="746125"/>
            <a:ext cx="5387975" cy="37306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908059" y="5257805"/>
            <a:ext cx="4994275" cy="3938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37" tIns="41465" rIns="82937" bIns="41465" numCol="1" anchor="t" anchorCtr="0" compatLnSpc="1">
            <a:prstTxWarp prst="textNoShape">
              <a:avLst/>
            </a:prstTxWarp>
          </a:bodyPr>
          <a:lstStyle/>
          <a:p>
            <a:pPr lvl="0"/>
            <a:r>
              <a:rPr lang="en-GB" noProof="0" dirty="0" smtClean="0"/>
              <a:t>Highlight the potential political &amp; cultural problems associated with high migrant inflow. </a:t>
            </a:r>
          </a:p>
        </p:txBody>
      </p:sp>
      <p:sp>
        <p:nvSpPr>
          <p:cNvPr id="4102" name="Rectangle 6"/>
          <p:cNvSpPr>
            <a:spLocks noGrp="1" noChangeArrowheads="1"/>
          </p:cNvSpPr>
          <p:nvPr>
            <p:ph type="ftr" sz="quarter" idx="4"/>
          </p:nvPr>
        </p:nvSpPr>
        <p:spPr bwMode="auto">
          <a:xfrm>
            <a:off x="5" y="9447222"/>
            <a:ext cx="2951163"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37" tIns="41465" rIns="82937" bIns="41465" numCol="1" anchor="b" anchorCtr="0" compatLnSpc="1">
            <a:prstTxWarp prst="textNoShape">
              <a:avLst/>
            </a:prstTxWarp>
          </a:bodyPr>
          <a:lstStyle>
            <a:lvl1pPr algn="l" defTabSz="828566">
              <a:defRPr sz="1200"/>
            </a:lvl1pPr>
          </a:lstStyle>
          <a:p>
            <a:pPr>
              <a:defRPr/>
            </a:pPr>
            <a:endParaRPr lang="en-GB"/>
          </a:p>
        </p:txBody>
      </p:sp>
      <p:sp>
        <p:nvSpPr>
          <p:cNvPr id="4103" name="Rectangle 7"/>
          <p:cNvSpPr>
            <a:spLocks noGrp="1" noChangeArrowheads="1"/>
          </p:cNvSpPr>
          <p:nvPr>
            <p:ph type="sldNum" sz="quarter" idx="5"/>
          </p:nvPr>
        </p:nvSpPr>
        <p:spPr bwMode="auto">
          <a:xfrm>
            <a:off x="3859222" y="9447222"/>
            <a:ext cx="2951161"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937" tIns="41465" rIns="82937" bIns="41465" numCol="1" anchor="b" anchorCtr="0" compatLnSpc="1">
            <a:prstTxWarp prst="textNoShape">
              <a:avLst/>
            </a:prstTxWarp>
          </a:bodyPr>
          <a:lstStyle>
            <a:lvl1pPr defTabSz="828566">
              <a:defRPr sz="1200"/>
            </a:lvl1pPr>
          </a:lstStyle>
          <a:p>
            <a:pPr>
              <a:defRPr/>
            </a:pPr>
            <a:endParaRPr lang="en-GB"/>
          </a:p>
        </p:txBody>
      </p:sp>
      <p:sp>
        <p:nvSpPr>
          <p:cNvPr id="147464" name="Rectangle 9"/>
          <p:cNvSpPr>
            <a:spLocks noChangeArrowheads="1"/>
          </p:cNvSpPr>
          <p:nvPr/>
        </p:nvSpPr>
        <p:spPr bwMode="auto">
          <a:xfrm>
            <a:off x="5" y="7"/>
            <a:ext cx="2947989"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6020" tIns="43009" rIns="86020" bIns="43009"/>
          <a:lstStyle/>
          <a:p>
            <a:pPr algn="l" defTabSz="858729" eaLnBrk="1" hangingPunct="1"/>
            <a:endParaRPr lang="fr-FR" sz="1300">
              <a:latin typeface="Helvetica" pitchFamily="34" charset="0"/>
            </a:endParaRPr>
          </a:p>
        </p:txBody>
      </p:sp>
      <p:sp>
        <p:nvSpPr>
          <p:cNvPr id="147465" name="Rectangle 10"/>
          <p:cNvSpPr>
            <a:spLocks noChangeArrowheads="1"/>
          </p:cNvSpPr>
          <p:nvPr/>
        </p:nvSpPr>
        <p:spPr bwMode="auto">
          <a:xfrm>
            <a:off x="3852867" y="7"/>
            <a:ext cx="2947987"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6020" tIns="43009" rIns="86020" bIns="43009"/>
          <a:lstStyle/>
          <a:p>
            <a:pPr defTabSz="858729" eaLnBrk="1" hangingPunct="1"/>
            <a:endParaRPr lang="fr-FR" sz="1300">
              <a:latin typeface="Helvetica" pitchFamily="34" charset="0"/>
            </a:endParaRPr>
          </a:p>
        </p:txBody>
      </p:sp>
      <p:sp>
        <p:nvSpPr>
          <p:cNvPr id="147466" name="Line 11"/>
          <p:cNvSpPr>
            <a:spLocks noChangeShapeType="1"/>
          </p:cNvSpPr>
          <p:nvPr/>
        </p:nvSpPr>
        <p:spPr bwMode="auto">
          <a:xfrm>
            <a:off x="9" y="563563"/>
            <a:ext cx="6183313" cy="0"/>
          </a:xfrm>
          <a:prstGeom prst="line">
            <a:avLst/>
          </a:prstGeom>
          <a:noFill/>
          <a:ln w="12700">
            <a:solidFill>
              <a:srgbClr val="00215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69" tIns="41285" rIns="82569" bIns="41285"/>
          <a:lstStyle/>
          <a:p>
            <a:endParaRPr lang="nl-NL"/>
          </a:p>
        </p:txBody>
      </p:sp>
      <p:sp>
        <p:nvSpPr>
          <p:cNvPr id="147467" name="AutoShape 12"/>
          <p:cNvSpPr>
            <a:spLocks noChangeArrowheads="1"/>
          </p:cNvSpPr>
          <p:nvPr/>
        </p:nvSpPr>
        <p:spPr bwMode="auto">
          <a:xfrm rot="16200000" flipH="1">
            <a:off x="6001547" y="202417"/>
            <a:ext cx="890588" cy="720725"/>
          </a:xfrm>
          <a:prstGeom prst="triangle">
            <a:avLst>
              <a:gd name="adj" fmla="val 49995"/>
            </a:avLst>
          </a:prstGeom>
          <a:solidFill>
            <a:srgbClr val="00215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82439" tIns="41218" rIns="82439" bIns="41218" anchor="ctr"/>
          <a:lstStyle/>
          <a:p>
            <a:pPr algn="ctr" defTabSz="822948"/>
            <a:fld id="{2C609AF4-5697-4C9B-AC17-A134D46B6652}" type="slidenum">
              <a:rPr lang="en-US" sz="1400">
                <a:solidFill>
                  <a:schemeClr val="bg1"/>
                </a:solidFill>
              </a:rPr>
              <a:pPr algn="ctr" defTabSz="822948"/>
              <a:t>‹N°›</a:t>
            </a:fld>
            <a:endParaRPr lang="en-US" sz="1400">
              <a:solidFill>
                <a:schemeClr val="bg1"/>
              </a:solidFill>
            </a:endParaRPr>
          </a:p>
        </p:txBody>
      </p:sp>
      <p:sp>
        <p:nvSpPr>
          <p:cNvPr id="147468" name="Rectangle 13"/>
          <p:cNvSpPr>
            <a:spLocks noChangeArrowheads="1"/>
          </p:cNvSpPr>
          <p:nvPr/>
        </p:nvSpPr>
        <p:spPr bwMode="auto">
          <a:xfrm>
            <a:off x="74622" y="117484"/>
            <a:ext cx="5945187"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4444" tIns="41506" rIns="84444" bIns="41506"/>
          <a:lstStyle/>
          <a:p>
            <a:pPr algn="l" defTabSz="841552">
              <a:lnSpc>
                <a:spcPct val="120000"/>
              </a:lnSpc>
            </a:pPr>
            <a:r>
              <a:rPr lang="en-US" sz="1200">
                <a:solidFill>
                  <a:srgbClr val="002156"/>
                </a:solidFill>
                <a:latin typeface="Verdana" pitchFamily="34" charset="0"/>
              </a:rPr>
              <a:t>Station Blueprint Update</a:t>
            </a:r>
          </a:p>
        </p:txBody>
      </p:sp>
      <p:sp>
        <p:nvSpPr>
          <p:cNvPr id="147469" name="Line 14"/>
          <p:cNvSpPr>
            <a:spLocks noChangeShapeType="1"/>
          </p:cNvSpPr>
          <p:nvPr/>
        </p:nvSpPr>
        <p:spPr bwMode="auto">
          <a:xfrm>
            <a:off x="550870" y="4995863"/>
            <a:ext cx="6251575" cy="0"/>
          </a:xfrm>
          <a:prstGeom prst="line">
            <a:avLst/>
          </a:prstGeom>
          <a:noFill/>
          <a:ln w="25400">
            <a:solidFill>
              <a:srgbClr val="002156"/>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82569" tIns="41285" rIns="82569" bIns="41285"/>
          <a:lstStyle/>
          <a:p>
            <a:endParaRPr lang="nl-NL"/>
          </a:p>
        </p:txBody>
      </p:sp>
      <p:sp>
        <p:nvSpPr>
          <p:cNvPr id="147470" name="Rectangle 15"/>
          <p:cNvSpPr>
            <a:spLocks noChangeArrowheads="1"/>
          </p:cNvSpPr>
          <p:nvPr/>
        </p:nvSpPr>
        <p:spPr bwMode="auto">
          <a:xfrm>
            <a:off x="850906" y="4811718"/>
            <a:ext cx="665045" cy="29921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3014" tIns="41506" rIns="83014" bIns="41506">
            <a:spAutoFit/>
          </a:bodyPr>
          <a:lstStyle/>
          <a:p>
            <a:pPr algn="l" defTabSz="822948"/>
            <a:r>
              <a:rPr lang="en-US" sz="1400" b="1">
                <a:solidFill>
                  <a:srgbClr val="BAF3F7"/>
                </a:solidFill>
              </a:rPr>
              <a:t>Notes</a:t>
            </a:r>
          </a:p>
        </p:txBody>
      </p:sp>
      <p:grpSp>
        <p:nvGrpSpPr>
          <p:cNvPr id="147471" name="Group 16"/>
          <p:cNvGrpSpPr>
            <a:grpSpLocks/>
          </p:cNvGrpSpPr>
          <p:nvPr/>
        </p:nvGrpSpPr>
        <p:grpSpPr bwMode="auto">
          <a:xfrm>
            <a:off x="122244" y="4781555"/>
            <a:ext cx="487362" cy="406400"/>
            <a:chOff x="78" y="3013"/>
            <a:chExt cx="306" cy="255"/>
          </a:xfrm>
        </p:grpSpPr>
        <p:sp>
          <p:nvSpPr>
            <p:cNvPr id="147473" name="Rectangle 17"/>
            <p:cNvSpPr>
              <a:spLocks noChangeArrowheads="1"/>
            </p:cNvSpPr>
            <p:nvPr/>
          </p:nvSpPr>
          <p:spPr bwMode="auto">
            <a:xfrm>
              <a:off x="78" y="3013"/>
              <a:ext cx="306" cy="255"/>
            </a:xfrm>
            <a:prstGeom prst="rect">
              <a:avLst/>
            </a:prstGeom>
            <a:solidFill>
              <a:schemeClr val="bg1"/>
            </a:solidFill>
            <a:ln w="12700">
              <a:solidFill>
                <a:srgbClr val="00215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pic>
          <p:nvPicPr>
            <p:cNvPr id="147474" name="Picture 18" descr="PE01690_"/>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 y="3034"/>
              <a:ext cx="270"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58130008"/>
      </p:ext>
    </p:extLst>
  </p:cSld>
  <p:clrMap bg1="lt1" tx1="dk1" bg2="lt2" tx2="dk2" accent1="accent1" accent2="accent2" accent3="accent3" accent4="accent4" accent5="accent5" accent6="accent6" hlink="hlink" folHlink="folHlink"/>
  <p:hf sldNum="0" hdr="0" ftr="0" dt="0"/>
  <p:notesStyle>
    <a:lvl1pPr marL="190500" indent="-190500" algn="l" rtl="0" eaLnBrk="0" fontAlgn="base" hangingPunct="0">
      <a:spcBef>
        <a:spcPct val="30000"/>
      </a:spcBef>
      <a:spcAft>
        <a:spcPct val="0"/>
      </a:spcAft>
      <a:buChar char="•"/>
      <a:defRPr sz="1200" kern="1200" baseline="0">
        <a:solidFill>
          <a:schemeClr val="tx1"/>
        </a:solidFill>
        <a:latin typeface="Arial" charset="0"/>
        <a:ea typeface="+mn-ea"/>
        <a:cs typeface="+mn-cs"/>
      </a:defRPr>
    </a:lvl1pPr>
    <a:lvl2pPr marL="368300" indent="-127000" algn="l" rtl="0" eaLnBrk="0" fontAlgn="base" hangingPunct="0">
      <a:spcBef>
        <a:spcPct val="10000"/>
      </a:spcBef>
      <a:spcAft>
        <a:spcPct val="0"/>
      </a:spcAft>
      <a:buChar char="-"/>
      <a:defRPr sz="1100" kern="1200">
        <a:solidFill>
          <a:schemeClr val="tx1"/>
        </a:solidFill>
        <a:latin typeface="Arial" charset="0"/>
        <a:ea typeface="+mn-ea"/>
        <a:cs typeface="+mn-cs"/>
      </a:defRPr>
    </a:lvl2pPr>
    <a:lvl3pPr marL="571500" indent="-127000" algn="l" rtl="0" eaLnBrk="0" fontAlgn="base" hangingPunct="0">
      <a:spcBef>
        <a:spcPct val="10000"/>
      </a:spcBef>
      <a:spcAft>
        <a:spcPct val="0"/>
      </a:spcAft>
      <a:buChar char="-"/>
      <a:defRPr sz="1100" kern="1200">
        <a:solidFill>
          <a:schemeClr val="tx1"/>
        </a:solidFill>
        <a:latin typeface="Arial" charset="0"/>
        <a:ea typeface="+mn-ea"/>
        <a:cs typeface="+mn-cs"/>
      </a:defRPr>
    </a:lvl3pPr>
    <a:lvl4pPr marL="749300" indent="-114300" algn="l" rtl="0" eaLnBrk="0" fontAlgn="base" hangingPunct="0">
      <a:spcBef>
        <a:spcPct val="10000"/>
      </a:spcBef>
      <a:spcAft>
        <a:spcPct val="0"/>
      </a:spcAft>
      <a:buChar char="-"/>
      <a:defRPr sz="1100" kern="1200">
        <a:solidFill>
          <a:schemeClr val="tx1"/>
        </a:solidFill>
        <a:latin typeface="Arial" charset="0"/>
        <a:ea typeface="+mn-ea"/>
        <a:cs typeface="+mn-cs"/>
      </a:defRPr>
    </a:lvl4pPr>
    <a:lvl5pPr marL="952500" indent="-139700" algn="l" rtl="0" eaLnBrk="0" fontAlgn="base" hangingPunct="0">
      <a:spcBef>
        <a:spcPct val="10000"/>
      </a:spcBef>
      <a:spcAft>
        <a:spcPct val="0"/>
      </a:spcAft>
      <a:buChar char="-"/>
      <a:defRPr sz="11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Retailing is the activities involved in selling (or renting) consumer goods and services directly to ultimate consumers for their personal or household use. </a:t>
            </a:r>
          </a:p>
          <a:p>
            <a:r>
              <a:rPr lang="en-US" dirty="0"/>
              <a:t>Retailing </a:t>
            </a:r>
            <a:r>
              <a:rPr lang="en-US" u="sng" dirty="0"/>
              <a:t>does not include</a:t>
            </a:r>
            <a:r>
              <a:rPr lang="en-US" dirty="0"/>
              <a:t> sales of consumer products to intermediaries. </a:t>
            </a:r>
          </a:p>
          <a:p>
            <a:r>
              <a:rPr lang="en-US" dirty="0"/>
              <a:t>A retailer is a firm that derives more than half of its sales revenues from sales made directly to ultimate consumers. </a:t>
            </a:r>
          </a:p>
        </p:txBody>
      </p:sp>
    </p:spTree>
    <p:extLst>
      <p:ext uri="{BB962C8B-B14F-4D97-AF65-F5344CB8AC3E}">
        <p14:creationId xmlns:p14="http://schemas.microsoft.com/office/powerpoint/2010/main" val="1385396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04019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746125"/>
            <a:ext cx="5387975" cy="3730625"/>
          </a:xfrm>
        </p:spPr>
      </p:sp>
      <p:sp>
        <p:nvSpPr>
          <p:cNvPr id="3" name="Notes Placeholder 2"/>
          <p:cNvSpPr>
            <a:spLocks noGrp="1"/>
          </p:cNvSpPr>
          <p:nvPr>
            <p:ph type="body" idx="1"/>
          </p:nvPr>
        </p:nvSpPr>
        <p:spPr/>
        <p:txBody>
          <a:bodyPr/>
          <a:lstStyle/>
          <a:p>
            <a:r>
              <a:rPr lang="en-US" dirty="0" smtClean="0"/>
              <a:t>The changes in operations and products are in the right direction, and they are necessary, but they are not sufficient to meet the ever increasing demand and expectations of empowered consumers and the needs of the airlines to enhance their margins consummate with their investments and risks relative to other businesses. The step that they need to take is to move further in the direction of customer centricity by capitalizing on the digital and mobile spaces.</a:t>
            </a:r>
          </a:p>
          <a:p>
            <a:r>
              <a:rPr lang="en-US" dirty="0" smtClean="0"/>
              <a:t>This tension is not only beginning to be recognized but also being addressed by the more innovation minded airlines</a:t>
            </a:r>
          </a:p>
          <a:p>
            <a:endParaRPr lang="en-US" dirty="0" smtClean="0"/>
          </a:p>
          <a:p>
            <a:r>
              <a:rPr lang="en-US" dirty="0" smtClean="0"/>
              <a:t>AFKL	416	77,3</a:t>
            </a:r>
          </a:p>
          <a:p>
            <a:r>
              <a:rPr lang="en-US" dirty="0" smtClean="0"/>
              <a:t>World average		</a:t>
            </a:r>
          </a:p>
          <a:p>
            <a:r>
              <a:rPr lang="en-US" dirty="0" smtClean="0"/>
              <a:t>Potential (Amadeus study, </a:t>
            </a:r>
            <a:r>
              <a:rPr lang="en-US" dirty="0" err="1" smtClean="0"/>
              <a:t>june</a:t>
            </a:r>
            <a:r>
              <a:rPr lang="en-US" dirty="0" smtClean="0"/>
              <a:t> 2014)		</a:t>
            </a:r>
          </a:p>
          <a:p>
            <a:endParaRPr lang="en-US" dirty="0"/>
          </a:p>
        </p:txBody>
      </p:sp>
    </p:spTree>
    <p:extLst>
      <p:ext uri="{BB962C8B-B14F-4D97-AF65-F5344CB8AC3E}">
        <p14:creationId xmlns:p14="http://schemas.microsoft.com/office/powerpoint/2010/main" val="2460219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5069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4061" indent="-184061" defTabSz="883493">
              <a:defRPr/>
            </a:pPr>
            <a:r>
              <a:rPr lang="en-US" b="1" dirty="0" smtClean="0"/>
              <a:t>Netflix</a:t>
            </a:r>
            <a:r>
              <a:rPr lang="en-US" dirty="0" smtClean="0"/>
              <a:t> </a:t>
            </a:r>
            <a:r>
              <a:rPr lang="en-US" dirty="0"/>
              <a:t>has built a loyal base of fans through </a:t>
            </a:r>
            <a:r>
              <a:rPr lang="en-US" u="sng" dirty="0"/>
              <a:t>personalization.</a:t>
            </a:r>
            <a:r>
              <a:rPr lang="en-US" dirty="0"/>
              <a:t> The US online provider of on-demand media offers relevant content based on </a:t>
            </a:r>
            <a:r>
              <a:rPr lang="en-US" u="sng" dirty="0"/>
              <a:t>individual tastes</a:t>
            </a:r>
            <a:r>
              <a:rPr lang="en-US" dirty="0"/>
              <a:t>. It gives people what they want and when they want, providing timely recommendations on movies and TV shows. Netflix management is very focused on </a:t>
            </a:r>
            <a:r>
              <a:rPr lang="en-US" u="sng" dirty="0"/>
              <a:t>customer centricity</a:t>
            </a:r>
            <a:r>
              <a:rPr lang="en-US" dirty="0"/>
              <a:t>, particularly </a:t>
            </a:r>
            <a:r>
              <a:rPr lang="en-US" u="sng" dirty="0"/>
              <a:t>users’ experience</a:t>
            </a:r>
            <a:r>
              <a:rPr lang="en-US" dirty="0"/>
              <a:t>. The company tracks </a:t>
            </a:r>
            <a:r>
              <a:rPr lang="en-US" u="sng" dirty="0" err="1"/>
              <a:t>behavioural</a:t>
            </a:r>
            <a:r>
              <a:rPr lang="en-US" u="sng" dirty="0"/>
              <a:t> data </a:t>
            </a:r>
            <a:r>
              <a:rPr lang="en-US" dirty="0"/>
              <a:t>—who is watching, which </a:t>
            </a:r>
            <a:r>
              <a:rPr lang="en-US" dirty="0" err="1"/>
              <a:t>programme</a:t>
            </a:r>
            <a:r>
              <a:rPr lang="en-US" dirty="0"/>
              <a:t>, when, on which device and length of time, including early closure on selected titles, and return to selected titles. Netflix also reportedly obtains </a:t>
            </a:r>
            <a:r>
              <a:rPr lang="en-US" u="sng" dirty="0"/>
              <a:t>data from third parties </a:t>
            </a:r>
            <a:r>
              <a:rPr lang="en-US" dirty="0"/>
              <a:t>such as Nielsen and integrates data from social media.</a:t>
            </a:r>
          </a:p>
          <a:p>
            <a:pPr marL="184061" indent="-184061" defTabSz="883493">
              <a:defRPr/>
            </a:pPr>
            <a:r>
              <a:rPr lang="en-US" b="1" dirty="0" err="1"/>
              <a:t>Uber</a:t>
            </a:r>
            <a:r>
              <a:rPr lang="en-US" dirty="0"/>
              <a:t> Moving People, a concept developed by transportation company </a:t>
            </a:r>
            <a:r>
              <a:rPr lang="en-US" dirty="0" err="1"/>
              <a:t>Uber</a:t>
            </a:r>
            <a:r>
              <a:rPr lang="en-US" dirty="0"/>
              <a:t>, </a:t>
            </a:r>
            <a:r>
              <a:rPr lang="en-US" u="sng" dirty="0"/>
              <a:t>leverages mobile technology to make the process of ordering and using a taxi service much more customer centric and </a:t>
            </a:r>
            <a:r>
              <a:rPr lang="en-US" u="sng" dirty="0" err="1"/>
              <a:t>personalised</a:t>
            </a:r>
            <a:r>
              <a:rPr lang="en-US" u="sng" dirty="0"/>
              <a:t>. </a:t>
            </a:r>
            <a:r>
              <a:rPr lang="en-US" dirty="0"/>
              <a:t>Mobile is the central nervous system that connects a customer’s location identified through GPS to the driver, providing an exact pick up location. The customer in turn can use the mobile device to track the driver’s whereabouts, as well as identify the driver’s name and vehicle type. Fares can be quoted in advance by providing the pick-up and drop-off locations and the cost can be charged to a credit card already on file with the company. This is clearly a business that has been designed to provide </a:t>
            </a:r>
            <a:r>
              <a:rPr lang="en-US" i="1" dirty="0"/>
              <a:t>seamless connectivity </a:t>
            </a:r>
            <a:r>
              <a:rPr lang="en-US" dirty="0"/>
              <a:t>using mobile technology.</a:t>
            </a:r>
          </a:p>
          <a:p>
            <a:pPr algn="l"/>
            <a:r>
              <a:rPr lang="en-US" b="1" dirty="0"/>
              <a:t>Disney</a:t>
            </a:r>
            <a:r>
              <a:rPr lang="en-US" dirty="0"/>
              <a:t> has focused on </a:t>
            </a:r>
            <a:r>
              <a:rPr lang="en-US" u="sng" dirty="0"/>
              <a:t>innovation and creativity </a:t>
            </a:r>
            <a:r>
              <a:rPr lang="en-US" dirty="0"/>
              <a:t>to improve the </a:t>
            </a:r>
            <a:r>
              <a:rPr lang="en-US" u="sng" dirty="0"/>
              <a:t>guest experience</a:t>
            </a:r>
            <a:r>
              <a:rPr lang="en-US" dirty="0"/>
              <a:t>; by taking a holistic view of the customer, Disney provides a </a:t>
            </a:r>
            <a:r>
              <a:rPr lang="en-US" u="sng" dirty="0"/>
              <a:t>seamless and stress-free experience at all touch points</a:t>
            </a:r>
            <a:r>
              <a:rPr lang="en-US" dirty="0"/>
              <a:t>, whether it be vacation planning, purchasing, visiting theme parks, and sharing memories afterwards with family and friends. Disney is </a:t>
            </a:r>
            <a:r>
              <a:rPr lang="en-US" u="sng" dirty="0"/>
              <a:t>using technology </a:t>
            </a:r>
            <a:r>
              <a:rPr lang="en-US" dirty="0"/>
              <a:t>to enable its guests to make the most of their limited time, so that they can enjoy the rides and shows instead of waiting in lines; at the same time they are trying to </a:t>
            </a:r>
            <a:r>
              <a:rPr lang="en-US" u="sng" dirty="0"/>
              <a:t>encourage guests to spend more money </a:t>
            </a:r>
            <a:r>
              <a:rPr lang="en-US" dirty="0"/>
              <a:t>onsite in stores and </a:t>
            </a:r>
            <a:r>
              <a:rPr lang="en-US" dirty="0" smtClean="0"/>
              <a:t>restaurants.</a:t>
            </a:r>
            <a:r>
              <a:rPr lang="en-US" baseline="0" dirty="0" smtClean="0"/>
              <a:t> </a:t>
            </a:r>
            <a:r>
              <a:rPr lang="en-US" u="sng" dirty="0" smtClean="0"/>
              <a:t>Interactivity </a:t>
            </a:r>
            <a:r>
              <a:rPr lang="en-US" u="sng" dirty="0"/>
              <a:t>and engagement </a:t>
            </a:r>
            <a:r>
              <a:rPr lang="en-US" dirty="0"/>
              <a:t>are key features of Disney’s use of technology. Interactivity allows Disney to (1) manage lines in which guests are kept engaged in an attraction’s story before they even get to the ride, which also makes the waiting time pass quickly (2) enable guests to have a personalized experience with selected characters.</a:t>
            </a:r>
          </a:p>
          <a:p>
            <a:pPr algn="l"/>
            <a:r>
              <a:rPr lang="en-US" b="1" dirty="0"/>
              <a:t>Amazon</a:t>
            </a:r>
            <a:r>
              <a:rPr lang="en-US" dirty="0"/>
              <a:t> has been making </a:t>
            </a:r>
            <a:r>
              <a:rPr lang="en-US" u="sng" dirty="0"/>
              <a:t>relevant recommendations </a:t>
            </a:r>
            <a:r>
              <a:rPr lang="en-US" dirty="0"/>
              <a:t>for some time. Taking </a:t>
            </a:r>
            <a:r>
              <a:rPr lang="en-US" u="sng" dirty="0"/>
              <a:t>the use of big data and analytics </a:t>
            </a:r>
            <a:r>
              <a:rPr lang="en-US" dirty="0"/>
              <a:t>one step further, Amazon can deploy an “</a:t>
            </a:r>
            <a:r>
              <a:rPr lang="en-US" u="sng" dirty="0"/>
              <a:t>anticipatory shipping” process </a:t>
            </a:r>
            <a:r>
              <a:rPr lang="en-US" dirty="0"/>
              <a:t>that involves preparing and shipping a package before a customer even makes a purchase. Amazon would presumably be making such decisions based on </a:t>
            </a:r>
            <a:r>
              <a:rPr lang="en-US" u="sng" dirty="0"/>
              <a:t>a customer’s past searches, purchases and returns</a:t>
            </a:r>
            <a:r>
              <a:rPr lang="en-US" dirty="0"/>
              <a:t>. Amazon may even be </a:t>
            </a:r>
            <a:r>
              <a:rPr lang="en-US" u="sng" dirty="0"/>
              <a:t>able to monitor the length of time </a:t>
            </a:r>
            <a:r>
              <a:rPr lang="en-US" dirty="0"/>
              <a:t>that a potential customer has spent looking at a product online. This is important given that any delay between ordering and receiving may cause shoppers to go to a store instead of buying online.</a:t>
            </a:r>
          </a:p>
          <a:p>
            <a:pPr algn="l"/>
            <a:endParaRPr lang="en-US" dirty="0"/>
          </a:p>
          <a:p>
            <a:pPr marL="184061" indent="-184061" defTabSz="883493">
              <a:defRPr/>
            </a:pPr>
            <a:endParaRPr lang="en-US" dirty="0"/>
          </a:p>
          <a:p>
            <a:endParaRPr lang="en-US" dirty="0"/>
          </a:p>
        </p:txBody>
      </p:sp>
    </p:spTree>
    <p:extLst>
      <p:ext uri="{BB962C8B-B14F-4D97-AF65-F5344CB8AC3E}">
        <p14:creationId xmlns:p14="http://schemas.microsoft.com/office/powerpoint/2010/main" val="2594199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Big Data, analytics and mobile are to play a key role in an airline to redesign its business to do more with less and become a data-driven marketing powerhouse, then the airline must transform the IT function from a data collection and report production center to one that facilitates collaboration, communication and integration within all areas of the airline. Such a transformation requires a different mindset, a different set of skills and appropriate data-architectures. The challenge in organizational structure and culture is greater than the technology </a:t>
            </a:r>
            <a:r>
              <a:rPr lang="en-US" dirty="0" smtClean="0"/>
              <a:t>step</a:t>
            </a:r>
          </a:p>
          <a:p>
            <a:r>
              <a:rPr lang="en-US" dirty="0" err="1"/>
              <a:t>b</a:t>
            </a:r>
            <a:r>
              <a:rPr lang="en-US" dirty="0" err="1" smtClean="0"/>
              <a:t>innen</a:t>
            </a:r>
            <a:r>
              <a:rPr lang="en-US" dirty="0" smtClean="0"/>
              <a:t> de travel </a:t>
            </a:r>
            <a:r>
              <a:rPr lang="en-US" dirty="0" err="1" smtClean="0"/>
              <a:t>branche</a:t>
            </a:r>
            <a:r>
              <a:rPr lang="en-US" dirty="0" smtClean="0"/>
              <a:t> is </a:t>
            </a:r>
            <a:r>
              <a:rPr lang="en-US" dirty="0" err="1" smtClean="0"/>
              <a:t>directe</a:t>
            </a:r>
            <a:r>
              <a:rPr lang="en-US" dirty="0" smtClean="0"/>
              <a:t> </a:t>
            </a:r>
            <a:r>
              <a:rPr lang="en-US" dirty="0" err="1" smtClean="0"/>
              <a:t>verkoop</a:t>
            </a:r>
            <a:r>
              <a:rPr lang="en-US" dirty="0" smtClean="0"/>
              <a:t> </a:t>
            </a:r>
            <a:r>
              <a:rPr lang="en-US" dirty="0" err="1" smtClean="0"/>
              <a:t>aan</a:t>
            </a:r>
            <a:r>
              <a:rPr lang="en-US" dirty="0" smtClean="0"/>
              <a:t> de </a:t>
            </a:r>
            <a:r>
              <a:rPr lang="en-US" dirty="0" err="1" smtClean="0"/>
              <a:t>consument</a:t>
            </a:r>
            <a:r>
              <a:rPr lang="en-US" dirty="0" smtClean="0"/>
              <a:t> </a:t>
            </a:r>
            <a:r>
              <a:rPr lang="en-US" dirty="0" err="1" smtClean="0"/>
              <a:t>eerder</a:t>
            </a:r>
            <a:r>
              <a:rPr lang="en-US" dirty="0" smtClean="0"/>
              <a:t> </a:t>
            </a:r>
            <a:r>
              <a:rPr lang="en-US" dirty="0" err="1" smtClean="0"/>
              <a:t>ingezet</a:t>
            </a:r>
            <a:r>
              <a:rPr lang="en-US" dirty="0" smtClean="0"/>
              <a:t> </a:t>
            </a:r>
            <a:r>
              <a:rPr lang="en-US" dirty="0" err="1" smtClean="0"/>
              <a:t>dan</a:t>
            </a:r>
            <a:r>
              <a:rPr lang="en-US" dirty="0" smtClean="0"/>
              <a:t> in de retail en finance </a:t>
            </a:r>
            <a:r>
              <a:rPr lang="en-US" dirty="0" err="1" smtClean="0"/>
              <a:t>sectoren</a:t>
            </a:r>
            <a:r>
              <a:rPr lang="en-US" dirty="0" smtClean="0"/>
              <a:t>. De travel </a:t>
            </a:r>
            <a:r>
              <a:rPr lang="en-US" dirty="0" err="1" smtClean="0"/>
              <a:t>branche</a:t>
            </a:r>
            <a:r>
              <a:rPr lang="en-US" dirty="0" smtClean="0"/>
              <a:t> </a:t>
            </a:r>
            <a:r>
              <a:rPr lang="en-US" dirty="0" err="1" smtClean="0"/>
              <a:t>heeft</a:t>
            </a:r>
            <a:r>
              <a:rPr lang="en-US" dirty="0" smtClean="0"/>
              <a:t> </a:t>
            </a:r>
            <a:r>
              <a:rPr lang="en-US" dirty="0" err="1" smtClean="0"/>
              <a:t>daarom</a:t>
            </a:r>
            <a:r>
              <a:rPr lang="en-US" dirty="0" smtClean="0"/>
              <a:t> </a:t>
            </a:r>
            <a:r>
              <a:rPr lang="en-US" dirty="0" err="1" smtClean="0"/>
              <a:t>een</a:t>
            </a:r>
            <a:r>
              <a:rPr lang="en-US" dirty="0" smtClean="0"/>
              <a:t> </a:t>
            </a:r>
            <a:r>
              <a:rPr lang="en-US" dirty="0" err="1" smtClean="0"/>
              <a:t>voorsprong</a:t>
            </a:r>
            <a:r>
              <a:rPr lang="en-US" dirty="0" smtClean="0"/>
              <a:t> met </a:t>
            </a:r>
            <a:r>
              <a:rPr lang="en-US" dirty="0" err="1" smtClean="0"/>
              <a:t>betrekking</a:t>
            </a:r>
            <a:r>
              <a:rPr lang="en-US" dirty="0" smtClean="0"/>
              <a:t> tot het </a:t>
            </a:r>
            <a:r>
              <a:rPr lang="en-US" dirty="0" err="1" smtClean="0"/>
              <a:t>creeren</a:t>
            </a:r>
            <a:r>
              <a:rPr lang="en-US" dirty="0" smtClean="0"/>
              <a:t> van </a:t>
            </a:r>
            <a:r>
              <a:rPr lang="en-US" dirty="0" err="1" smtClean="0"/>
              <a:t>een</a:t>
            </a:r>
            <a:r>
              <a:rPr lang="en-US" dirty="0" smtClean="0"/>
              <a:t> </a:t>
            </a:r>
            <a:r>
              <a:rPr lang="en-US" dirty="0" err="1" smtClean="0"/>
              <a:t>unieke</a:t>
            </a:r>
            <a:r>
              <a:rPr lang="en-US" dirty="0" smtClean="0"/>
              <a:t> </a:t>
            </a:r>
            <a:r>
              <a:rPr lang="en-US" dirty="0" err="1" smtClean="0"/>
              <a:t>merkervaring</a:t>
            </a:r>
            <a:r>
              <a:rPr lang="en-US" dirty="0" smtClean="0"/>
              <a:t> en direct contact met de </a:t>
            </a:r>
            <a:r>
              <a:rPr lang="en-US" dirty="0" err="1" smtClean="0"/>
              <a:t>klant</a:t>
            </a:r>
            <a:r>
              <a:rPr lang="en-US" dirty="0" smtClean="0"/>
              <a:t>. </a:t>
            </a:r>
            <a:r>
              <a:rPr lang="en-US" dirty="0" err="1" smtClean="0"/>
              <a:t>Succesvolle</a:t>
            </a:r>
            <a:r>
              <a:rPr lang="en-US" dirty="0" smtClean="0"/>
              <a:t> </a:t>
            </a:r>
            <a:r>
              <a:rPr lang="en-US" dirty="0" err="1" smtClean="0"/>
              <a:t>merken</a:t>
            </a:r>
            <a:r>
              <a:rPr lang="en-US" dirty="0" smtClean="0"/>
              <a:t> </a:t>
            </a:r>
            <a:r>
              <a:rPr lang="en-US" dirty="0" err="1" smtClean="0"/>
              <a:t>specializeren</a:t>
            </a:r>
            <a:r>
              <a:rPr lang="en-US" dirty="0" smtClean="0"/>
              <a:t> </a:t>
            </a:r>
            <a:r>
              <a:rPr lang="en-US" dirty="0" err="1" smtClean="0"/>
              <a:t>zich</a:t>
            </a:r>
            <a:r>
              <a:rPr lang="en-US" dirty="0" smtClean="0"/>
              <a:t> steeds </a:t>
            </a:r>
            <a:r>
              <a:rPr lang="en-US" dirty="0" err="1" smtClean="0"/>
              <a:t>meer</a:t>
            </a:r>
            <a:r>
              <a:rPr lang="en-US" dirty="0" smtClean="0"/>
              <a:t> in het </a:t>
            </a:r>
            <a:r>
              <a:rPr lang="en-US" dirty="0" err="1" smtClean="0"/>
              <a:t>verbinden</a:t>
            </a:r>
            <a:r>
              <a:rPr lang="en-US" dirty="0" smtClean="0"/>
              <a:t> met de </a:t>
            </a:r>
            <a:r>
              <a:rPr lang="en-US" dirty="0" err="1" smtClean="0"/>
              <a:t>klant</a:t>
            </a:r>
            <a:r>
              <a:rPr lang="en-US" dirty="0" smtClean="0"/>
              <a:t>.</a:t>
            </a:r>
          </a:p>
          <a:p>
            <a:endParaRPr lang="en-US" dirty="0"/>
          </a:p>
        </p:txBody>
      </p:sp>
    </p:spTree>
    <p:extLst>
      <p:ext uri="{BB962C8B-B14F-4D97-AF65-F5344CB8AC3E}">
        <p14:creationId xmlns:p14="http://schemas.microsoft.com/office/powerpoint/2010/main" val="4122543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746125"/>
            <a:ext cx="5387975" cy="3730625"/>
          </a:xfrm>
        </p:spPr>
      </p:sp>
      <p:sp>
        <p:nvSpPr>
          <p:cNvPr id="3" name="Notes Placeholder 2"/>
          <p:cNvSpPr>
            <a:spLocks noGrp="1"/>
          </p:cNvSpPr>
          <p:nvPr>
            <p:ph type="body" idx="1"/>
          </p:nvPr>
        </p:nvSpPr>
        <p:spPr/>
        <p:txBody>
          <a:bodyPr/>
          <a:lstStyle/>
          <a:p>
            <a:r>
              <a:rPr lang="en-US" b="1" dirty="0"/>
              <a:t>AFKL have embraced the merchandising concept, </a:t>
            </a:r>
            <a:r>
              <a:rPr lang="en-US" dirty="0"/>
              <a:t>as </a:t>
            </a:r>
            <a:r>
              <a:rPr lang="en-US" dirty="0" smtClean="0"/>
              <a:t>demonstrated through </a:t>
            </a:r>
            <a:r>
              <a:rPr lang="en-US" dirty="0"/>
              <a:t>product unbundling and the marketing of ancillary products </a:t>
            </a:r>
            <a:r>
              <a:rPr lang="en-US" dirty="0" smtClean="0"/>
              <a:t>and services</a:t>
            </a:r>
            <a:r>
              <a:rPr lang="en-US" dirty="0"/>
              <a:t>, in turn benefiting passengers and airlines alike. AFKL have </a:t>
            </a:r>
            <a:r>
              <a:rPr lang="en-US" dirty="0" smtClean="0"/>
              <a:t>also made </a:t>
            </a:r>
            <a:r>
              <a:rPr lang="en-US" dirty="0"/>
              <a:t>significant progress in the areas of product enhancement and </a:t>
            </a:r>
            <a:r>
              <a:rPr lang="en-US" dirty="0" smtClean="0"/>
              <a:t>pricing in </a:t>
            </a:r>
            <a:r>
              <a:rPr lang="en-US" dirty="0"/>
              <a:t>terms of “seat managing the values”.</a:t>
            </a:r>
          </a:p>
          <a:p>
            <a:r>
              <a:rPr lang="en-US" dirty="0"/>
              <a:t>However, they are still struggling in the area of “romancing” the customer, where an airline becomes the customer’s preferred choice, rather than the customer feeling forced to choose that airline.</a:t>
            </a:r>
          </a:p>
          <a:p>
            <a:pPr>
              <a:lnSpc>
                <a:spcPct val="100000"/>
              </a:lnSpc>
              <a:buFont typeface="Arial" pitchFamily="34" charset="0"/>
              <a:buChar char="•"/>
            </a:pPr>
            <a:endParaRPr lang="en-US" dirty="0"/>
          </a:p>
          <a:p>
            <a:pPr marL="331310" indent="-331310">
              <a:buFont typeface="Arial" pitchFamily="34" charset="0"/>
              <a:buChar char="•"/>
            </a:pPr>
            <a:r>
              <a:rPr lang="en-US" dirty="0"/>
              <a:t>how to build on this to get more revenues</a:t>
            </a:r>
          </a:p>
          <a:p>
            <a:pPr marL="331310" indent="-331310">
              <a:buFont typeface="Arial" pitchFamily="34" charset="0"/>
              <a:buChar char="•"/>
            </a:pPr>
            <a:r>
              <a:rPr lang="en-US" dirty="0"/>
              <a:t>As the portfolio of products and services increases, the need for content filtering and recommendations will grow</a:t>
            </a:r>
            <a:br>
              <a:rPr lang="en-US" dirty="0"/>
            </a:br>
            <a:endParaRPr lang="en-US" dirty="0"/>
          </a:p>
          <a:p>
            <a:pPr marL="331310" indent="-331310">
              <a:buFont typeface="Arial" pitchFamily="34" charset="0"/>
              <a:buChar char="•"/>
            </a:pPr>
            <a:r>
              <a:rPr lang="en-US" dirty="0"/>
              <a:t>This requires investment in capturing knowledge about customers</a:t>
            </a:r>
          </a:p>
          <a:p>
            <a:pPr marL="331310" indent="-331310">
              <a:buFont typeface="Arial" pitchFamily="34" charset="0"/>
              <a:buChar char="•"/>
            </a:pPr>
            <a:endParaRPr lang="en-US" dirty="0"/>
          </a:p>
          <a:p>
            <a:pPr marL="331310" indent="-331310">
              <a:buFont typeface="Arial" pitchFamily="34" charset="0"/>
              <a:buChar char="•"/>
            </a:pPr>
            <a:r>
              <a:rPr lang="en-US" dirty="0"/>
              <a:t>Assuming this will be successful, from retailing?</a:t>
            </a:r>
          </a:p>
          <a:p>
            <a:endParaRPr lang="en-US" dirty="0"/>
          </a:p>
        </p:txBody>
      </p:sp>
    </p:spTree>
    <p:extLst>
      <p:ext uri="{BB962C8B-B14F-4D97-AF65-F5344CB8AC3E}">
        <p14:creationId xmlns:p14="http://schemas.microsoft.com/office/powerpoint/2010/main" val="215947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746125"/>
            <a:ext cx="5387975" cy="3730625"/>
          </a:xfrm>
        </p:spPr>
      </p:sp>
      <p:sp>
        <p:nvSpPr>
          <p:cNvPr id="3" name="Notes Placeholder 2"/>
          <p:cNvSpPr>
            <a:spLocks noGrp="1"/>
          </p:cNvSpPr>
          <p:nvPr>
            <p:ph type="body" idx="1"/>
          </p:nvPr>
        </p:nvSpPr>
        <p:spPr/>
        <p:txBody>
          <a:bodyPr/>
          <a:lstStyle/>
          <a:p>
            <a:r>
              <a:rPr lang="en-US" b="1" dirty="0"/>
              <a:t>AFKL have embraced the merchandising concept, </a:t>
            </a:r>
            <a:r>
              <a:rPr lang="en-US" dirty="0"/>
              <a:t>as demonstrated</a:t>
            </a:r>
          </a:p>
          <a:p>
            <a:r>
              <a:rPr lang="en-US" dirty="0"/>
              <a:t>through product unbundling and the marketing of ancillary products and</a:t>
            </a:r>
          </a:p>
          <a:p>
            <a:r>
              <a:rPr lang="en-US" dirty="0"/>
              <a:t>services, in turn benefiting passengers and airlines alike. AFKL have also</a:t>
            </a:r>
          </a:p>
          <a:p>
            <a:r>
              <a:rPr lang="en-US" dirty="0"/>
              <a:t>made significant progress in the areas of product enhancement and pricing</a:t>
            </a:r>
          </a:p>
          <a:p>
            <a:r>
              <a:rPr lang="en-US" dirty="0"/>
              <a:t>in terms of “seat managing the values”.</a:t>
            </a:r>
          </a:p>
          <a:p>
            <a:r>
              <a:rPr lang="en-US" dirty="0"/>
              <a:t>However, they are still struggling in the area of “romancing” the customer, where an airline becomes the customer’s preferred choice, rather than the customer feeling forced to choose that airline.</a:t>
            </a:r>
          </a:p>
          <a:p>
            <a:pPr>
              <a:lnSpc>
                <a:spcPct val="100000"/>
              </a:lnSpc>
              <a:buFont typeface="Arial" pitchFamily="34" charset="0"/>
              <a:buChar char="•"/>
            </a:pPr>
            <a:endParaRPr lang="en-US" dirty="0"/>
          </a:p>
          <a:p>
            <a:endParaRPr lang="en-US" dirty="0"/>
          </a:p>
        </p:txBody>
      </p:sp>
    </p:spTree>
    <p:extLst>
      <p:ext uri="{BB962C8B-B14F-4D97-AF65-F5344CB8AC3E}">
        <p14:creationId xmlns:p14="http://schemas.microsoft.com/office/powerpoint/2010/main" val="215947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746125"/>
            <a:ext cx="5387975" cy="3730625"/>
          </a:xfrm>
        </p:spPr>
      </p:sp>
      <p:sp>
        <p:nvSpPr>
          <p:cNvPr id="3" name="Notes Placeholder 2"/>
          <p:cNvSpPr>
            <a:spLocks noGrp="1"/>
          </p:cNvSpPr>
          <p:nvPr>
            <p:ph type="body" idx="1"/>
          </p:nvPr>
        </p:nvSpPr>
        <p:spPr/>
        <p:txBody>
          <a:bodyPr/>
          <a:lstStyle/>
          <a:p>
            <a:r>
              <a:rPr lang="en-US" b="1" dirty="0"/>
              <a:t>“Deploying Big data with analytics, a few global innovation led legacy airlines could redesign their businesses and transition from being providers of air transportation services from airport to airport to selling travel experiences, or becoming total travel facilitators by connecting the dots and by working with new third party players. And, it is through the integration of data (connecting the dots) that will generate new value.” NT Designing Future Oriented Airline Business</a:t>
            </a:r>
          </a:p>
          <a:p>
            <a:pPr>
              <a:lnSpc>
                <a:spcPct val="100000"/>
              </a:lnSpc>
              <a:buFont typeface="Arial" pitchFamily="34" charset="0"/>
              <a:buChar char="•"/>
            </a:pPr>
            <a:endParaRPr lang="en-US" dirty="0"/>
          </a:p>
          <a:p>
            <a:endParaRPr lang="en-US" dirty="0"/>
          </a:p>
        </p:txBody>
      </p:sp>
    </p:spTree>
    <p:extLst>
      <p:ext uri="{BB962C8B-B14F-4D97-AF65-F5344CB8AC3E}">
        <p14:creationId xmlns:p14="http://schemas.microsoft.com/office/powerpoint/2010/main" val="2159472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746125"/>
            <a:ext cx="5387975" cy="3730625"/>
          </a:xfrm>
        </p:spPr>
      </p:sp>
      <p:sp>
        <p:nvSpPr>
          <p:cNvPr id="3" name="Notes Placeholder 2"/>
          <p:cNvSpPr>
            <a:spLocks noGrp="1"/>
          </p:cNvSpPr>
          <p:nvPr>
            <p:ph type="body" idx="1"/>
          </p:nvPr>
        </p:nvSpPr>
        <p:spPr/>
        <p:txBody>
          <a:bodyPr/>
          <a:lstStyle/>
          <a:p>
            <a:r>
              <a:rPr lang="en-US" b="1" dirty="0"/>
              <a:t>“Deploying Big data with analytics, a few global innovation led legacy airlines could redesign their businesses and transition from being providers of air transportation services from airport to airport to selling travel experiences, or becoming total travel facilitators by connecting the dots and by working with new third party players. And, it is through the integration of data (connecting the dots) that will generate new value.” NT Designing Future Oriented Airline Business</a:t>
            </a:r>
          </a:p>
          <a:p>
            <a:pPr>
              <a:lnSpc>
                <a:spcPct val="100000"/>
              </a:lnSpc>
              <a:buFont typeface="Arial" pitchFamily="34" charset="0"/>
              <a:buChar char="•"/>
            </a:pPr>
            <a:endParaRPr lang="en-US" dirty="0"/>
          </a:p>
          <a:p>
            <a:pPr algn="l"/>
            <a:r>
              <a:rPr lang="en-US" dirty="0"/>
              <a:t>Focusing on the job-to-be-done for the customers, means that providing a few elements of the journey is no longer enough. Customers require mobile door-to-door travel that integrates planning, booking and ticketing across all means of travel and transportation. It can reduce delays and make travel involving multiple stops and different modes of transportation easier, faster and more cost-efficient. </a:t>
            </a:r>
          </a:p>
          <a:p>
            <a:pPr algn="l"/>
            <a:endParaRPr lang="en-US" dirty="0"/>
          </a:p>
          <a:p>
            <a:pPr algn="l"/>
            <a:r>
              <a:rPr lang="en-US" dirty="0"/>
              <a:t>Key features of the Smart Travel Assistant include personalization based on the user’s needs and preferences, such as desired modes of transport. The Travel Assistant also learns from user </a:t>
            </a:r>
            <a:r>
              <a:rPr lang="en-US" dirty="0" err="1"/>
              <a:t>behaviour</a:t>
            </a:r>
            <a:r>
              <a:rPr lang="en-US" dirty="0"/>
              <a:t>, and provides guidance in (re)planning based on preferences and situations using input from real-time weather and traffic updates. The service would have global reach and tap into traditional modes of transportation, such as bus, plane and train service, and emerging modes such as urban bike-rental </a:t>
            </a:r>
            <a:r>
              <a:rPr lang="en-US" dirty="0" err="1"/>
              <a:t>programmes</a:t>
            </a:r>
            <a:r>
              <a:rPr lang="en-US" dirty="0"/>
              <a:t> and car-sharing services. </a:t>
            </a:r>
            <a:br>
              <a:rPr lang="en-US" dirty="0"/>
            </a:br>
            <a:endParaRPr lang="en-US" dirty="0"/>
          </a:p>
          <a:p>
            <a:pPr algn="l"/>
            <a:r>
              <a:rPr lang="en-US" dirty="0"/>
              <a:t>Assortment: end2end travel (</a:t>
            </a:r>
            <a:r>
              <a:rPr lang="en-US" dirty="0" err="1"/>
              <a:t>incl</a:t>
            </a:r>
            <a:r>
              <a:rPr lang="en-US" dirty="0"/>
              <a:t> events at destination)</a:t>
            </a:r>
            <a:br>
              <a:rPr lang="en-US" dirty="0"/>
            </a:br>
            <a:endParaRPr lang="en-US" dirty="0"/>
          </a:p>
          <a:p>
            <a:pPr algn="l"/>
            <a:r>
              <a:rPr lang="en-US" dirty="0"/>
              <a:t>Benefit: moves into the space currently occupied by GDS’s and travel agents. </a:t>
            </a:r>
          </a:p>
          <a:p>
            <a:pPr algn="l"/>
            <a:r>
              <a:rPr lang="en-US" dirty="0"/>
              <a:t>Partners required might be large technology companies or a consortium of</a:t>
            </a:r>
          </a:p>
          <a:p>
            <a:pPr algn="l"/>
            <a:r>
              <a:rPr lang="en-US" dirty="0"/>
              <a:t>smaller firms specialized in, for example, current global distribution systems.</a:t>
            </a:r>
          </a:p>
          <a:p>
            <a:pPr algn="l"/>
            <a:r>
              <a:rPr lang="en-US" dirty="0"/>
              <a:t>Revenues through booking payments and advertising income </a:t>
            </a:r>
          </a:p>
          <a:p>
            <a:pPr algn="l"/>
            <a:endParaRPr lang="en-US" dirty="0"/>
          </a:p>
          <a:p>
            <a:pPr algn="l"/>
            <a:r>
              <a:rPr lang="en-US" dirty="0"/>
              <a:t>Successfully implementing the Smart travel Assistant depends not only on</a:t>
            </a:r>
          </a:p>
          <a:p>
            <a:pPr algn="l"/>
            <a:r>
              <a:rPr lang="en-US" dirty="0"/>
              <a:t>integrating the technology and necessary data that are largely available, but also on bringing together a variety of stakeholders; </a:t>
            </a:r>
            <a:r>
              <a:rPr lang="en-US" dirty="0" err="1"/>
              <a:t>travellers</a:t>
            </a:r>
            <a:r>
              <a:rPr lang="en-US" dirty="0"/>
              <a:t>, mobility and service providers (</a:t>
            </a:r>
            <a:r>
              <a:rPr lang="en-US" dirty="0" err="1"/>
              <a:t>ao</a:t>
            </a:r>
            <a:r>
              <a:rPr lang="en-US" dirty="0"/>
              <a:t> airlines), public authorities and other private enterprises supplying real-time data. </a:t>
            </a:r>
          </a:p>
          <a:p>
            <a:pPr algn="l"/>
            <a:r>
              <a:rPr lang="en-US" dirty="0"/>
              <a:t>Key is data standards, the revenue model</a:t>
            </a:r>
          </a:p>
          <a:p>
            <a:pPr algn="l"/>
            <a:endParaRPr lang="en-US" dirty="0"/>
          </a:p>
          <a:p>
            <a:pPr algn="l"/>
            <a:r>
              <a:rPr lang="en-US" dirty="0"/>
              <a:t>two major concerns involve privacy – the transfer of personal data across borders, and the mining of personal data to make proactive travel suggestions. Moreover, valid concerns exist with creating a monopoly. Separating IPITA operators into back-end and front-end providers would mitigate these risks. Another matter is the current lack of digitization and standards. </a:t>
            </a:r>
          </a:p>
          <a:p>
            <a:pPr algn="l"/>
            <a:endParaRPr lang="en-US" dirty="0"/>
          </a:p>
          <a:p>
            <a:pPr algn="l"/>
            <a:r>
              <a:rPr lang="en-US" dirty="0"/>
              <a:t>Managing complex journeys is in fact already something AFKL is already doing, </a:t>
            </a:r>
            <a:r>
              <a:rPr lang="en-US" dirty="0" err="1"/>
              <a:t>eg</a:t>
            </a:r>
            <a:r>
              <a:rPr lang="en-US" dirty="0"/>
              <a:t> in disruption management. As a network carrier is particularly vulnerable for disruptions, excelling in this area would be a great asset for the brands. Unfortunately, today this still involves a lot of manual involvement and the worst rated experience by customers. </a:t>
            </a:r>
          </a:p>
          <a:p>
            <a:pPr marL="184061" indent="-184061" defTabSz="883493"/>
            <a:r>
              <a:rPr lang="en-US" dirty="0"/>
              <a:t>two major concerns involve privacy – the transfer of personal data across borders, and the mining of personal data to make proactive travel suggestions. Moreover, valid concerns exist with creating a monopoly. Separating IPITA operators into back-end and front-end providers would mitigate these risks. Another matter is the current lack of digitization and standards. </a:t>
            </a:r>
          </a:p>
          <a:p>
            <a:pPr algn="l"/>
            <a:endParaRPr lang="en-US" dirty="0"/>
          </a:p>
          <a:p>
            <a:endParaRPr lang="en-US" dirty="0"/>
          </a:p>
        </p:txBody>
      </p:sp>
    </p:spTree>
    <p:extLst>
      <p:ext uri="{BB962C8B-B14F-4D97-AF65-F5344CB8AC3E}">
        <p14:creationId xmlns:p14="http://schemas.microsoft.com/office/powerpoint/2010/main" val="2159472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is the information-rich and technology-savvy companies that will serve them by knowing them better (who they are, where they are, where they are heading, what their preferences are, and what challenges they are facing at the time)</a:t>
            </a:r>
          </a:p>
          <a:p>
            <a:endParaRPr lang="en-US" dirty="0"/>
          </a:p>
          <a:p>
            <a:r>
              <a:rPr lang="en-US" dirty="0"/>
              <a:t>From the opportunity perspective, airlines </a:t>
            </a:r>
            <a:r>
              <a:rPr lang="en-US" dirty="0" err="1"/>
              <a:t>coud</a:t>
            </a:r>
            <a:r>
              <a:rPr lang="en-US" dirty="0"/>
              <a:t> serve travelers better not only by knowing them better, but also by offering them everything from everyone that is necessary from the start to finish of their journeys. </a:t>
            </a:r>
          </a:p>
          <a:p>
            <a:endParaRPr lang="en-US" dirty="0"/>
          </a:p>
          <a:p>
            <a:r>
              <a:rPr lang="en-US" dirty="0"/>
              <a:t>Internet ‘pure play’ businesses (such as Amazon, eBay, Facebook and </a:t>
            </a:r>
            <a:r>
              <a:rPr lang="en-US" dirty="0" err="1"/>
              <a:t>Goolge</a:t>
            </a:r>
            <a:r>
              <a:rPr lang="en-US" dirty="0"/>
              <a:t>) are not likely to fly airplanes, but they do have the power to disrupt airline profits by leveraging the behavioral data available for the creation of direct and customized itineraries and offers that are timely, relevant and significant; e.g. through the “</a:t>
            </a:r>
            <a:r>
              <a:rPr lang="en-US" dirty="0" err="1"/>
              <a:t>uberization</a:t>
            </a:r>
            <a:r>
              <a:rPr lang="en-US" dirty="0"/>
              <a:t>” of the airline business</a:t>
            </a:r>
          </a:p>
          <a:p>
            <a:endParaRPr lang="en-US" dirty="0"/>
          </a:p>
        </p:txBody>
      </p:sp>
    </p:spTree>
    <p:extLst>
      <p:ext uri="{BB962C8B-B14F-4D97-AF65-F5344CB8AC3E}">
        <p14:creationId xmlns:p14="http://schemas.microsoft.com/office/powerpoint/2010/main" val="2316526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offers one of the most advanced product suites in terms of IPITA’s overall objectives, having introduced new features incrementally over time. Google Transit, a public-transport planner, is integrated with Google Maps, covering many major cities and providing real-time updates on traffic and disturbances. Google Glass, the wearable head- mounted display, supplies travel information using Google Transit and Google Maps and is voice-activated, making the system into an intelligent personal assistant providing customized travel information. The current product suite does not offer ticketing or mobile payment options.</a:t>
            </a:r>
          </a:p>
          <a:p>
            <a:endParaRPr lang="en-US" dirty="0"/>
          </a:p>
        </p:txBody>
      </p:sp>
    </p:spTree>
    <p:extLst>
      <p:ext uri="{BB962C8B-B14F-4D97-AF65-F5344CB8AC3E}">
        <p14:creationId xmlns:p14="http://schemas.microsoft.com/office/powerpoint/2010/main" val="2342788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6007649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dirty="0"/>
              <a:t>Qantas has upgraded its iPhone app* with a smarter and more </a:t>
            </a:r>
            <a:r>
              <a:rPr lang="en-US" dirty="0" err="1"/>
              <a:t>personalised</a:t>
            </a:r>
            <a:r>
              <a:rPr lang="en-US" dirty="0"/>
              <a:t> interface to help streamline the day of travel experience for customers.</a:t>
            </a:r>
          </a:p>
          <a:p>
            <a:pPr fontAlgn="base"/>
            <a:r>
              <a:rPr lang="en-US" dirty="0"/>
              <a:t>The new version delivers real-time information and alerts customers to the steps they need to take to check-in, get to the airport, navigate the terminal, board the aircraft and collect their bags.</a:t>
            </a:r>
            <a:br>
              <a:rPr lang="en-US" dirty="0"/>
            </a:br>
            <a:r>
              <a:rPr lang="en-US" dirty="0" err="1"/>
              <a:t>Optimised</a:t>
            </a:r>
            <a:r>
              <a:rPr lang="en-US" dirty="0"/>
              <a:t> for iOS7, the app has also retained its original features including the ability to buy airfares, book a hotel, view Frequent Flyer points and create sale and special offer fare alerts to preferred destinations.</a:t>
            </a:r>
          </a:p>
          <a:p>
            <a:pPr fontAlgn="base"/>
            <a:r>
              <a:rPr lang="en-US" dirty="0"/>
              <a:t>Qantas Domestic Chief Executive Officer Lyell </a:t>
            </a:r>
            <a:r>
              <a:rPr lang="en-US" dirty="0" err="1"/>
              <a:t>Strambi</a:t>
            </a:r>
            <a:r>
              <a:rPr lang="en-US" dirty="0"/>
              <a:t> said the app’s improvements are a response to customer feedback and the drive to provide a smarter, more tailored experience.</a:t>
            </a:r>
          </a:p>
          <a:p>
            <a:pPr fontAlgn="base"/>
            <a:r>
              <a:rPr lang="en-US" dirty="0"/>
              <a:t>“Our customers wanted to be able to see at a glance when they need to check in, leave for the airport or head to the gate. They wanted an even simpler way to check-in, and greater access to up-to-the-minute departure information. The latest version of the Qantas Airways app delivers on this,” said </a:t>
            </a:r>
            <a:r>
              <a:rPr lang="en-US" dirty="0" err="1"/>
              <a:t>Mr</a:t>
            </a:r>
            <a:r>
              <a:rPr lang="en-US" dirty="0"/>
              <a:t> </a:t>
            </a:r>
            <a:r>
              <a:rPr lang="en-US" dirty="0" err="1"/>
              <a:t>Strambi</a:t>
            </a:r>
            <a:r>
              <a:rPr lang="en-US" dirty="0"/>
              <a:t>.</a:t>
            </a:r>
          </a:p>
          <a:p>
            <a:pPr fontAlgn="base"/>
            <a:r>
              <a:rPr lang="en-US" dirty="0"/>
              <a:t>“It creates a </a:t>
            </a:r>
            <a:r>
              <a:rPr lang="en-US" dirty="0" err="1"/>
              <a:t>personalised</a:t>
            </a:r>
            <a:r>
              <a:rPr lang="en-US" dirty="0"/>
              <a:t> travel timeline to make airport departures and arrivals a breeze.”</a:t>
            </a:r>
          </a:p>
          <a:p>
            <a:pPr fontAlgn="base"/>
            <a:r>
              <a:rPr lang="en-US" dirty="0"/>
              <a:t>“As a full service travel companion, the app anticipates all your travel needs - putting timely and relevant information in your hand when you need it. This lets our customers focus on the meeting they are flying to or the holiday reading they bought for their trip.</a:t>
            </a:r>
          </a:p>
          <a:p>
            <a:pPr fontAlgn="base"/>
            <a:r>
              <a:rPr lang="en-US" dirty="0"/>
              <a:t>“The app also lets us keep our more regular flyers informed and up-to-date while they’re on the move. User recognition lets Qantas Frequent Flyers monitor their points balance, view upcoming flights at a glance and make bookings easily.”</a:t>
            </a:r>
          </a:p>
          <a:p>
            <a:pPr fontAlgn="base"/>
            <a:r>
              <a:rPr lang="en-US" dirty="0"/>
              <a:t>“Over half a million customers are already enjoying the benefits of our app, with these new considered enhancements we expect even more customers to embrace the app.”</a:t>
            </a:r>
            <a:br>
              <a:rPr lang="en-US" dirty="0"/>
            </a:br>
            <a:r>
              <a:rPr lang="en-US" dirty="0"/>
              <a:t>Key features:</a:t>
            </a:r>
            <a:br>
              <a:rPr lang="en-US" dirty="0"/>
            </a:br>
            <a:r>
              <a:rPr lang="en-US" dirty="0"/>
              <a:t>• Recommends the best method of check-in (mobile, online or airport) (NEW)</a:t>
            </a:r>
            <a:br>
              <a:rPr lang="en-US" dirty="0"/>
            </a:br>
            <a:r>
              <a:rPr lang="en-US" dirty="0"/>
              <a:t>• Provides flight and boarding time alerts (NEW)</a:t>
            </a:r>
            <a:br>
              <a:rPr lang="en-US" dirty="0"/>
            </a:br>
            <a:r>
              <a:rPr lang="en-US" dirty="0"/>
              <a:t>• Lets customers know what time they will need to leave for the airport using their current location (NEW)</a:t>
            </a:r>
            <a:br>
              <a:rPr lang="en-US" dirty="0"/>
            </a:br>
            <a:r>
              <a:rPr lang="en-US" dirty="0"/>
              <a:t>• Locates the best route to get to the airport pulling data from Google Maps (NEW)</a:t>
            </a:r>
            <a:br>
              <a:rPr lang="en-US" dirty="0"/>
            </a:br>
            <a:r>
              <a:rPr lang="en-US" dirty="0"/>
              <a:t>• Reminds customers which lounges they have access to and where they are in the airport terminal (NEW)</a:t>
            </a:r>
            <a:br>
              <a:rPr lang="en-US" dirty="0"/>
            </a:br>
            <a:r>
              <a:rPr lang="en-US" dirty="0"/>
              <a:t>• Delivers up to the minute flight status information (NEW)</a:t>
            </a:r>
            <a:br>
              <a:rPr lang="en-US" dirty="0"/>
            </a:br>
            <a:r>
              <a:rPr lang="en-US" dirty="0"/>
              <a:t>• Shows the customer which gate they are boarding from (NEW)</a:t>
            </a:r>
            <a:br>
              <a:rPr lang="en-US" dirty="0"/>
            </a:br>
            <a:r>
              <a:rPr lang="en-US" dirty="0"/>
              <a:t>• Notifies the customer which baggage carousel their luggage can be retrieved from (NEW)</a:t>
            </a:r>
            <a:br>
              <a:rPr lang="en-US" dirty="0"/>
            </a:br>
            <a:r>
              <a:rPr lang="en-US" dirty="0"/>
              <a:t>• Gives the customer access to travel deals and discounts via </a:t>
            </a:r>
            <a:r>
              <a:rPr lang="en-US" dirty="0" err="1"/>
              <a:t>personalised</a:t>
            </a:r>
            <a:r>
              <a:rPr lang="en-US" dirty="0"/>
              <a:t> sale alerts (with the option to be alerted by price preference and/or destination)</a:t>
            </a:r>
            <a:br>
              <a:rPr lang="en-US" dirty="0"/>
            </a:br>
            <a:r>
              <a:rPr lang="en-US" dirty="0"/>
              <a:t>• Enables customers to search and book flights and hotels</a:t>
            </a:r>
            <a:br>
              <a:rPr lang="en-US" dirty="0"/>
            </a:br>
            <a:r>
              <a:rPr lang="en-US" dirty="0"/>
              <a:t>• Makes it easy to share deals and discounts with friends and family</a:t>
            </a:r>
            <a:br>
              <a:rPr lang="en-US" dirty="0"/>
            </a:br>
            <a:r>
              <a:rPr lang="en-US" dirty="0"/>
              <a:t>• Shows Frequent Flyers their points balance and next flight information at a glance</a:t>
            </a:r>
            <a:br>
              <a:rPr lang="en-US" dirty="0"/>
            </a:br>
            <a:r>
              <a:rPr lang="en-US" dirty="0"/>
              <a:t>The Qantas Airways app for iPhone is available now for free in the iTunes App Store. An Android Version will be released later in this year. Other Qantas apps on the market include the Qantas Frequent Flyer app that helps Frequent Flyers locate Qantas Frequent Flyer partners on the go and Qantas’ inflight magazine Qantas The Australian Way, is also available for </a:t>
            </a:r>
            <a:r>
              <a:rPr lang="en-US" dirty="0" err="1"/>
              <a:t>iPads</a:t>
            </a:r>
            <a:r>
              <a:rPr lang="en-US" dirty="0"/>
              <a:t>.</a:t>
            </a:r>
          </a:p>
          <a:p>
            <a:endParaRPr lang="en-US" dirty="0"/>
          </a:p>
        </p:txBody>
      </p:sp>
    </p:spTree>
    <p:extLst>
      <p:ext uri="{BB962C8B-B14F-4D97-AF65-F5344CB8AC3E}">
        <p14:creationId xmlns:p14="http://schemas.microsoft.com/office/powerpoint/2010/main" val="35662369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746125"/>
            <a:ext cx="5387975" cy="3730625"/>
          </a:xfrm>
        </p:spPr>
      </p:sp>
      <p:sp>
        <p:nvSpPr>
          <p:cNvPr id="3" name="Notes Placeholder 2"/>
          <p:cNvSpPr>
            <a:spLocks noGrp="1"/>
          </p:cNvSpPr>
          <p:nvPr>
            <p:ph type="body" idx="1"/>
          </p:nvPr>
        </p:nvSpPr>
        <p:spPr/>
        <p:txBody>
          <a:bodyPr/>
          <a:lstStyle/>
          <a:p>
            <a:r>
              <a:rPr lang="en-US" b="1" dirty="0"/>
              <a:t>“Deploying Big data with analytics, a few global innovation led legacy airlines could redesign their businesses and transition from being providers of air transportation services from airport to airport to selling travel experiences, or becoming total travel facilitators by connecting the dots and by working with new third party players. And, it is through the integration of data (connecting the dots) that will generate new value.” NT Designing Future Oriented Airline Business</a:t>
            </a:r>
          </a:p>
          <a:p>
            <a:pPr>
              <a:lnSpc>
                <a:spcPct val="100000"/>
              </a:lnSpc>
              <a:buFont typeface="Arial" pitchFamily="34" charset="0"/>
              <a:buChar char="•"/>
            </a:pPr>
            <a:endParaRPr lang="en-US" dirty="0"/>
          </a:p>
          <a:p>
            <a:endParaRPr lang="en-US" dirty="0"/>
          </a:p>
        </p:txBody>
      </p:sp>
    </p:spTree>
    <p:extLst>
      <p:ext uri="{BB962C8B-B14F-4D97-AF65-F5344CB8AC3E}">
        <p14:creationId xmlns:p14="http://schemas.microsoft.com/office/powerpoint/2010/main" val="215947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level is provided just as a </a:t>
            </a:r>
            <a:endParaRPr lang="en-US" dirty="0"/>
          </a:p>
        </p:txBody>
      </p:sp>
      <p:pic>
        <p:nvPicPr>
          <p:cNvPr id="3553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711" y="5239283"/>
            <a:ext cx="5266371" cy="3004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98842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4061" indent="-184061" defTabSz="883493"/>
            <a:r>
              <a:rPr lang="en-US" dirty="0" smtClean="0"/>
              <a:t>Mission: since 1995!</a:t>
            </a:r>
            <a:br>
              <a:rPr lang="en-US" dirty="0" smtClean="0"/>
            </a:br>
            <a:r>
              <a:rPr lang="en-US" dirty="0" smtClean="0"/>
              <a:t>“To be </a:t>
            </a:r>
            <a:r>
              <a:rPr lang="en-US" b="1" dirty="0" smtClean="0"/>
              <a:t>Earth’s most customer-centric company</a:t>
            </a:r>
            <a:r>
              <a:rPr lang="en-US" dirty="0" smtClean="0"/>
              <a:t>, where customers can find and discover </a:t>
            </a:r>
            <a:r>
              <a:rPr lang="en-US" b="1" dirty="0" smtClean="0"/>
              <a:t>anything </a:t>
            </a:r>
            <a:r>
              <a:rPr lang="en-US" dirty="0" smtClean="0"/>
              <a:t>they might want to buy online, and endeavors to offer its customers the </a:t>
            </a:r>
            <a:r>
              <a:rPr lang="en-US" b="1" dirty="0" smtClean="0"/>
              <a:t>lowest possible prices</a:t>
            </a:r>
            <a:r>
              <a:rPr lang="en-US" dirty="0" smtClean="0"/>
              <a:t>.” </a:t>
            </a:r>
          </a:p>
          <a:p>
            <a:pPr marL="184061" indent="-184061" defTabSz="883493"/>
            <a:r>
              <a:rPr lang="en-US" dirty="0"/>
              <a:t>The mission is stable. The business model is flexible.</a:t>
            </a:r>
            <a:endParaRPr lang="en-US" dirty="0" smtClean="0"/>
          </a:p>
        </p:txBody>
      </p:sp>
    </p:spTree>
    <p:extLst>
      <p:ext uri="{BB962C8B-B14F-4D97-AF65-F5344CB8AC3E}">
        <p14:creationId xmlns:p14="http://schemas.microsoft.com/office/powerpoint/2010/main" val="184380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8025" y="746125"/>
            <a:ext cx="5387975" cy="3730625"/>
          </a:xfrm>
        </p:spPr>
      </p:sp>
      <p:sp>
        <p:nvSpPr>
          <p:cNvPr id="3" name="Notes Placeholder 2"/>
          <p:cNvSpPr>
            <a:spLocks noGrp="1"/>
          </p:cNvSpPr>
          <p:nvPr>
            <p:ph type="body" idx="1"/>
          </p:nvPr>
        </p:nvSpPr>
        <p:spPr/>
        <p:txBody>
          <a:bodyPr/>
          <a:lstStyle/>
          <a:p>
            <a:r>
              <a:rPr lang="en-US" b="1" dirty="0"/>
              <a:t>AFKL have embraced the merchandising concept, </a:t>
            </a:r>
            <a:r>
              <a:rPr lang="en-US" dirty="0"/>
              <a:t>as demonstrated</a:t>
            </a:r>
          </a:p>
          <a:p>
            <a:r>
              <a:rPr lang="en-US" dirty="0"/>
              <a:t>through product unbundling and the marketing of ancillary products and</a:t>
            </a:r>
          </a:p>
          <a:p>
            <a:r>
              <a:rPr lang="en-US" dirty="0"/>
              <a:t>services, in turn benefiting passengers and airlines alike. AFKL have also</a:t>
            </a:r>
          </a:p>
          <a:p>
            <a:r>
              <a:rPr lang="en-US" dirty="0"/>
              <a:t>made significant progress in the areas of product enhancement and pricing</a:t>
            </a:r>
          </a:p>
          <a:p>
            <a:r>
              <a:rPr lang="en-US" dirty="0"/>
              <a:t>in terms of “seat managing the values”.</a:t>
            </a:r>
          </a:p>
          <a:p>
            <a:r>
              <a:rPr lang="en-US" dirty="0"/>
              <a:t>However, they are still struggling in the area of “romancing” the customer, where an airline becomes the customer’s preferred choice, rather than the customer feeling forced to choose that airline.</a:t>
            </a:r>
          </a:p>
          <a:p>
            <a:pPr>
              <a:lnSpc>
                <a:spcPct val="100000"/>
              </a:lnSpc>
              <a:buFont typeface="Arial" pitchFamily="34" charset="0"/>
              <a:buChar char="•"/>
            </a:pPr>
            <a:endParaRPr lang="en-US" dirty="0"/>
          </a:p>
          <a:p>
            <a:endParaRPr lang="en-US" dirty="0"/>
          </a:p>
        </p:txBody>
      </p:sp>
    </p:spTree>
    <p:extLst>
      <p:ext uri="{BB962C8B-B14F-4D97-AF65-F5344CB8AC3E}">
        <p14:creationId xmlns:p14="http://schemas.microsoft.com/office/powerpoint/2010/main" val="2159472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xml"/><Relationship Id="rId7" Type="http://schemas.openxmlformats.org/officeDocument/2006/relationships/oleObject" Target="../embeddings/oleObject1.bin"/><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slideMaster" Target="../slideMasters/slideMaster1.xml"/><Relationship Id="rId5" Type="http://schemas.openxmlformats.org/officeDocument/2006/relationships/tags" Target="../tags/tag5.xml"/><Relationship Id="rId4" Type="http://schemas.openxmlformats.org/officeDocument/2006/relationships/tags" Target="../tags/tag4.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7.xml"/><Relationship Id="rId7" Type="http://schemas.openxmlformats.org/officeDocument/2006/relationships/oleObject" Target="../embeddings/oleObject2.bin"/><Relationship Id="rId2" Type="http://schemas.openxmlformats.org/officeDocument/2006/relationships/tags" Target="../tags/tag6.xml"/><Relationship Id="rId1" Type="http://schemas.openxmlformats.org/officeDocument/2006/relationships/vmlDrawing" Target="../drawings/vmlDrawing2.vml"/><Relationship Id="rId6" Type="http://schemas.openxmlformats.org/officeDocument/2006/relationships/slideMaster" Target="../slideMasters/slideMaster1.xml"/><Relationship Id="rId5" Type="http://schemas.openxmlformats.org/officeDocument/2006/relationships/tags" Target="../tags/tag9.xml"/><Relationship Id="rId4" Type="http://schemas.openxmlformats.org/officeDocument/2006/relationships/tags" Target="../tags/tag8.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4" name="Rectangle 15"/>
          <p:cNvSpPr>
            <a:spLocks noChangeArrowheads="1"/>
          </p:cNvSpPr>
          <p:nvPr userDrawn="1"/>
        </p:nvSpPr>
        <p:spPr bwMode="auto">
          <a:xfrm>
            <a:off x="1434312" y="647702"/>
            <a:ext cx="8471694" cy="5445125"/>
          </a:xfrm>
          <a:prstGeom prst="rect">
            <a:avLst/>
          </a:prstGeom>
          <a:solidFill>
            <a:srgbClr val="B2E1F6"/>
          </a:solidFill>
          <a:ln>
            <a:noFill/>
          </a:ln>
          <a:effectLst/>
          <a:extLst>
            <a:ext uri="{91240B29-F687-4F45-9708-019B960494DF}">
              <a14:hiddenLine xmlns:a14="http://schemas.microsoft.com/office/drawing/2010/main" w="9525">
                <a:solidFill>
                  <a:srgbClr val="B2E1F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fr-FR"/>
          </a:p>
        </p:txBody>
      </p:sp>
      <p:sp>
        <p:nvSpPr>
          <p:cNvPr id="5" name="Rectangle 47"/>
          <p:cNvSpPr>
            <a:spLocks noChangeArrowheads="1"/>
          </p:cNvSpPr>
          <p:nvPr/>
        </p:nvSpPr>
        <p:spPr bwMode="auto">
          <a:xfrm>
            <a:off x="17" y="647703"/>
            <a:ext cx="720593" cy="684213"/>
          </a:xfrm>
          <a:prstGeom prst="rect">
            <a:avLst/>
          </a:prstGeom>
          <a:solidFill>
            <a:srgbClr val="00103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endParaRPr lang="fr-FR" sz="2400"/>
          </a:p>
        </p:txBody>
      </p:sp>
      <p:sp>
        <p:nvSpPr>
          <p:cNvPr id="6" name="Rectangle 48"/>
          <p:cNvSpPr>
            <a:spLocks noChangeArrowheads="1"/>
          </p:cNvSpPr>
          <p:nvPr/>
        </p:nvSpPr>
        <p:spPr bwMode="auto">
          <a:xfrm>
            <a:off x="717154" y="647703"/>
            <a:ext cx="720592" cy="684213"/>
          </a:xfrm>
          <a:prstGeom prst="rect">
            <a:avLst/>
          </a:prstGeom>
          <a:solidFill>
            <a:srgbClr val="009BE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endParaRPr lang="fr-FR" sz="2400"/>
          </a:p>
        </p:txBody>
      </p:sp>
      <p:sp>
        <p:nvSpPr>
          <p:cNvPr id="7" name="Rectangle 34"/>
          <p:cNvSpPr>
            <a:spLocks noGrp="1" noChangeArrowheads="1"/>
          </p:cNvSpPr>
          <p:nvPr/>
        </p:nvSpPr>
        <p:spPr bwMode="auto">
          <a:xfrm>
            <a:off x="4705350" y="6238875"/>
            <a:ext cx="49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p>
            <a:pPr algn="ctr"/>
            <a:endParaRPr lang="fr-FR" sz="1000">
              <a:latin typeface="Trebuchet MS" pitchFamily="34" charset="0"/>
            </a:endParaRPr>
          </a:p>
        </p:txBody>
      </p:sp>
      <p:grpSp>
        <p:nvGrpSpPr>
          <p:cNvPr id="8" name="Group 12"/>
          <p:cNvGrpSpPr>
            <a:grpSpLocks/>
          </p:cNvGrpSpPr>
          <p:nvPr userDrawn="1"/>
        </p:nvGrpSpPr>
        <p:grpSpPr bwMode="auto">
          <a:xfrm>
            <a:off x="7537847" y="6256338"/>
            <a:ext cx="2187575" cy="544512"/>
            <a:chOff x="364" y="898"/>
            <a:chExt cx="199" cy="52"/>
          </a:xfrm>
        </p:grpSpPr>
        <p:pic>
          <p:nvPicPr>
            <p:cNvPr id="9" name="Picture 13"/>
            <p:cNvPicPr>
              <a:picLocks noChangeAspect="1" noChangeArrowheads="1"/>
            </p:cNvPicPr>
            <p:nvPr/>
          </p:nvPicPr>
          <p:blipFill>
            <a:blip r:embed="rId2" cstate="email">
              <a:extLst>
                <a:ext uri="{28A0092B-C50C-407E-A947-70E740481C1C}">
                  <a14:useLocalDpi xmlns:a14="http://schemas.microsoft.com/office/drawing/2010/main"/>
                </a:ext>
              </a:extLst>
            </a:blip>
            <a:srcRect l="69417"/>
            <a:stretch>
              <a:fillRect/>
            </a:stretch>
          </p:blipFill>
          <p:spPr bwMode="auto">
            <a:xfrm>
              <a:off x="500" y="898"/>
              <a:ext cx="63" cy="52"/>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 name="Picture 14"/>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64" y="917"/>
              <a:ext cx="134" cy="1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83976" name="Rectangle 2"/>
          <p:cNvSpPr>
            <a:spLocks noGrp="1" noChangeArrowheads="1"/>
          </p:cNvSpPr>
          <p:nvPr>
            <p:ph type="ctrTitle"/>
          </p:nvPr>
        </p:nvSpPr>
        <p:spPr>
          <a:xfrm>
            <a:off x="1910701" y="2130496"/>
            <a:ext cx="7252361" cy="1470025"/>
          </a:xfrm>
        </p:spPr>
        <p:txBody>
          <a:bodyPr/>
          <a:lstStyle>
            <a:lvl1pPr>
              <a:defRPr/>
            </a:lvl1pPr>
          </a:lstStyle>
          <a:p>
            <a:pPr lvl="0"/>
            <a:r>
              <a:rPr lang="fr-FR" noProof="0" dirty="0" smtClean="0"/>
              <a:t>Cliquez et modifiez le titre</a:t>
            </a:r>
          </a:p>
        </p:txBody>
      </p:sp>
      <p:sp>
        <p:nvSpPr>
          <p:cNvPr id="83977" name="Rectangle 3"/>
          <p:cNvSpPr>
            <a:spLocks noGrp="1" noChangeArrowheads="1"/>
          </p:cNvSpPr>
          <p:nvPr>
            <p:ph type="subTitle" idx="1"/>
          </p:nvPr>
        </p:nvSpPr>
        <p:spPr>
          <a:xfrm>
            <a:off x="1910725" y="3657600"/>
            <a:ext cx="7254081" cy="1752600"/>
          </a:xfrm>
        </p:spPr>
        <p:txBody>
          <a:bodyPr/>
          <a:lstStyle>
            <a:lvl1pPr marL="0" indent="0">
              <a:defRPr/>
            </a:lvl1pPr>
          </a:lstStyle>
          <a:p>
            <a:pPr lvl="0"/>
            <a:r>
              <a:rPr lang="fr-FR" noProof="0" smtClean="0"/>
              <a:t>Cliquez pour modifier le style des sous-titres du masque</a:t>
            </a:r>
          </a:p>
        </p:txBody>
      </p:sp>
      <p:sp>
        <p:nvSpPr>
          <p:cNvPr id="13" name="TextBox 12"/>
          <p:cNvSpPr txBox="1"/>
          <p:nvPr userDrawn="1"/>
        </p:nvSpPr>
        <p:spPr>
          <a:xfrm>
            <a:off x="-29980" y="401482"/>
            <a:ext cx="1437739" cy="246221"/>
          </a:xfrm>
          <a:prstGeom prst="rect">
            <a:avLst/>
          </a:prstGeom>
          <a:noFill/>
        </p:spPr>
        <p:txBody>
          <a:bodyPr wrap="square" rtlCol="0">
            <a:spAutoFit/>
          </a:bodyPr>
          <a:lstStyle/>
          <a:p>
            <a:pPr algn="l"/>
            <a:r>
              <a:rPr lang="nl-NL" sz="1000" b="1" dirty="0" smtClean="0">
                <a:solidFill>
                  <a:srgbClr val="FF0000"/>
                </a:solidFill>
                <a:latin typeface="Arial Narrow" pitchFamily="34" charset="0"/>
              </a:rPr>
              <a:t>CONFIDENTIAL</a:t>
            </a:r>
            <a:endParaRPr lang="nl-NL" sz="1000" b="1" dirty="0">
              <a:solidFill>
                <a:srgbClr val="FF0000"/>
              </a:solidFill>
              <a:latin typeface="Arial Narrow" pitchFamily="34" charset="0"/>
            </a:endParaRPr>
          </a:p>
        </p:txBody>
      </p:sp>
    </p:spTree>
    <p:extLst>
      <p:ext uri="{BB962C8B-B14F-4D97-AF65-F5344CB8AC3E}">
        <p14:creationId xmlns:p14="http://schemas.microsoft.com/office/powerpoint/2010/main" val="4004044067"/>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485917" y="430160"/>
            <a:ext cx="7969515" cy="457200"/>
          </a:xfrm>
        </p:spPr>
        <p:txBody>
          <a:bodyPr/>
          <a:lstStyle>
            <a:lvl1pPr>
              <a:defRPr sz="2000">
                <a:solidFill>
                  <a:srgbClr val="001236"/>
                </a:solidFill>
              </a:defRPr>
            </a:lvl1pPr>
          </a:lstStyle>
          <a:p>
            <a:r>
              <a:rPr lang="fr-FR" dirty="0" smtClean="0"/>
              <a:t>Modifiez le style du titre</a:t>
            </a:r>
            <a:endParaRPr lang="fr-FR" dirty="0"/>
          </a:p>
        </p:txBody>
      </p:sp>
      <p:sp>
        <p:nvSpPr>
          <p:cNvPr id="3" name="Espace réservé du contenu 2"/>
          <p:cNvSpPr>
            <a:spLocks noGrp="1"/>
          </p:cNvSpPr>
          <p:nvPr>
            <p:ph idx="1"/>
          </p:nvPr>
        </p:nvSpPr>
        <p:spPr/>
        <p:txBody>
          <a:bodyPr/>
          <a:lstStyle/>
          <a:p>
            <a:pPr lvl="0"/>
            <a:r>
              <a:rPr lang="fr-FR" dirty="0" smtClean="0"/>
              <a:t>Modifiez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fr-FR" dirty="0"/>
          </a:p>
        </p:txBody>
      </p:sp>
    </p:spTree>
    <p:extLst>
      <p:ext uri="{BB962C8B-B14F-4D97-AF65-F5344CB8AC3E}">
        <p14:creationId xmlns:p14="http://schemas.microsoft.com/office/powerpoint/2010/main" val="1932696138"/>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82506" y="4406971"/>
            <a:ext cx="84201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smtClean="0"/>
              <a:t>Modifiez les styles du texte du masque</a:t>
            </a:r>
          </a:p>
        </p:txBody>
      </p:sp>
    </p:spTree>
    <p:extLst>
      <p:ext uri="{BB962C8B-B14F-4D97-AF65-F5344CB8AC3E}">
        <p14:creationId xmlns:p14="http://schemas.microsoft.com/office/powerpoint/2010/main" val="527558298"/>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1485917" y="420328"/>
            <a:ext cx="7969515" cy="457200"/>
          </a:xfrm>
        </p:spPr>
        <p:txBody>
          <a:bodyPr/>
          <a:lstStyle>
            <a:lvl1pPr>
              <a:defRPr sz="1800"/>
            </a:lvl1pPr>
          </a:lstStyle>
          <a:p>
            <a:r>
              <a:rPr lang="fr-FR" dirty="0" smtClean="0"/>
              <a:t>Modifiez le style du titre</a:t>
            </a:r>
            <a:endParaRPr lang="fr-FR" dirty="0"/>
          </a:p>
        </p:txBody>
      </p:sp>
      <p:sp>
        <p:nvSpPr>
          <p:cNvPr id="3" name="Espace réservé du contenu 2"/>
          <p:cNvSpPr>
            <a:spLocks noGrp="1"/>
          </p:cNvSpPr>
          <p:nvPr>
            <p:ph sz="half" idx="1"/>
          </p:nvPr>
        </p:nvSpPr>
        <p:spPr>
          <a:xfrm>
            <a:off x="1485900" y="1492250"/>
            <a:ext cx="3902208" cy="4679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5553246" y="1492250"/>
            <a:ext cx="3902207" cy="4679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extLst>
      <p:ext uri="{BB962C8B-B14F-4D97-AF65-F5344CB8AC3E}">
        <p14:creationId xmlns:p14="http://schemas.microsoft.com/office/powerpoint/2010/main" val="1428712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95300" y="274638"/>
            <a:ext cx="8915400" cy="1143000"/>
          </a:xfrm>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5032115"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5032115"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extLst>
      <p:ext uri="{BB962C8B-B14F-4D97-AF65-F5344CB8AC3E}">
        <p14:creationId xmlns:p14="http://schemas.microsoft.com/office/powerpoint/2010/main" val="876519340"/>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Modifiez le style du titre</a:t>
            </a:r>
            <a:endParaRPr lang="fr-FR" dirty="0"/>
          </a:p>
        </p:txBody>
      </p:sp>
      <p:sp>
        <p:nvSpPr>
          <p:cNvPr id="3" name="Rectangle 37"/>
          <p:cNvSpPr>
            <a:spLocks noChangeArrowheads="1"/>
          </p:cNvSpPr>
          <p:nvPr userDrawn="1"/>
        </p:nvSpPr>
        <p:spPr bwMode="auto">
          <a:xfrm>
            <a:off x="674548" y="287338"/>
            <a:ext cx="720592" cy="684212"/>
          </a:xfrm>
          <a:prstGeom prst="rect">
            <a:avLst/>
          </a:prstGeom>
          <a:solidFill>
            <a:srgbClr val="009BE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endParaRPr lang="fr-FR" sz="2400"/>
          </a:p>
        </p:txBody>
      </p:sp>
      <p:sp>
        <p:nvSpPr>
          <p:cNvPr id="4" name="Rectangle 15"/>
          <p:cNvSpPr>
            <a:spLocks noGrp="1" noChangeArrowheads="1"/>
          </p:cNvSpPr>
          <p:nvPr userDrawn="1"/>
        </p:nvSpPr>
        <p:spPr bwMode="auto">
          <a:xfrm>
            <a:off x="815181" y="393700"/>
            <a:ext cx="4953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ctr"/>
            <a:fld id="{2689EAE0-112B-4247-A7CC-91AFCB9E238A}" type="slidenum">
              <a:rPr lang="fr-FR" sz="2400" b="1">
                <a:solidFill>
                  <a:schemeClr val="bg1"/>
                </a:solidFill>
                <a:latin typeface="Trebuchet MS" pitchFamily="34" charset="0"/>
              </a:rPr>
              <a:pPr algn="ctr"/>
              <a:t>‹N°›</a:t>
            </a:fld>
            <a:endParaRPr lang="fr-FR" sz="2400" b="1" dirty="0">
              <a:solidFill>
                <a:schemeClr val="bg1"/>
              </a:solidFill>
              <a:latin typeface="Trebuchet MS" pitchFamily="34" charset="0"/>
            </a:endParaRPr>
          </a:p>
        </p:txBody>
      </p:sp>
    </p:spTree>
    <p:extLst>
      <p:ext uri="{BB962C8B-B14F-4D97-AF65-F5344CB8AC3E}">
        <p14:creationId xmlns:p14="http://schemas.microsoft.com/office/powerpoint/2010/main" val="396967117"/>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37"/>
          <p:cNvSpPr>
            <a:spLocks noChangeArrowheads="1"/>
          </p:cNvSpPr>
          <p:nvPr userDrawn="1"/>
        </p:nvSpPr>
        <p:spPr bwMode="auto">
          <a:xfrm>
            <a:off x="680692" y="287338"/>
            <a:ext cx="720592" cy="684212"/>
          </a:xfrm>
          <a:prstGeom prst="rect">
            <a:avLst/>
          </a:prstGeom>
          <a:solidFill>
            <a:srgbClr val="009BE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endParaRPr lang="fr-FR" sz="2400"/>
          </a:p>
        </p:txBody>
      </p:sp>
      <p:sp>
        <p:nvSpPr>
          <p:cNvPr id="3" name="Rectangle 15"/>
          <p:cNvSpPr>
            <a:spLocks noGrp="1" noChangeArrowheads="1"/>
          </p:cNvSpPr>
          <p:nvPr userDrawn="1"/>
        </p:nvSpPr>
        <p:spPr bwMode="auto">
          <a:xfrm>
            <a:off x="815181" y="393700"/>
            <a:ext cx="4953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ctr"/>
            <a:fld id="{2689EAE0-112B-4247-A7CC-91AFCB9E238A}" type="slidenum">
              <a:rPr lang="fr-FR" sz="2400" b="1">
                <a:solidFill>
                  <a:schemeClr val="bg1"/>
                </a:solidFill>
                <a:latin typeface="Trebuchet MS" pitchFamily="34" charset="0"/>
              </a:rPr>
              <a:pPr algn="ctr"/>
              <a:t>‹N°›</a:t>
            </a:fld>
            <a:endParaRPr lang="fr-FR" sz="2400" b="1" dirty="0">
              <a:solidFill>
                <a:schemeClr val="bg1"/>
              </a:solidFill>
              <a:latin typeface="Trebuchet MS" pitchFamily="34" charset="0"/>
            </a:endParaRPr>
          </a:p>
        </p:txBody>
      </p:sp>
    </p:spTree>
    <p:extLst>
      <p:ext uri="{BB962C8B-B14F-4D97-AF65-F5344CB8AC3E}">
        <p14:creationId xmlns:p14="http://schemas.microsoft.com/office/powerpoint/2010/main" val="3930757218"/>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95300" y="273050"/>
            <a:ext cx="3259006"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872972" y="273052"/>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95300" y="1435102"/>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Tree>
    <p:extLst>
      <p:ext uri="{BB962C8B-B14F-4D97-AF65-F5344CB8AC3E}">
        <p14:creationId xmlns:p14="http://schemas.microsoft.com/office/powerpoint/2010/main" val="452065307"/>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941645" y="4800600"/>
            <a:ext cx="59436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smtClean="0"/>
          </a:p>
        </p:txBody>
      </p:sp>
      <p:sp>
        <p:nvSpPr>
          <p:cNvPr id="4" name="Espace réservé du texte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Tree>
    <p:extLst>
      <p:ext uri="{BB962C8B-B14F-4D97-AF65-F5344CB8AC3E}">
        <p14:creationId xmlns:p14="http://schemas.microsoft.com/office/powerpoint/2010/main" val="1238139546"/>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extLst>
      <p:ext uri="{BB962C8B-B14F-4D97-AF65-F5344CB8AC3E}">
        <p14:creationId xmlns:p14="http://schemas.microsoft.com/office/powerpoint/2010/main" val="4155504238"/>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463934" y="381000"/>
            <a:ext cx="1991519" cy="5791200"/>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1485900" y="381000"/>
            <a:ext cx="5812896" cy="5791200"/>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Tree>
    <p:extLst>
      <p:ext uri="{BB962C8B-B14F-4D97-AF65-F5344CB8AC3E}">
        <p14:creationId xmlns:p14="http://schemas.microsoft.com/office/powerpoint/2010/main" val="2632473721"/>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graphicFrame>
        <p:nvGraphicFramePr>
          <p:cNvPr id="4" name="Rectangle 16" hidden="1"/>
          <p:cNvGraphicFramePr>
            <a:graphicFrameLocks/>
          </p:cNvGraphicFramePr>
          <p:nvPr>
            <p:custDataLst>
              <p:tags r:id="rId2"/>
            </p:custDataLst>
          </p:nvPr>
        </p:nvGraphicFramePr>
        <p:xfrm>
          <a:off x="6879" y="0"/>
          <a:ext cx="158221" cy="158750"/>
        </p:xfrm>
        <a:graphic>
          <a:graphicData uri="http://schemas.openxmlformats.org/presentationml/2006/ole">
            <mc:AlternateContent xmlns:mc="http://schemas.openxmlformats.org/markup-compatibility/2006">
              <mc:Choice xmlns:v="urn:schemas-microsoft-com:vml" Requires="v">
                <p:oleObj spid="_x0000_s344519" name="think-cell Slide" r:id="rId7" imgW="0" imgH="0" progId="TCLayout.ActiveDocument.1">
                  <p:embed/>
                </p:oleObj>
              </mc:Choice>
              <mc:Fallback>
                <p:oleObj name="think-cell Slide" r:id="rId7" imgW="0" imgH="0" progId="TCLayout.ActiveDocument.1">
                  <p:embed/>
                  <p:pic>
                    <p:nvPicPr>
                      <p:cNvPr id="0" name=""/>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6879" y="0"/>
                        <a:ext cx="158221"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36"/>
          <p:cNvSpPr>
            <a:spLocks noChangeArrowheads="1"/>
          </p:cNvSpPr>
          <p:nvPr>
            <p:custDataLst>
              <p:tags r:id="rId3"/>
            </p:custDataLst>
          </p:nvPr>
        </p:nvSpPr>
        <p:spPr bwMode="auto">
          <a:xfrm>
            <a:off x="0" y="287338"/>
            <a:ext cx="665560" cy="684212"/>
          </a:xfrm>
          <a:prstGeom prst="rect">
            <a:avLst/>
          </a:prstGeom>
          <a:solidFill>
            <a:schemeClr val="tx1"/>
          </a:solidFill>
          <a:ln w="9525">
            <a:solidFill>
              <a:srgbClr val="051039"/>
            </a:solidFill>
            <a:miter lim="800000"/>
            <a:headEnd/>
            <a:tailEnd/>
          </a:ln>
        </p:spPr>
        <p:txBody>
          <a:bodyPr wrap="none" anchor="ctr"/>
          <a:lstStyle/>
          <a:p>
            <a:pPr algn="l"/>
            <a:endParaRPr lang="fr-FR" sz="2400">
              <a:solidFill>
                <a:srgbClr val="051039"/>
              </a:solidFill>
            </a:endParaRPr>
          </a:p>
        </p:txBody>
      </p:sp>
      <p:pic>
        <p:nvPicPr>
          <p:cNvPr id="6" name="Picture 63"/>
          <p:cNvPicPr>
            <a:picLocks noChangeAspect="1" noChangeArrowheads="1"/>
          </p:cNvPicPr>
          <p:nvPr userDrawn="1">
            <p:custDataLst>
              <p:tags r:id="rId4"/>
            </p:custDataLst>
          </p:nvPr>
        </p:nvPicPr>
        <p:blipFill>
          <a:blip r:embed="rId8" cstate="email">
            <a:extLst>
              <a:ext uri="{28A0092B-C50C-407E-A947-70E740481C1C}">
                <a14:useLocalDpi xmlns:a14="http://schemas.microsoft.com/office/drawing/2010/main"/>
              </a:ext>
            </a:extLst>
          </a:blip>
          <a:srcRect/>
          <a:stretch>
            <a:fillRect/>
          </a:stretch>
        </p:blipFill>
        <p:spPr bwMode="auto">
          <a:xfrm>
            <a:off x="7513787" y="6488144"/>
            <a:ext cx="2120503"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nl-NL" dirty="0"/>
          </a:p>
        </p:txBody>
      </p:sp>
      <p:sp>
        <p:nvSpPr>
          <p:cNvPr id="8" name="Rectangle 37"/>
          <p:cNvSpPr>
            <a:spLocks noChangeArrowheads="1"/>
          </p:cNvSpPr>
          <p:nvPr userDrawn="1"/>
        </p:nvSpPr>
        <p:spPr bwMode="auto">
          <a:xfrm>
            <a:off x="674548" y="287338"/>
            <a:ext cx="720592" cy="684212"/>
          </a:xfrm>
          <a:prstGeom prst="rect">
            <a:avLst/>
          </a:prstGeom>
          <a:solidFill>
            <a:srgbClr val="009BE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endParaRPr lang="fr-FR" sz="2400"/>
          </a:p>
        </p:txBody>
      </p:sp>
      <p:sp>
        <p:nvSpPr>
          <p:cNvPr id="9" name="Rectangle 15"/>
          <p:cNvSpPr>
            <a:spLocks noGrp="1" noChangeArrowheads="1"/>
          </p:cNvSpPr>
          <p:nvPr userDrawn="1"/>
        </p:nvSpPr>
        <p:spPr bwMode="auto">
          <a:xfrm>
            <a:off x="772576" y="393700"/>
            <a:ext cx="4953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ctr"/>
            <a:fld id="{2689EAE0-112B-4247-A7CC-91AFCB9E238A}" type="slidenum">
              <a:rPr lang="fr-FR" sz="2400" b="1">
                <a:solidFill>
                  <a:schemeClr val="bg1"/>
                </a:solidFill>
                <a:latin typeface="Trebuchet MS" pitchFamily="34" charset="0"/>
              </a:rPr>
              <a:pPr algn="ctr"/>
              <a:t>‹N°›</a:t>
            </a:fld>
            <a:endParaRPr lang="fr-FR" sz="2400" b="1" dirty="0">
              <a:solidFill>
                <a:schemeClr val="bg1"/>
              </a:solidFill>
              <a:latin typeface="Trebuchet MS" pitchFamily="34" charset="0"/>
            </a:endParaRPr>
          </a:p>
        </p:txBody>
      </p:sp>
      <p:sp>
        <p:nvSpPr>
          <p:cNvPr id="11" name="FooterSimple"/>
          <p:cNvSpPr txBox="1">
            <a:spLocks noChangeArrowheads="1"/>
          </p:cNvSpPr>
          <p:nvPr userDrawn="1">
            <p:custDataLst>
              <p:tags r:id="rId5"/>
            </p:custDataLst>
          </p:nvPr>
        </p:nvSpPr>
        <p:spPr bwMode="auto">
          <a:xfrm>
            <a:off x="346084" y="6681108"/>
            <a:ext cx="2911053"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eaLnBrk="0" hangingPunct="0">
              <a:defRPr sz="1200" b="1" i="1">
                <a:solidFill>
                  <a:schemeClr val="tx1"/>
                </a:solidFill>
                <a:latin typeface="Arial" charset="0"/>
                <a:cs typeface="Arial" charset="0"/>
              </a:defRPr>
            </a:lvl1pPr>
            <a:lvl2pPr marL="742950" indent="-285750" eaLnBrk="0" hangingPunct="0">
              <a:defRPr sz="1200" b="1" i="1">
                <a:solidFill>
                  <a:schemeClr val="tx1"/>
                </a:solidFill>
                <a:latin typeface="Arial" charset="0"/>
                <a:cs typeface="Arial" charset="0"/>
              </a:defRPr>
            </a:lvl2pPr>
            <a:lvl3pPr marL="1143000" indent="-228600" eaLnBrk="0" hangingPunct="0">
              <a:defRPr sz="1200" b="1" i="1">
                <a:solidFill>
                  <a:schemeClr val="tx1"/>
                </a:solidFill>
                <a:latin typeface="Arial" charset="0"/>
                <a:cs typeface="Arial" charset="0"/>
              </a:defRPr>
            </a:lvl3pPr>
            <a:lvl4pPr marL="1600200" indent="-228600" eaLnBrk="0" hangingPunct="0">
              <a:defRPr sz="1200" b="1" i="1">
                <a:solidFill>
                  <a:schemeClr val="tx1"/>
                </a:solidFill>
                <a:latin typeface="Arial" charset="0"/>
                <a:cs typeface="Arial" charset="0"/>
              </a:defRPr>
            </a:lvl4pPr>
            <a:lvl5pPr marL="2057400" indent="-228600" eaLnBrk="0" hangingPunct="0">
              <a:defRPr sz="1200" b="1" i="1">
                <a:solidFill>
                  <a:schemeClr val="tx1"/>
                </a:solidFill>
                <a:latin typeface="Arial" charset="0"/>
                <a:cs typeface="Arial" charset="0"/>
              </a:defRPr>
            </a:lvl5pPr>
            <a:lvl6pPr marL="2514600" indent="-228600" eaLnBrk="0" fontAlgn="base" hangingPunct="0">
              <a:spcBef>
                <a:spcPct val="0"/>
              </a:spcBef>
              <a:spcAft>
                <a:spcPct val="0"/>
              </a:spcAft>
              <a:defRPr sz="1200" b="1" i="1">
                <a:solidFill>
                  <a:schemeClr val="tx1"/>
                </a:solidFill>
                <a:latin typeface="Arial" charset="0"/>
                <a:cs typeface="Arial" charset="0"/>
              </a:defRPr>
            </a:lvl6pPr>
            <a:lvl7pPr marL="2971800" indent="-228600" eaLnBrk="0" fontAlgn="base" hangingPunct="0">
              <a:spcBef>
                <a:spcPct val="0"/>
              </a:spcBef>
              <a:spcAft>
                <a:spcPct val="0"/>
              </a:spcAft>
              <a:defRPr sz="1200" b="1" i="1">
                <a:solidFill>
                  <a:schemeClr val="tx1"/>
                </a:solidFill>
                <a:latin typeface="Arial" charset="0"/>
                <a:cs typeface="Arial" charset="0"/>
              </a:defRPr>
            </a:lvl7pPr>
            <a:lvl8pPr marL="3429000" indent="-228600" eaLnBrk="0" fontAlgn="base" hangingPunct="0">
              <a:spcBef>
                <a:spcPct val="0"/>
              </a:spcBef>
              <a:spcAft>
                <a:spcPct val="0"/>
              </a:spcAft>
              <a:defRPr sz="1200" b="1" i="1">
                <a:solidFill>
                  <a:schemeClr val="tx1"/>
                </a:solidFill>
                <a:latin typeface="Arial" charset="0"/>
                <a:cs typeface="Arial" charset="0"/>
              </a:defRPr>
            </a:lvl8pPr>
            <a:lvl9pPr marL="3886200" indent="-228600" eaLnBrk="0" fontAlgn="base" hangingPunct="0">
              <a:spcBef>
                <a:spcPct val="0"/>
              </a:spcBef>
              <a:spcAft>
                <a:spcPct val="0"/>
              </a:spcAft>
              <a:defRPr sz="1200" b="1" i="1">
                <a:solidFill>
                  <a:schemeClr val="tx1"/>
                </a:solidFill>
                <a:latin typeface="Arial" charset="0"/>
                <a:cs typeface="Arial" charset="0"/>
              </a:defRPr>
            </a:lvl9pPr>
          </a:lstStyle>
          <a:p>
            <a:pPr algn="l" eaLnBrk="1" hangingPunct="1"/>
            <a:r>
              <a:rPr lang="en-US" sz="700" b="0" i="0" dirty="0" smtClean="0">
                <a:solidFill>
                  <a:srgbClr val="808080"/>
                </a:solidFill>
              </a:rPr>
              <a:t>Corporate Strategy-Horizon 2025 Airline industry-2APR2013-Shared.pptx</a:t>
            </a:r>
            <a:endParaRPr lang="en-US" sz="1400" i="0" dirty="0" smtClean="0">
              <a:solidFill>
                <a:srgbClr val="808080"/>
              </a:solidFill>
            </a:endParaRPr>
          </a:p>
        </p:txBody>
      </p:sp>
      <p:sp>
        <p:nvSpPr>
          <p:cNvPr id="12" name="TextBox 11"/>
          <p:cNvSpPr txBox="1"/>
          <p:nvPr userDrawn="1"/>
        </p:nvSpPr>
        <p:spPr>
          <a:xfrm>
            <a:off x="-29980" y="64018"/>
            <a:ext cx="1437739" cy="246221"/>
          </a:xfrm>
          <a:prstGeom prst="rect">
            <a:avLst/>
          </a:prstGeom>
          <a:noFill/>
        </p:spPr>
        <p:txBody>
          <a:bodyPr wrap="square" rtlCol="0">
            <a:spAutoFit/>
          </a:bodyPr>
          <a:lstStyle/>
          <a:p>
            <a:pPr algn="l"/>
            <a:r>
              <a:rPr lang="nl-NL" sz="1000" b="1" dirty="0" smtClean="0">
                <a:solidFill>
                  <a:srgbClr val="FF0000"/>
                </a:solidFill>
                <a:latin typeface="Arial Narrow" pitchFamily="34" charset="0"/>
              </a:rPr>
              <a:t>CONFIDENTIAL</a:t>
            </a:r>
            <a:endParaRPr lang="nl-NL" sz="1000" b="1" dirty="0">
              <a:solidFill>
                <a:srgbClr val="FF0000"/>
              </a:solidFill>
              <a:latin typeface="Arial Narrow" pitchFamily="34" charset="0"/>
            </a:endParaRPr>
          </a:p>
        </p:txBody>
      </p:sp>
    </p:spTree>
    <p:extLst>
      <p:ext uri="{BB962C8B-B14F-4D97-AF65-F5344CB8AC3E}">
        <p14:creationId xmlns:p14="http://schemas.microsoft.com/office/powerpoint/2010/main" val="2526043004"/>
      </p:ext>
    </p:extLst>
  </p:cSld>
  <p:clrMapOvr>
    <a:masterClrMapping/>
  </p:clrMapOvr>
  <p:transition spd="med"/>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graphicFrame>
        <p:nvGraphicFramePr>
          <p:cNvPr id="4" name="Rectangle 16" hidden="1"/>
          <p:cNvGraphicFramePr>
            <a:graphicFrameLocks/>
          </p:cNvGraphicFramePr>
          <p:nvPr>
            <p:custDataLst>
              <p:tags r:id="rId2"/>
            </p:custDataLst>
          </p:nvPr>
        </p:nvGraphicFramePr>
        <p:xfrm>
          <a:off x="6879" y="0"/>
          <a:ext cx="158221" cy="158750"/>
        </p:xfrm>
        <a:graphic>
          <a:graphicData uri="http://schemas.openxmlformats.org/presentationml/2006/ole">
            <mc:AlternateContent xmlns:mc="http://schemas.openxmlformats.org/markup-compatibility/2006">
              <mc:Choice xmlns:v="urn:schemas-microsoft-com:vml" Requires="v">
                <p:oleObj spid="_x0000_s350639" name="think-cell Slide" r:id="rId7" imgW="0" imgH="0" progId="TCLayout.ActiveDocument.1">
                  <p:embed/>
                </p:oleObj>
              </mc:Choice>
              <mc:Fallback>
                <p:oleObj name="think-cell Slide" r:id="rId7" imgW="0" imgH="0" progId="TCLayout.ActiveDocument.1">
                  <p:embed/>
                  <p:pic>
                    <p:nvPicPr>
                      <p:cNvPr id="0" name=""/>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6879" y="0"/>
                        <a:ext cx="158221" cy="158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36"/>
          <p:cNvSpPr>
            <a:spLocks noChangeArrowheads="1"/>
          </p:cNvSpPr>
          <p:nvPr>
            <p:custDataLst>
              <p:tags r:id="rId3"/>
            </p:custDataLst>
          </p:nvPr>
        </p:nvSpPr>
        <p:spPr bwMode="auto">
          <a:xfrm>
            <a:off x="0" y="287338"/>
            <a:ext cx="665560" cy="684212"/>
          </a:xfrm>
          <a:prstGeom prst="rect">
            <a:avLst/>
          </a:prstGeom>
          <a:solidFill>
            <a:schemeClr val="tx1"/>
          </a:solidFill>
          <a:ln w="9525">
            <a:solidFill>
              <a:srgbClr val="051039"/>
            </a:solidFill>
            <a:miter lim="800000"/>
            <a:headEnd/>
            <a:tailEnd/>
          </a:ln>
        </p:spPr>
        <p:txBody>
          <a:bodyPr wrap="none" anchor="ctr"/>
          <a:lstStyle/>
          <a:p>
            <a:pPr algn="l"/>
            <a:endParaRPr lang="fr-FR" sz="2400" smtClean="0">
              <a:solidFill>
                <a:srgbClr val="051039"/>
              </a:solidFill>
            </a:endParaRPr>
          </a:p>
        </p:txBody>
      </p:sp>
      <p:pic>
        <p:nvPicPr>
          <p:cNvPr id="6" name="Picture 63"/>
          <p:cNvPicPr>
            <a:picLocks noChangeAspect="1" noChangeArrowheads="1"/>
          </p:cNvPicPr>
          <p:nvPr userDrawn="1">
            <p:custDataLst>
              <p:tags r:id="rId4"/>
            </p:custDataLst>
          </p:nvPr>
        </p:nvPicPr>
        <p:blipFill>
          <a:blip r:embed="rId8" cstate="email">
            <a:extLst>
              <a:ext uri="{28A0092B-C50C-407E-A947-70E740481C1C}">
                <a14:useLocalDpi xmlns:a14="http://schemas.microsoft.com/office/drawing/2010/main"/>
              </a:ext>
            </a:extLst>
          </a:blip>
          <a:srcRect/>
          <a:stretch>
            <a:fillRect/>
          </a:stretch>
        </p:blipFill>
        <p:spPr bwMode="auto">
          <a:xfrm>
            <a:off x="7513784" y="6488138"/>
            <a:ext cx="2120503"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7"/>
          <p:cNvSpPr>
            <a:spLocks noChangeArrowheads="1"/>
          </p:cNvSpPr>
          <p:nvPr userDrawn="1"/>
        </p:nvSpPr>
        <p:spPr bwMode="auto">
          <a:xfrm>
            <a:off x="674172" y="287338"/>
            <a:ext cx="720593" cy="684212"/>
          </a:xfrm>
          <a:prstGeom prst="rect">
            <a:avLst/>
          </a:prstGeom>
          <a:solidFill>
            <a:srgbClr val="009BE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endParaRPr lang="fr-FR" sz="2400" smtClean="0">
              <a:solidFill>
                <a:srgbClr val="000000"/>
              </a:solidFill>
            </a:endParaRPr>
          </a:p>
        </p:txBody>
      </p:sp>
      <p:sp>
        <p:nvSpPr>
          <p:cNvPr id="8" name="Rectangle 15"/>
          <p:cNvSpPr>
            <a:spLocks noGrp="1" noChangeArrowheads="1"/>
          </p:cNvSpPr>
          <p:nvPr userDrawn="1"/>
        </p:nvSpPr>
        <p:spPr bwMode="auto">
          <a:xfrm>
            <a:off x="772187" y="393700"/>
            <a:ext cx="4953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ctr"/>
            <a:fld id="{E93FC15D-E064-4315-86A7-74891AF966F9}" type="slidenum">
              <a:rPr lang="fr-FR" sz="2400" b="1" smtClean="0">
                <a:solidFill>
                  <a:srgbClr val="FFFFFF"/>
                </a:solidFill>
                <a:latin typeface="Trebuchet MS" pitchFamily="34" charset="0"/>
              </a:rPr>
              <a:pPr algn="ctr"/>
              <a:t>‹N°›</a:t>
            </a:fld>
            <a:endParaRPr lang="fr-FR" sz="2400" b="1" smtClean="0">
              <a:solidFill>
                <a:srgbClr val="FFFFFF"/>
              </a:solidFill>
              <a:latin typeface="Trebuchet MS" pitchFamily="34" charset="0"/>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9" name="FooterSimple"/>
          <p:cNvSpPr txBox="1">
            <a:spLocks noChangeArrowheads="1"/>
          </p:cNvSpPr>
          <p:nvPr userDrawn="1">
            <p:custDataLst>
              <p:tags r:id="rId5"/>
            </p:custDataLst>
          </p:nvPr>
        </p:nvSpPr>
        <p:spPr bwMode="auto">
          <a:xfrm>
            <a:off x="346084" y="6681108"/>
            <a:ext cx="2911053"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eaLnBrk="0" hangingPunct="0">
              <a:defRPr sz="1200" b="1" i="1">
                <a:solidFill>
                  <a:schemeClr val="tx1"/>
                </a:solidFill>
                <a:latin typeface="Arial" charset="0"/>
                <a:cs typeface="Arial" charset="0"/>
              </a:defRPr>
            </a:lvl1pPr>
            <a:lvl2pPr marL="742950" indent="-285750" eaLnBrk="0" hangingPunct="0">
              <a:defRPr sz="1200" b="1" i="1">
                <a:solidFill>
                  <a:schemeClr val="tx1"/>
                </a:solidFill>
                <a:latin typeface="Arial" charset="0"/>
                <a:cs typeface="Arial" charset="0"/>
              </a:defRPr>
            </a:lvl2pPr>
            <a:lvl3pPr marL="1143000" indent="-228600" eaLnBrk="0" hangingPunct="0">
              <a:defRPr sz="1200" b="1" i="1">
                <a:solidFill>
                  <a:schemeClr val="tx1"/>
                </a:solidFill>
                <a:latin typeface="Arial" charset="0"/>
                <a:cs typeface="Arial" charset="0"/>
              </a:defRPr>
            </a:lvl3pPr>
            <a:lvl4pPr marL="1600200" indent="-228600" eaLnBrk="0" hangingPunct="0">
              <a:defRPr sz="1200" b="1" i="1">
                <a:solidFill>
                  <a:schemeClr val="tx1"/>
                </a:solidFill>
                <a:latin typeface="Arial" charset="0"/>
                <a:cs typeface="Arial" charset="0"/>
              </a:defRPr>
            </a:lvl4pPr>
            <a:lvl5pPr marL="2057400" indent="-228600" eaLnBrk="0" hangingPunct="0">
              <a:defRPr sz="1200" b="1" i="1">
                <a:solidFill>
                  <a:schemeClr val="tx1"/>
                </a:solidFill>
                <a:latin typeface="Arial" charset="0"/>
                <a:cs typeface="Arial" charset="0"/>
              </a:defRPr>
            </a:lvl5pPr>
            <a:lvl6pPr marL="2514600" indent="-228600" eaLnBrk="0" fontAlgn="base" hangingPunct="0">
              <a:spcBef>
                <a:spcPct val="0"/>
              </a:spcBef>
              <a:spcAft>
                <a:spcPct val="0"/>
              </a:spcAft>
              <a:defRPr sz="1200" b="1" i="1">
                <a:solidFill>
                  <a:schemeClr val="tx1"/>
                </a:solidFill>
                <a:latin typeface="Arial" charset="0"/>
                <a:cs typeface="Arial" charset="0"/>
              </a:defRPr>
            </a:lvl6pPr>
            <a:lvl7pPr marL="2971800" indent="-228600" eaLnBrk="0" fontAlgn="base" hangingPunct="0">
              <a:spcBef>
                <a:spcPct val="0"/>
              </a:spcBef>
              <a:spcAft>
                <a:spcPct val="0"/>
              </a:spcAft>
              <a:defRPr sz="1200" b="1" i="1">
                <a:solidFill>
                  <a:schemeClr val="tx1"/>
                </a:solidFill>
                <a:latin typeface="Arial" charset="0"/>
                <a:cs typeface="Arial" charset="0"/>
              </a:defRPr>
            </a:lvl7pPr>
            <a:lvl8pPr marL="3429000" indent="-228600" eaLnBrk="0" fontAlgn="base" hangingPunct="0">
              <a:spcBef>
                <a:spcPct val="0"/>
              </a:spcBef>
              <a:spcAft>
                <a:spcPct val="0"/>
              </a:spcAft>
              <a:defRPr sz="1200" b="1" i="1">
                <a:solidFill>
                  <a:schemeClr val="tx1"/>
                </a:solidFill>
                <a:latin typeface="Arial" charset="0"/>
                <a:cs typeface="Arial" charset="0"/>
              </a:defRPr>
            </a:lvl8pPr>
            <a:lvl9pPr marL="3886200" indent="-228600" eaLnBrk="0" fontAlgn="base" hangingPunct="0">
              <a:spcBef>
                <a:spcPct val="0"/>
              </a:spcBef>
              <a:spcAft>
                <a:spcPct val="0"/>
              </a:spcAft>
              <a:defRPr sz="1200" b="1" i="1">
                <a:solidFill>
                  <a:schemeClr val="tx1"/>
                </a:solidFill>
                <a:latin typeface="Arial" charset="0"/>
                <a:cs typeface="Arial" charset="0"/>
              </a:defRPr>
            </a:lvl9pPr>
          </a:lstStyle>
          <a:p>
            <a:pPr algn="l" eaLnBrk="1" hangingPunct="1"/>
            <a:r>
              <a:rPr lang="en-US" sz="700" b="0" i="0" dirty="0" smtClean="0">
                <a:solidFill>
                  <a:srgbClr val="808080"/>
                </a:solidFill>
              </a:rPr>
              <a:t>Corporate Strategy-Horizon 2025 Airline industry-2APR2013-Shared.pptx</a:t>
            </a:r>
            <a:endParaRPr lang="en-US" sz="1400" i="0" dirty="0" smtClean="0">
              <a:solidFill>
                <a:srgbClr val="808080"/>
              </a:solidFill>
            </a:endParaRPr>
          </a:p>
        </p:txBody>
      </p:sp>
      <p:sp>
        <p:nvSpPr>
          <p:cNvPr id="10" name="TextBox 9"/>
          <p:cNvSpPr txBox="1"/>
          <p:nvPr userDrawn="1"/>
        </p:nvSpPr>
        <p:spPr>
          <a:xfrm>
            <a:off x="-29980" y="64018"/>
            <a:ext cx="1437739" cy="246221"/>
          </a:xfrm>
          <a:prstGeom prst="rect">
            <a:avLst/>
          </a:prstGeom>
          <a:noFill/>
        </p:spPr>
        <p:txBody>
          <a:bodyPr wrap="square" rtlCol="0">
            <a:spAutoFit/>
          </a:bodyPr>
          <a:lstStyle/>
          <a:p>
            <a:pPr algn="l"/>
            <a:r>
              <a:rPr lang="nl-NL" sz="1000" b="1" dirty="0" smtClean="0">
                <a:solidFill>
                  <a:srgbClr val="FF0000"/>
                </a:solidFill>
                <a:latin typeface="Arial Narrow" pitchFamily="34" charset="0"/>
              </a:rPr>
              <a:t>CONFIDENTIAL</a:t>
            </a:r>
            <a:endParaRPr lang="nl-NL" sz="1000" b="1" dirty="0">
              <a:solidFill>
                <a:srgbClr val="FF0000"/>
              </a:solidFill>
              <a:latin typeface="Arial Narrow" pitchFamily="34" charset="0"/>
            </a:endParaRPr>
          </a:p>
        </p:txBody>
      </p:sp>
    </p:spTree>
    <p:extLst>
      <p:ext uri="{BB962C8B-B14F-4D97-AF65-F5344CB8AC3E}">
        <p14:creationId xmlns:p14="http://schemas.microsoft.com/office/powerpoint/2010/main" val="1131246061"/>
      </p:ext>
    </p:extLst>
  </p:cSld>
  <p:clrMapOvr>
    <a:masterClrMapping/>
  </p:clrMapOvr>
  <p:transition spd="med"/>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Diapositive de titre">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852622" y="6215076"/>
            <a:ext cx="3046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6" name="Rectangle 2"/>
          <p:cNvSpPr>
            <a:spLocks noGrp="1" noChangeArrowheads="1"/>
          </p:cNvSpPr>
          <p:nvPr>
            <p:ph type="ctrTitle"/>
          </p:nvPr>
        </p:nvSpPr>
        <p:spPr>
          <a:xfrm>
            <a:off x="1793743" y="1665288"/>
            <a:ext cx="7800975" cy="1765300"/>
          </a:xfrm>
        </p:spPr>
        <p:txBody>
          <a:bodyPr tIns="0" bIns="0" anchor="b"/>
          <a:lstStyle>
            <a:lvl1pPr>
              <a:defRPr sz="3200"/>
            </a:lvl1pPr>
          </a:lstStyle>
          <a:p>
            <a:r>
              <a:rPr lang="en-AU" smtClean="0"/>
              <a:t>Click to edit Master title style</a:t>
            </a:r>
            <a:endParaRPr lang="en-AU"/>
          </a:p>
        </p:txBody>
      </p:sp>
      <p:sp>
        <p:nvSpPr>
          <p:cNvPr id="6147" name="Rectangle 3"/>
          <p:cNvSpPr>
            <a:spLocks noGrp="1" noChangeArrowheads="1"/>
          </p:cNvSpPr>
          <p:nvPr>
            <p:ph type="subTitle" idx="1"/>
          </p:nvPr>
        </p:nvSpPr>
        <p:spPr>
          <a:xfrm>
            <a:off x="1793743" y="3465513"/>
            <a:ext cx="7800975" cy="2195512"/>
          </a:xfrm>
        </p:spPr>
        <p:txBody>
          <a:bodyPr tIns="0" bIns="0"/>
          <a:lstStyle>
            <a:lvl1pPr marL="0" indent="0">
              <a:spcBef>
                <a:spcPct val="0"/>
              </a:spcBef>
              <a:buFont typeface="Wingdings" pitchFamily="2" charset="2"/>
              <a:buNone/>
              <a:defRPr sz="2000"/>
            </a:lvl1pPr>
          </a:lstStyle>
          <a:p>
            <a:r>
              <a:rPr lang="en-AU" smtClean="0"/>
              <a:t>Click to edit Master subtitle style</a:t>
            </a:r>
            <a:endParaRPr lang="en-AU"/>
          </a:p>
        </p:txBody>
      </p:sp>
    </p:spTree>
    <p:extLst>
      <p:ext uri="{BB962C8B-B14F-4D97-AF65-F5344CB8AC3E}">
        <p14:creationId xmlns:p14="http://schemas.microsoft.com/office/powerpoint/2010/main" val="3112099241"/>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4" name="Picture 10"/>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6767807" y="6250629"/>
            <a:ext cx="291848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re 1"/>
          <p:cNvSpPr>
            <a:spLocks noGrp="1"/>
          </p:cNvSpPr>
          <p:nvPr>
            <p:ph type="title"/>
          </p:nvPr>
        </p:nvSpPr>
        <p:spPr>
          <a:xfrm>
            <a:off x="1540940" y="116505"/>
            <a:ext cx="8053785" cy="971550"/>
          </a:xfrm>
        </p:spPr>
        <p:txBody>
          <a:bodyPr anchor="ct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sldNum" sz="quarter" idx="10"/>
          </p:nvPr>
        </p:nvSpPr>
        <p:spPr/>
        <p:txBody>
          <a:bodyPr/>
          <a:lstStyle>
            <a:lvl1pPr>
              <a:defRPr/>
            </a:lvl1pPr>
          </a:lstStyle>
          <a:p>
            <a:pPr>
              <a:defRPr/>
            </a:pPr>
            <a:fld id="{BBA20087-104D-44D8-8678-DC839D0E755B}" type="slidenum">
              <a:rPr lang="en-US">
                <a:solidFill>
                  <a:srgbClr val="FFFFFF"/>
                </a:solidFill>
              </a:rPr>
              <a:pPr>
                <a:defRPr/>
              </a:pPr>
              <a:t>‹N°›</a:t>
            </a:fld>
            <a:endParaRPr lang="en-US" dirty="0">
              <a:solidFill>
                <a:srgbClr val="FFFFFF"/>
              </a:solidFill>
            </a:endParaRPr>
          </a:p>
        </p:txBody>
      </p:sp>
    </p:spTree>
    <p:extLst>
      <p:ext uri="{BB962C8B-B14F-4D97-AF65-F5344CB8AC3E}">
        <p14:creationId xmlns:p14="http://schemas.microsoft.com/office/powerpoint/2010/main" val="172879424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852622" y="6215076"/>
            <a:ext cx="3046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6" name="Rectangle 2"/>
          <p:cNvSpPr>
            <a:spLocks noGrp="1" noChangeArrowheads="1"/>
          </p:cNvSpPr>
          <p:nvPr>
            <p:ph type="ctrTitle"/>
          </p:nvPr>
        </p:nvSpPr>
        <p:spPr>
          <a:xfrm>
            <a:off x="1793743" y="1665288"/>
            <a:ext cx="7800975" cy="1765300"/>
          </a:xfrm>
        </p:spPr>
        <p:txBody>
          <a:bodyPr tIns="0" bIns="0" anchor="b"/>
          <a:lstStyle>
            <a:lvl1pPr>
              <a:defRPr sz="3200"/>
            </a:lvl1pPr>
          </a:lstStyle>
          <a:p>
            <a:r>
              <a:rPr lang="en-US"/>
              <a:t>Click to edit Master title style</a:t>
            </a:r>
          </a:p>
        </p:txBody>
      </p:sp>
      <p:sp>
        <p:nvSpPr>
          <p:cNvPr id="6147" name="Rectangle 3"/>
          <p:cNvSpPr>
            <a:spLocks noGrp="1" noChangeArrowheads="1"/>
          </p:cNvSpPr>
          <p:nvPr>
            <p:ph type="subTitle" idx="1"/>
          </p:nvPr>
        </p:nvSpPr>
        <p:spPr>
          <a:xfrm>
            <a:off x="1793743" y="3465513"/>
            <a:ext cx="7800975" cy="2195512"/>
          </a:xfrm>
        </p:spPr>
        <p:txBody>
          <a:bodyPr tIns="0" bIns="0"/>
          <a:lstStyle>
            <a:lvl1pPr marL="0" indent="0">
              <a:spcBef>
                <a:spcPct val="0"/>
              </a:spcBef>
              <a:buFont typeface="Wingdings" pitchFamily="2" charset="2"/>
              <a:buNone/>
              <a:defRPr sz="2000"/>
            </a:lvl1pPr>
          </a:lstStyle>
          <a:p>
            <a:r>
              <a:rPr lang="en-US"/>
              <a:t>Click to edit Master subtitle style</a:t>
            </a:r>
          </a:p>
        </p:txBody>
      </p:sp>
    </p:spTree>
    <p:extLst>
      <p:ext uri="{BB962C8B-B14F-4D97-AF65-F5344CB8AC3E}">
        <p14:creationId xmlns:p14="http://schemas.microsoft.com/office/powerpoint/2010/main" val="3865821716"/>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4" name="Picture 10"/>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6767807" y="6250629"/>
            <a:ext cx="291848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re 1"/>
          <p:cNvSpPr>
            <a:spLocks noGrp="1"/>
          </p:cNvSpPr>
          <p:nvPr>
            <p:ph type="title"/>
          </p:nvPr>
        </p:nvSpPr>
        <p:spPr>
          <a:xfrm>
            <a:off x="1540940" y="116505"/>
            <a:ext cx="8053785" cy="971550"/>
          </a:xfrm>
        </p:spPr>
        <p:txBody>
          <a:bodyPr anchor="ct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sldNum" sz="quarter" idx="10"/>
          </p:nvPr>
        </p:nvSpPr>
        <p:spPr/>
        <p:txBody>
          <a:bodyPr/>
          <a:lstStyle>
            <a:lvl1pPr>
              <a:defRPr/>
            </a:lvl1pPr>
          </a:lstStyle>
          <a:p>
            <a:pPr>
              <a:defRPr/>
            </a:pPr>
            <a:fld id="{BBA20087-104D-44D8-8678-DC839D0E755B}" type="slidenum">
              <a:rPr lang="en-US">
                <a:solidFill>
                  <a:srgbClr val="FFFFFF"/>
                </a:solidFill>
              </a:rPr>
              <a:pPr>
                <a:defRPr/>
              </a:pPr>
              <a:t>‹N°›</a:t>
            </a:fld>
            <a:endParaRPr lang="en-US">
              <a:solidFill>
                <a:srgbClr val="FFFFFF"/>
              </a:solidFill>
            </a:endParaRPr>
          </a:p>
        </p:txBody>
      </p:sp>
    </p:spTree>
    <p:extLst>
      <p:ext uri="{BB962C8B-B14F-4D97-AF65-F5344CB8AC3E}">
        <p14:creationId xmlns:p14="http://schemas.microsoft.com/office/powerpoint/2010/main" val="25795915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Diapositive de titre">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852622" y="6215074"/>
            <a:ext cx="30465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6" name="Rectangle 2"/>
          <p:cNvSpPr>
            <a:spLocks noGrp="1" noChangeArrowheads="1"/>
          </p:cNvSpPr>
          <p:nvPr>
            <p:ph type="ctrTitle"/>
          </p:nvPr>
        </p:nvSpPr>
        <p:spPr>
          <a:xfrm>
            <a:off x="1793743" y="1665288"/>
            <a:ext cx="7800975" cy="1765300"/>
          </a:xfrm>
        </p:spPr>
        <p:txBody>
          <a:bodyPr tIns="0" bIns="0" anchor="b"/>
          <a:lstStyle>
            <a:lvl1pPr>
              <a:defRPr sz="3200"/>
            </a:lvl1pPr>
          </a:lstStyle>
          <a:p>
            <a:r>
              <a:rPr lang="en-US"/>
              <a:t>Click to edit Master title style</a:t>
            </a:r>
          </a:p>
        </p:txBody>
      </p:sp>
      <p:sp>
        <p:nvSpPr>
          <p:cNvPr id="6147" name="Rectangle 3"/>
          <p:cNvSpPr>
            <a:spLocks noGrp="1" noChangeArrowheads="1"/>
          </p:cNvSpPr>
          <p:nvPr>
            <p:ph type="subTitle" idx="1"/>
          </p:nvPr>
        </p:nvSpPr>
        <p:spPr>
          <a:xfrm>
            <a:off x="1793743" y="3465513"/>
            <a:ext cx="7800975" cy="2195512"/>
          </a:xfrm>
        </p:spPr>
        <p:txBody>
          <a:bodyPr tIns="0" bIns="0"/>
          <a:lstStyle>
            <a:lvl1pPr marL="0" indent="0">
              <a:spcBef>
                <a:spcPct val="0"/>
              </a:spcBef>
              <a:buFont typeface="Wingdings" pitchFamily="2" charset="2"/>
              <a:buNone/>
              <a:defRPr sz="2000"/>
            </a:lvl1pPr>
          </a:lstStyle>
          <a:p>
            <a:r>
              <a:rPr lang="en-US"/>
              <a:t>Click to edit Master subtitle style</a:t>
            </a:r>
          </a:p>
        </p:txBody>
      </p:sp>
    </p:spTree>
    <p:extLst>
      <p:ext uri="{BB962C8B-B14F-4D97-AF65-F5344CB8AC3E}">
        <p14:creationId xmlns:p14="http://schemas.microsoft.com/office/powerpoint/2010/main" val="2378002121"/>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pic>
        <p:nvPicPr>
          <p:cNvPr id="4" name="Picture 10"/>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6767806" y="6250627"/>
            <a:ext cx="291848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re 1"/>
          <p:cNvSpPr>
            <a:spLocks noGrp="1"/>
          </p:cNvSpPr>
          <p:nvPr>
            <p:ph type="title"/>
          </p:nvPr>
        </p:nvSpPr>
        <p:spPr>
          <a:xfrm>
            <a:off x="1540939" y="116505"/>
            <a:ext cx="8053785" cy="971550"/>
          </a:xfrm>
        </p:spPr>
        <p:txBody>
          <a:bodyPr anchor="ct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Rectangle 4"/>
          <p:cNvSpPr>
            <a:spLocks noGrp="1" noChangeArrowheads="1"/>
          </p:cNvSpPr>
          <p:nvPr>
            <p:ph type="sldNum" sz="quarter" idx="10"/>
          </p:nvPr>
        </p:nvSpPr>
        <p:spPr/>
        <p:txBody>
          <a:bodyPr/>
          <a:lstStyle>
            <a:lvl1pPr>
              <a:defRPr/>
            </a:lvl1pPr>
          </a:lstStyle>
          <a:p>
            <a:pPr>
              <a:defRPr/>
            </a:pPr>
            <a:fld id="{BBA20087-104D-44D8-8678-DC839D0E755B}" type="slidenum">
              <a:rPr lang="en-US">
                <a:solidFill>
                  <a:srgbClr val="FFFFFF"/>
                </a:solidFill>
              </a:rPr>
              <a:pPr>
                <a:defRPr/>
              </a:pPr>
              <a:t>‹N°›</a:t>
            </a:fld>
            <a:endParaRPr lang="en-US">
              <a:solidFill>
                <a:srgbClr val="FFFFFF"/>
              </a:solidFill>
            </a:endParaRPr>
          </a:p>
        </p:txBody>
      </p:sp>
    </p:spTree>
    <p:extLst>
      <p:ext uri="{BB962C8B-B14F-4D97-AF65-F5344CB8AC3E}">
        <p14:creationId xmlns:p14="http://schemas.microsoft.com/office/powerpoint/2010/main" val="735574623"/>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32D399F0-92F4-457D-ACFA-9B3ED838364E}" type="slidenum">
              <a:rPr lang="nl-NL">
                <a:solidFill>
                  <a:srgbClr val="FFFFFF"/>
                </a:solidFill>
              </a:rPr>
              <a:pPr/>
              <a:t>‹N°›</a:t>
            </a:fld>
            <a:endParaRPr lang="nl-NL">
              <a:solidFill>
                <a:srgbClr val="FFFFFF"/>
              </a:solidFill>
            </a:endParaRPr>
          </a:p>
        </p:txBody>
      </p:sp>
      <p:pic>
        <p:nvPicPr>
          <p:cNvPr id="4" name="Picture 10"/>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6767806" y="6250627"/>
            <a:ext cx="291848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2576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5" Type="http://schemas.openxmlformats.org/officeDocument/2006/relationships/image" Target="../media/image5.png"/><Relationship Id="rId4" Type="http://schemas.openxmlformats.org/officeDocument/2006/relationships/image" Target="../media/image4.jpe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image" Target="../media/image5.png"/><Relationship Id="rId4" Type="http://schemas.openxmlformats.org/officeDocument/2006/relationships/image" Target="../media/image4.jpe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485917" y="430160"/>
            <a:ext cx="796951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dirty="0" smtClean="0"/>
              <a:t>Cliquez et modifiez le titre</a:t>
            </a:r>
          </a:p>
        </p:txBody>
      </p:sp>
      <p:sp>
        <p:nvSpPr>
          <p:cNvPr id="1027" name="Rectangle 3"/>
          <p:cNvSpPr>
            <a:spLocks noGrp="1" noChangeArrowheads="1"/>
          </p:cNvSpPr>
          <p:nvPr>
            <p:ph type="body" idx="1"/>
          </p:nvPr>
        </p:nvSpPr>
        <p:spPr bwMode="auto">
          <a:xfrm>
            <a:off x="1485917" y="1492250"/>
            <a:ext cx="7969515"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dirty="0" smtClean="0"/>
              <a:t>Cliquez pour 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p>
        </p:txBody>
      </p:sp>
      <p:sp>
        <p:nvSpPr>
          <p:cNvPr id="1028" name="Rectangle 35"/>
          <p:cNvSpPr>
            <a:spLocks noGrp="1" noChangeArrowheads="1"/>
          </p:cNvSpPr>
          <p:nvPr/>
        </p:nvSpPr>
        <p:spPr bwMode="auto">
          <a:xfrm>
            <a:off x="830660" y="388938"/>
            <a:ext cx="495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p>
            <a:pPr algn="ctr"/>
            <a:fld id="{FF7A0869-213D-4BFF-B6A0-34A0A52C7EF6}" type="slidenum">
              <a:rPr lang="fr-FR" sz="1000">
                <a:latin typeface="Trebuchet MS" pitchFamily="34" charset="0"/>
              </a:rPr>
              <a:pPr algn="ctr"/>
              <a:t>‹N°›</a:t>
            </a:fld>
            <a:endParaRPr lang="fr-FR" sz="1000">
              <a:latin typeface="Trebuchet MS" pitchFamily="34" charset="0"/>
            </a:endParaRPr>
          </a:p>
        </p:txBody>
      </p:sp>
      <p:sp>
        <p:nvSpPr>
          <p:cNvPr id="1029" name="Rectangle 36"/>
          <p:cNvSpPr>
            <a:spLocks noChangeArrowheads="1"/>
          </p:cNvSpPr>
          <p:nvPr/>
        </p:nvSpPr>
        <p:spPr bwMode="auto">
          <a:xfrm>
            <a:off x="17" y="287338"/>
            <a:ext cx="720593" cy="684212"/>
          </a:xfrm>
          <a:prstGeom prst="rect">
            <a:avLst/>
          </a:prstGeom>
          <a:solidFill>
            <a:srgbClr val="05103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endParaRPr lang="fr-FR" sz="2400"/>
          </a:p>
        </p:txBody>
      </p:sp>
      <p:sp>
        <p:nvSpPr>
          <p:cNvPr id="1030" name="Rectangle 37"/>
          <p:cNvSpPr>
            <a:spLocks noChangeArrowheads="1"/>
          </p:cNvSpPr>
          <p:nvPr/>
        </p:nvSpPr>
        <p:spPr bwMode="auto">
          <a:xfrm>
            <a:off x="717154" y="287338"/>
            <a:ext cx="720592" cy="684212"/>
          </a:xfrm>
          <a:prstGeom prst="rect">
            <a:avLst/>
          </a:prstGeom>
          <a:solidFill>
            <a:srgbClr val="009BE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l"/>
            <a:endParaRPr lang="fr-FR" sz="2400"/>
          </a:p>
        </p:txBody>
      </p:sp>
      <p:grpSp>
        <p:nvGrpSpPr>
          <p:cNvPr id="1031" name="Group 12"/>
          <p:cNvGrpSpPr>
            <a:grpSpLocks/>
          </p:cNvGrpSpPr>
          <p:nvPr/>
        </p:nvGrpSpPr>
        <p:grpSpPr bwMode="auto">
          <a:xfrm>
            <a:off x="7537847" y="6256338"/>
            <a:ext cx="2187575" cy="544512"/>
            <a:chOff x="364" y="898"/>
            <a:chExt cx="199" cy="52"/>
          </a:xfrm>
        </p:grpSpPr>
        <p:pic>
          <p:nvPicPr>
            <p:cNvPr id="1034" name="Picture 13"/>
            <p:cNvPicPr>
              <a:picLocks noChangeAspect="1" noChangeArrowheads="1"/>
            </p:cNvPicPr>
            <p:nvPr/>
          </p:nvPicPr>
          <p:blipFill>
            <a:blip r:embed="rId16" cstate="email">
              <a:extLst>
                <a:ext uri="{28A0092B-C50C-407E-A947-70E740481C1C}">
                  <a14:useLocalDpi xmlns:a14="http://schemas.microsoft.com/office/drawing/2010/main"/>
                </a:ext>
              </a:extLst>
            </a:blip>
            <a:srcRect l="69417"/>
            <a:stretch>
              <a:fillRect/>
            </a:stretch>
          </p:blipFill>
          <p:spPr bwMode="auto">
            <a:xfrm>
              <a:off x="500" y="898"/>
              <a:ext cx="63" cy="52"/>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35" name="Picture 14"/>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364" y="917"/>
              <a:ext cx="134" cy="19"/>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032" name="Rectangle 15"/>
          <p:cNvSpPr>
            <a:spLocks noGrp="1" noChangeArrowheads="1"/>
          </p:cNvSpPr>
          <p:nvPr/>
        </p:nvSpPr>
        <p:spPr bwMode="auto">
          <a:xfrm>
            <a:off x="815181" y="393700"/>
            <a:ext cx="4953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lstStyle/>
          <a:p>
            <a:pPr algn="ctr"/>
            <a:fld id="{2689EAE0-112B-4247-A7CC-91AFCB9E238A}" type="slidenum">
              <a:rPr lang="fr-FR" sz="2400" b="1">
                <a:solidFill>
                  <a:schemeClr val="bg1"/>
                </a:solidFill>
                <a:latin typeface="Trebuchet MS" pitchFamily="34" charset="0"/>
              </a:rPr>
              <a:pPr algn="ctr"/>
              <a:t>‹N°›</a:t>
            </a:fld>
            <a:endParaRPr lang="fr-FR" sz="2400" b="1" dirty="0">
              <a:solidFill>
                <a:schemeClr val="bg1"/>
              </a:solidFill>
              <a:latin typeface="Trebuchet MS" pitchFamily="34" charset="0"/>
            </a:endParaRPr>
          </a:p>
        </p:txBody>
      </p:sp>
      <p:sp>
        <p:nvSpPr>
          <p:cNvPr id="1033" name="Line 31"/>
          <p:cNvSpPr>
            <a:spLocks noChangeShapeType="1"/>
          </p:cNvSpPr>
          <p:nvPr/>
        </p:nvSpPr>
        <p:spPr bwMode="auto">
          <a:xfrm>
            <a:off x="1485900" y="1052513"/>
            <a:ext cx="8089900" cy="0"/>
          </a:xfrm>
          <a:prstGeom prst="line">
            <a:avLst/>
          </a:prstGeom>
          <a:noFill/>
          <a:ln w="12700">
            <a:solidFill>
              <a:srgbClr val="051039"/>
            </a:solidFill>
            <a:round/>
            <a:headEnd/>
            <a:tailEnd/>
          </a:ln>
          <a:extLst>
            <a:ext uri="{909E8E84-426E-40DD-AFC4-6F175D3DCCD1}">
              <a14:hiddenFill xmlns:a14="http://schemas.microsoft.com/office/drawing/2010/main">
                <a:noFill/>
              </a14:hiddenFill>
            </a:ext>
          </a:extLst>
        </p:spPr>
        <p:txBody>
          <a:bodyPr wrap="none" anchor="ctr"/>
          <a:lstStyle/>
          <a:p>
            <a:endParaRPr lang="nl-NL"/>
          </a:p>
        </p:txBody>
      </p:sp>
      <p:sp>
        <p:nvSpPr>
          <p:cNvPr id="14" name="FooterSimple"/>
          <p:cNvSpPr txBox="1">
            <a:spLocks noChangeArrowheads="1"/>
          </p:cNvSpPr>
          <p:nvPr>
            <p:custDataLst>
              <p:tags r:id="rId15"/>
            </p:custDataLst>
          </p:nvPr>
        </p:nvSpPr>
        <p:spPr bwMode="auto">
          <a:xfrm>
            <a:off x="346080" y="6681108"/>
            <a:ext cx="2582438" cy="107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oAutofit/>
          </a:bodyPr>
          <a:lstStyle>
            <a:lvl1pPr eaLnBrk="0" hangingPunct="0">
              <a:defRPr sz="1200" b="1" i="1">
                <a:solidFill>
                  <a:schemeClr val="tx1"/>
                </a:solidFill>
                <a:latin typeface="Arial" charset="0"/>
                <a:cs typeface="Arial" charset="0"/>
              </a:defRPr>
            </a:lvl1pPr>
            <a:lvl2pPr marL="742950" indent="-285750" eaLnBrk="0" hangingPunct="0">
              <a:defRPr sz="1200" b="1" i="1">
                <a:solidFill>
                  <a:schemeClr val="tx1"/>
                </a:solidFill>
                <a:latin typeface="Arial" charset="0"/>
                <a:cs typeface="Arial" charset="0"/>
              </a:defRPr>
            </a:lvl2pPr>
            <a:lvl3pPr marL="1143000" indent="-228600" eaLnBrk="0" hangingPunct="0">
              <a:defRPr sz="1200" b="1" i="1">
                <a:solidFill>
                  <a:schemeClr val="tx1"/>
                </a:solidFill>
                <a:latin typeface="Arial" charset="0"/>
                <a:cs typeface="Arial" charset="0"/>
              </a:defRPr>
            </a:lvl3pPr>
            <a:lvl4pPr marL="1600200" indent="-228600" eaLnBrk="0" hangingPunct="0">
              <a:defRPr sz="1200" b="1" i="1">
                <a:solidFill>
                  <a:schemeClr val="tx1"/>
                </a:solidFill>
                <a:latin typeface="Arial" charset="0"/>
                <a:cs typeface="Arial" charset="0"/>
              </a:defRPr>
            </a:lvl4pPr>
            <a:lvl5pPr marL="2057400" indent="-228600" eaLnBrk="0" hangingPunct="0">
              <a:defRPr sz="1200" b="1" i="1">
                <a:solidFill>
                  <a:schemeClr val="tx1"/>
                </a:solidFill>
                <a:latin typeface="Arial" charset="0"/>
                <a:cs typeface="Arial" charset="0"/>
              </a:defRPr>
            </a:lvl5pPr>
            <a:lvl6pPr marL="2514600" indent="-228600" eaLnBrk="0" fontAlgn="base" hangingPunct="0">
              <a:spcBef>
                <a:spcPct val="0"/>
              </a:spcBef>
              <a:spcAft>
                <a:spcPct val="0"/>
              </a:spcAft>
              <a:defRPr sz="1200" b="1" i="1">
                <a:solidFill>
                  <a:schemeClr val="tx1"/>
                </a:solidFill>
                <a:latin typeface="Arial" charset="0"/>
                <a:cs typeface="Arial" charset="0"/>
              </a:defRPr>
            </a:lvl6pPr>
            <a:lvl7pPr marL="2971800" indent="-228600" eaLnBrk="0" fontAlgn="base" hangingPunct="0">
              <a:spcBef>
                <a:spcPct val="0"/>
              </a:spcBef>
              <a:spcAft>
                <a:spcPct val="0"/>
              </a:spcAft>
              <a:defRPr sz="1200" b="1" i="1">
                <a:solidFill>
                  <a:schemeClr val="tx1"/>
                </a:solidFill>
                <a:latin typeface="Arial" charset="0"/>
                <a:cs typeface="Arial" charset="0"/>
              </a:defRPr>
            </a:lvl7pPr>
            <a:lvl8pPr marL="3429000" indent="-228600" eaLnBrk="0" fontAlgn="base" hangingPunct="0">
              <a:spcBef>
                <a:spcPct val="0"/>
              </a:spcBef>
              <a:spcAft>
                <a:spcPct val="0"/>
              </a:spcAft>
              <a:defRPr sz="1200" b="1" i="1">
                <a:solidFill>
                  <a:schemeClr val="tx1"/>
                </a:solidFill>
                <a:latin typeface="Arial" charset="0"/>
                <a:cs typeface="Arial" charset="0"/>
              </a:defRPr>
            </a:lvl8pPr>
            <a:lvl9pPr marL="3886200" indent="-228600" eaLnBrk="0" fontAlgn="base" hangingPunct="0">
              <a:spcBef>
                <a:spcPct val="0"/>
              </a:spcBef>
              <a:spcAft>
                <a:spcPct val="0"/>
              </a:spcAft>
              <a:defRPr sz="1200" b="1" i="1">
                <a:solidFill>
                  <a:schemeClr val="tx1"/>
                </a:solidFill>
                <a:latin typeface="Arial" charset="0"/>
                <a:cs typeface="Arial" charset="0"/>
              </a:defRPr>
            </a:lvl9pPr>
          </a:lstStyle>
          <a:p>
            <a:pPr algn="l" eaLnBrk="1" hangingPunct="1"/>
            <a:r>
              <a:rPr lang="en-US" sz="700" b="0" i="0" dirty="0" smtClean="0">
                <a:solidFill>
                  <a:srgbClr val="808080"/>
                </a:solidFill>
              </a:rPr>
              <a:t>Corporate Strategy-Breakthrough</a:t>
            </a:r>
            <a:r>
              <a:rPr lang="en-US" sz="700" b="0" i="0" baseline="0" dirty="0" smtClean="0">
                <a:solidFill>
                  <a:srgbClr val="808080"/>
                </a:solidFill>
              </a:rPr>
              <a:t> Innovation program-JUN2014</a:t>
            </a:r>
            <a:endParaRPr lang="en-US" sz="1400" i="0" dirty="0" smtClean="0">
              <a:solidFill>
                <a:srgbClr val="808080"/>
              </a:solidFill>
            </a:endParaRPr>
          </a:p>
        </p:txBody>
      </p:sp>
      <p:sp>
        <p:nvSpPr>
          <p:cNvPr id="15" name="TextBox 14"/>
          <p:cNvSpPr txBox="1"/>
          <p:nvPr/>
        </p:nvSpPr>
        <p:spPr>
          <a:xfrm>
            <a:off x="-29980" y="64018"/>
            <a:ext cx="1437739" cy="246221"/>
          </a:xfrm>
          <a:prstGeom prst="rect">
            <a:avLst/>
          </a:prstGeom>
          <a:noFill/>
        </p:spPr>
        <p:txBody>
          <a:bodyPr wrap="square" rtlCol="0">
            <a:spAutoFit/>
          </a:bodyPr>
          <a:lstStyle/>
          <a:p>
            <a:pPr algn="l"/>
            <a:r>
              <a:rPr lang="nl-NL" sz="1000" b="1" dirty="0" smtClean="0">
                <a:solidFill>
                  <a:srgbClr val="FF0000"/>
                </a:solidFill>
                <a:latin typeface="Arial Narrow" pitchFamily="34" charset="0"/>
              </a:rPr>
              <a:t>CONFIDENTIAL</a:t>
            </a:r>
            <a:endParaRPr lang="nl-NL" sz="1000" b="1" dirty="0">
              <a:solidFill>
                <a:srgbClr val="FF0000"/>
              </a:solidFill>
              <a:latin typeface="Arial Narrow" pitchFamily="34" charset="0"/>
            </a:endParaRPr>
          </a:p>
        </p:txBody>
      </p:sp>
    </p:spTree>
  </p:cSld>
  <p:clrMap bg1="lt1" tx1="dk1" bg2="lt2" tx2="dk2" accent1="accent1" accent2="accent2" accent3="accent3" accent4="accent4" accent5="accent5" accent6="accent6" hlink="hlink" folHlink="folHlink"/>
  <p:sldLayoutIdLst>
    <p:sldLayoutId id="2147484166" r:id="rId1"/>
    <p:sldLayoutId id="2147484146" r:id="rId2"/>
    <p:sldLayoutId id="2147484147" r:id="rId3"/>
    <p:sldLayoutId id="2147484148" r:id="rId4"/>
    <p:sldLayoutId id="2147484149" r:id="rId5"/>
    <p:sldLayoutId id="2147484150" r:id="rId6"/>
    <p:sldLayoutId id="2147484151" r:id="rId7"/>
    <p:sldLayoutId id="2147484152" r:id="rId8"/>
    <p:sldLayoutId id="2147484153" r:id="rId9"/>
    <p:sldLayoutId id="2147484154" r:id="rId10"/>
    <p:sldLayoutId id="2147484155" r:id="rId11"/>
    <p:sldLayoutId id="2147484243" r:id="rId12"/>
    <p:sldLayoutId id="2147484269" r:id="rId13"/>
  </p:sldLayoutIdLst>
  <p:transition/>
  <p:timing>
    <p:tnLst>
      <p:par>
        <p:cTn id="1" dur="indefinite" restart="never" nodeType="tmRoot"/>
      </p:par>
    </p:tnLst>
  </p:timing>
  <p:hf hdr="0" ftr="0" dt="0"/>
  <p:txStyles>
    <p:titleStyle>
      <a:lvl1pPr algn="l" rtl="0" eaLnBrk="0" fontAlgn="base" hangingPunct="0">
        <a:spcBef>
          <a:spcPct val="0"/>
        </a:spcBef>
        <a:spcAft>
          <a:spcPct val="0"/>
        </a:spcAft>
        <a:defRPr sz="2000" b="1">
          <a:solidFill>
            <a:srgbClr val="001132"/>
          </a:solidFill>
          <a:latin typeface="+mj-lt"/>
          <a:ea typeface="+mj-ea"/>
          <a:cs typeface="+mj-cs"/>
        </a:defRPr>
      </a:lvl1pPr>
      <a:lvl2pPr algn="l" rtl="0" eaLnBrk="0" fontAlgn="base" hangingPunct="0">
        <a:spcBef>
          <a:spcPct val="0"/>
        </a:spcBef>
        <a:spcAft>
          <a:spcPct val="0"/>
        </a:spcAft>
        <a:defRPr sz="3200" b="1">
          <a:solidFill>
            <a:srgbClr val="051039"/>
          </a:solidFill>
          <a:latin typeface="Arial" charset="0"/>
        </a:defRPr>
      </a:lvl2pPr>
      <a:lvl3pPr algn="l" rtl="0" eaLnBrk="0" fontAlgn="base" hangingPunct="0">
        <a:spcBef>
          <a:spcPct val="0"/>
        </a:spcBef>
        <a:spcAft>
          <a:spcPct val="0"/>
        </a:spcAft>
        <a:defRPr sz="3200" b="1">
          <a:solidFill>
            <a:srgbClr val="051039"/>
          </a:solidFill>
          <a:latin typeface="Arial" charset="0"/>
        </a:defRPr>
      </a:lvl3pPr>
      <a:lvl4pPr algn="l" rtl="0" eaLnBrk="0" fontAlgn="base" hangingPunct="0">
        <a:spcBef>
          <a:spcPct val="0"/>
        </a:spcBef>
        <a:spcAft>
          <a:spcPct val="0"/>
        </a:spcAft>
        <a:defRPr sz="3200" b="1">
          <a:solidFill>
            <a:srgbClr val="051039"/>
          </a:solidFill>
          <a:latin typeface="Arial" charset="0"/>
        </a:defRPr>
      </a:lvl4pPr>
      <a:lvl5pPr algn="l" rtl="0" eaLnBrk="0" fontAlgn="base" hangingPunct="0">
        <a:spcBef>
          <a:spcPct val="0"/>
        </a:spcBef>
        <a:spcAft>
          <a:spcPct val="0"/>
        </a:spcAft>
        <a:defRPr sz="3200" b="1">
          <a:solidFill>
            <a:srgbClr val="051039"/>
          </a:solidFill>
          <a:latin typeface="Arial" charset="0"/>
        </a:defRPr>
      </a:lvl5pPr>
      <a:lvl6pPr marL="457200" algn="l" rtl="0" eaLnBrk="0" fontAlgn="base" hangingPunct="0">
        <a:spcBef>
          <a:spcPct val="0"/>
        </a:spcBef>
        <a:spcAft>
          <a:spcPct val="0"/>
        </a:spcAft>
        <a:defRPr sz="3200" b="1">
          <a:solidFill>
            <a:srgbClr val="051039"/>
          </a:solidFill>
          <a:latin typeface="Arial" charset="0"/>
        </a:defRPr>
      </a:lvl6pPr>
      <a:lvl7pPr marL="914400" algn="l" rtl="0" eaLnBrk="0" fontAlgn="base" hangingPunct="0">
        <a:spcBef>
          <a:spcPct val="0"/>
        </a:spcBef>
        <a:spcAft>
          <a:spcPct val="0"/>
        </a:spcAft>
        <a:defRPr sz="3200" b="1">
          <a:solidFill>
            <a:srgbClr val="051039"/>
          </a:solidFill>
          <a:latin typeface="Arial" charset="0"/>
        </a:defRPr>
      </a:lvl7pPr>
      <a:lvl8pPr marL="1371600" algn="l" rtl="0" eaLnBrk="0" fontAlgn="base" hangingPunct="0">
        <a:spcBef>
          <a:spcPct val="0"/>
        </a:spcBef>
        <a:spcAft>
          <a:spcPct val="0"/>
        </a:spcAft>
        <a:defRPr sz="3200" b="1">
          <a:solidFill>
            <a:srgbClr val="051039"/>
          </a:solidFill>
          <a:latin typeface="Arial" charset="0"/>
        </a:defRPr>
      </a:lvl8pPr>
      <a:lvl9pPr marL="1828800" algn="l" rtl="0" eaLnBrk="0" fontAlgn="base" hangingPunct="0">
        <a:spcBef>
          <a:spcPct val="0"/>
        </a:spcBef>
        <a:spcAft>
          <a:spcPct val="0"/>
        </a:spcAft>
        <a:defRPr sz="3200" b="1">
          <a:solidFill>
            <a:srgbClr val="051039"/>
          </a:solidFill>
          <a:latin typeface="Arial" charset="0"/>
        </a:defRPr>
      </a:lvl9pPr>
    </p:titleStyle>
    <p:bodyStyle>
      <a:lvl1pPr marL="342900" indent="-342900" algn="l" rtl="0" eaLnBrk="0" fontAlgn="base" hangingPunct="0">
        <a:lnSpc>
          <a:spcPct val="100000"/>
        </a:lnSpc>
        <a:spcBef>
          <a:spcPct val="0"/>
        </a:spcBef>
        <a:spcAft>
          <a:spcPct val="0"/>
        </a:spcAft>
        <a:defRPr sz="2400">
          <a:solidFill>
            <a:srgbClr val="051039"/>
          </a:solidFill>
          <a:latin typeface="+mn-lt"/>
          <a:ea typeface="+mn-ea"/>
          <a:cs typeface="+mn-cs"/>
        </a:defRPr>
      </a:lvl1pPr>
      <a:lvl2pPr marL="476250" indent="-285750" algn="l" rtl="0" eaLnBrk="0" fontAlgn="base" hangingPunct="0">
        <a:lnSpc>
          <a:spcPct val="100000"/>
        </a:lnSpc>
        <a:spcBef>
          <a:spcPct val="20000"/>
        </a:spcBef>
        <a:spcAft>
          <a:spcPct val="0"/>
        </a:spcAft>
        <a:defRPr sz="2400">
          <a:solidFill>
            <a:srgbClr val="051039"/>
          </a:solidFill>
          <a:latin typeface="+mn-lt"/>
        </a:defRPr>
      </a:lvl2pPr>
      <a:lvl3pPr marL="895350" indent="-228600" algn="l" rtl="0" eaLnBrk="0" fontAlgn="base" hangingPunct="0">
        <a:lnSpc>
          <a:spcPct val="100000"/>
        </a:lnSpc>
        <a:spcBef>
          <a:spcPct val="20000"/>
        </a:spcBef>
        <a:spcAft>
          <a:spcPct val="0"/>
        </a:spcAft>
        <a:defRPr sz="2400">
          <a:solidFill>
            <a:srgbClr val="051039"/>
          </a:solidFill>
          <a:latin typeface="+mn-lt"/>
        </a:defRPr>
      </a:lvl3pPr>
      <a:lvl4pPr marL="1314450" indent="-228600" algn="l" rtl="0" eaLnBrk="0" fontAlgn="base" hangingPunct="0">
        <a:lnSpc>
          <a:spcPct val="100000"/>
        </a:lnSpc>
        <a:spcBef>
          <a:spcPct val="20000"/>
        </a:spcBef>
        <a:spcAft>
          <a:spcPct val="0"/>
        </a:spcAft>
        <a:defRPr sz="2400">
          <a:solidFill>
            <a:srgbClr val="051039"/>
          </a:solidFill>
          <a:latin typeface="+mn-lt"/>
        </a:defRPr>
      </a:lvl4pPr>
      <a:lvl5pPr marL="1733550" indent="-228600" algn="l" rtl="0" eaLnBrk="0" fontAlgn="base" hangingPunct="0">
        <a:lnSpc>
          <a:spcPct val="100000"/>
        </a:lnSpc>
        <a:spcBef>
          <a:spcPct val="20000"/>
        </a:spcBef>
        <a:spcAft>
          <a:spcPct val="0"/>
        </a:spcAft>
        <a:defRPr sz="2400">
          <a:solidFill>
            <a:srgbClr val="051039"/>
          </a:solidFill>
          <a:latin typeface="+mn-lt"/>
        </a:defRPr>
      </a:lvl5pPr>
      <a:lvl6pPr marL="2190750" indent="-228600" algn="l" rtl="0" eaLnBrk="0" fontAlgn="base" hangingPunct="0">
        <a:spcBef>
          <a:spcPct val="20000"/>
        </a:spcBef>
        <a:spcAft>
          <a:spcPct val="0"/>
        </a:spcAft>
        <a:defRPr sz="2400">
          <a:solidFill>
            <a:srgbClr val="051039"/>
          </a:solidFill>
          <a:latin typeface="+mn-lt"/>
        </a:defRPr>
      </a:lvl6pPr>
      <a:lvl7pPr marL="2647950" indent="-228600" algn="l" rtl="0" eaLnBrk="0" fontAlgn="base" hangingPunct="0">
        <a:spcBef>
          <a:spcPct val="20000"/>
        </a:spcBef>
        <a:spcAft>
          <a:spcPct val="0"/>
        </a:spcAft>
        <a:defRPr sz="2400">
          <a:solidFill>
            <a:srgbClr val="051039"/>
          </a:solidFill>
          <a:latin typeface="+mn-lt"/>
        </a:defRPr>
      </a:lvl7pPr>
      <a:lvl8pPr marL="3105150" indent="-228600" algn="l" rtl="0" eaLnBrk="0" fontAlgn="base" hangingPunct="0">
        <a:spcBef>
          <a:spcPct val="20000"/>
        </a:spcBef>
        <a:spcAft>
          <a:spcPct val="0"/>
        </a:spcAft>
        <a:defRPr sz="2400">
          <a:solidFill>
            <a:srgbClr val="051039"/>
          </a:solidFill>
          <a:latin typeface="+mn-lt"/>
        </a:defRPr>
      </a:lvl8pPr>
      <a:lvl9pPr marL="3562350" indent="-228600" algn="l" rtl="0" eaLnBrk="0" fontAlgn="base" hangingPunct="0">
        <a:spcBef>
          <a:spcPct val="20000"/>
        </a:spcBef>
        <a:spcAft>
          <a:spcPct val="0"/>
        </a:spcAft>
        <a:defRPr sz="2400">
          <a:solidFill>
            <a:srgbClr val="051039"/>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blipFill dpi="0" rotWithShape="0">
          <a:blip r:embed="rId4" cstate="email">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540940" y="170292"/>
            <a:ext cx="805378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AU" smtClean="0"/>
              <a:t>Click to edit Master title style</a:t>
            </a:r>
          </a:p>
        </p:txBody>
      </p:sp>
      <p:sp>
        <p:nvSpPr>
          <p:cNvPr id="1027" name="Rectangle 3"/>
          <p:cNvSpPr>
            <a:spLocks noGrp="1" noChangeArrowheads="1"/>
          </p:cNvSpPr>
          <p:nvPr>
            <p:ph type="body" idx="1"/>
          </p:nvPr>
        </p:nvSpPr>
        <p:spPr bwMode="auto">
          <a:xfrm>
            <a:off x="1482460" y="1520826"/>
            <a:ext cx="8112258"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9" name="Slide Number Placeholder 8"/>
          <p:cNvSpPr>
            <a:spLocks noGrp="1" noChangeArrowheads="1"/>
          </p:cNvSpPr>
          <p:nvPr>
            <p:ph type="sldNum" sz="quarter" idx="4"/>
          </p:nvPr>
        </p:nvSpPr>
        <p:spPr bwMode="gray">
          <a:xfrm>
            <a:off x="722320" y="296863"/>
            <a:ext cx="720593" cy="665162"/>
          </a:xfrm>
          <a:prstGeom prst="rect">
            <a:avLst/>
          </a:prstGeom>
          <a:ln>
            <a:miter lim="800000"/>
            <a:headEnd/>
            <a:tailEnd/>
          </a:ln>
        </p:spPr>
        <p:txBody>
          <a:bodyPr vert="horz" wrap="square" lIns="0" tIns="0" rIns="0" bIns="0" numCol="1" anchor="ctr" anchorCtr="1" compatLnSpc="1">
            <a:prstTxWarp prst="textNoShape">
              <a:avLst/>
            </a:prstTxWarp>
          </a:bodyPr>
          <a:lstStyle>
            <a:lvl1pPr eaLnBrk="0" hangingPunct="0">
              <a:defRPr sz="2800">
                <a:solidFill>
                  <a:schemeClr val="bg1"/>
                </a:solidFill>
                <a:latin typeface="Arial" pitchFamily="34" charset="0"/>
                <a:cs typeface="Arial" pitchFamily="34" charset="0"/>
              </a:defRPr>
            </a:lvl1pPr>
          </a:lstStyle>
          <a:p>
            <a:pPr algn="ctr">
              <a:defRPr/>
            </a:pPr>
            <a:fld id="{152A0AAE-506C-4973-ABA2-7909B347F0F0}" type="slidenum">
              <a:rPr lang="en-AU" smtClean="0">
                <a:solidFill>
                  <a:srgbClr val="FFFFFF"/>
                </a:solidFill>
              </a:rPr>
              <a:pPr algn="ctr">
                <a:defRPr/>
              </a:pPr>
              <a:t>‹N°›</a:t>
            </a:fld>
            <a:endParaRPr lang="en-AU" dirty="0">
              <a:solidFill>
                <a:srgbClr val="FFFFFF"/>
              </a:solidFill>
            </a:endParaRPr>
          </a:p>
        </p:txBody>
      </p:sp>
      <p:pic>
        <p:nvPicPr>
          <p:cNvPr id="6" name="Picture 10"/>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6767807" y="6250629"/>
            <a:ext cx="291848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2829722"/>
      </p:ext>
    </p:extLst>
  </p:cSld>
  <p:clrMap bg1="lt1" tx1="dk1" bg2="lt2" tx2="dk2" accent1="accent1" accent2="accent2" accent3="accent3" accent4="accent4" accent5="accent5" accent6="accent6" hlink="hlink" folHlink="folHlink"/>
  <p:sldLayoutIdLst>
    <p:sldLayoutId id="2147484283" r:id="rId1"/>
    <p:sldLayoutId id="2147484284" r:id="rId2"/>
  </p:sldLayoutIdLst>
  <p:transition/>
  <p:timing>
    <p:tnLst>
      <p:par>
        <p:cTn id="1" dur="indefinite" restart="never" nodeType="tmRoot"/>
      </p:par>
    </p:tnLst>
  </p:timing>
  <p:hf hdr="0" ftr="0" dt="0"/>
  <p:txStyles>
    <p:titleStyle>
      <a:lvl1pPr algn="l" rtl="0" eaLnBrk="0" fontAlgn="base" hangingPunct="0">
        <a:spcBef>
          <a:spcPct val="0"/>
        </a:spcBef>
        <a:spcAft>
          <a:spcPct val="0"/>
        </a:spcAft>
        <a:defRPr sz="2800" b="1">
          <a:solidFill>
            <a:schemeClr val="tx2"/>
          </a:solidFill>
          <a:latin typeface="Arial" pitchFamily="34" charset="0"/>
          <a:ea typeface="+mj-ea"/>
          <a:cs typeface="+mj-cs"/>
        </a:defRPr>
      </a:lvl1pPr>
      <a:lvl2pPr algn="l" rtl="0" eaLnBrk="0" fontAlgn="base" hangingPunct="0">
        <a:spcBef>
          <a:spcPct val="0"/>
        </a:spcBef>
        <a:spcAft>
          <a:spcPct val="0"/>
        </a:spcAft>
        <a:defRPr sz="2800" b="1">
          <a:solidFill>
            <a:schemeClr val="tx2"/>
          </a:solidFill>
          <a:latin typeface="Arial" pitchFamily="34" charset="0"/>
          <a:cs typeface="Arial" pitchFamily="34" charset="0"/>
        </a:defRPr>
      </a:lvl2pPr>
      <a:lvl3pPr algn="l" rtl="0" eaLnBrk="0" fontAlgn="base" hangingPunct="0">
        <a:spcBef>
          <a:spcPct val="0"/>
        </a:spcBef>
        <a:spcAft>
          <a:spcPct val="0"/>
        </a:spcAft>
        <a:defRPr sz="2800" b="1">
          <a:solidFill>
            <a:schemeClr val="tx2"/>
          </a:solidFill>
          <a:latin typeface="Arial" pitchFamily="34" charset="0"/>
          <a:cs typeface="Arial" pitchFamily="34" charset="0"/>
        </a:defRPr>
      </a:lvl3pPr>
      <a:lvl4pPr algn="l" rtl="0" eaLnBrk="0" fontAlgn="base" hangingPunct="0">
        <a:spcBef>
          <a:spcPct val="0"/>
        </a:spcBef>
        <a:spcAft>
          <a:spcPct val="0"/>
        </a:spcAft>
        <a:defRPr sz="2800" b="1">
          <a:solidFill>
            <a:schemeClr val="tx2"/>
          </a:solidFill>
          <a:latin typeface="Arial" pitchFamily="34" charset="0"/>
          <a:cs typeface="Arial" pitchFamily="34" charset="0"/>
        </a:defRPr>
      </a:lvl4pPr>
      <a:lvl5pPr algn="l" rtl="0" eaLnBrk="0" fontAlgn="base" hangingPunct="0">
        <a:spcBef>
          <a:spcPct val="0"/>
        </a:spcBef>
        <a:spcAft>
          <a:spcPct val="0"/>
        </a:spcAft>
        <a:defRPr sz="2800" b="1">
          <a:solidFill>
            <a:schemeClr val="tx2"/>
          </a:solidFill>
          <a:latin typeface="Arial" pitchFamily="34" charset="0"/>
          <a:cs typeface="Arial" pitchFamily="34" charset="0"/>
        </a:defRPr>
      </a:lvl5pPr>
      <a:lvl6pPr marL="457200" algn="l" rtl="0" fontAlgn="base">
        <a:spcBef>
          <a:spcPct val="0"/>
        </a:spcBef>
        <a:spcAft>
          <a:spcPct val="0"/>
        </a:spcAft>
        <a:defRPr sz="2800" b="1">
          <a:solidFill>
            <a:schemeClr val="tx2"/>
          </a:solidFill>
          <a:latin typeface="Arial" pitchFamily="34" charset="0"/>
          <a:cs typeface="Arial" pitchFamily="34" charset="0"/>
        </a:defRPr>
      </a:lvl6pPr>
      <a:lvl7pPr marL="914400" algn="l" rtl="0" fontAlgn="base">
        <a:spcBef>
          <a:spcPct val="0"/>
        </a:spcBef>
        <a:spcAft>
          <a:spcPct val="0"/>
        </a:spcAft>
        <a:defRPr sz="2800" b="1">
          <a:solidFill>
            <a:schemeClr val="tx2"/>
          </a:solidFill>
          <a:latin typeface="Arial" pitchFamily="34" charset="0"/>
          <a:cs typeface="Arial" pitchFamily="34" charset="0"/>
        </a:defRPr>
      </a:lvl7pPr>
      <a:lvl8pPr marL="1371600" algn="l" rtl="0" fontAlgn="base">
        <a:spcBef>
          <a:spcPct val="0"/>
        </a:spcBef>
        <a:spcAft>
          <a:spcPct val="0"/>
        </a:spcAft>
        <a:defRPr sz="2800" b="1">
          <a:solidFill>
            <a:schemeClr val="tx2"/>
          </a:solidFill>
          <a:latin typeface="Arial" pitchFamily="34" charset="0"/>
          <a:cs typeface="Arial" pitchFamily="34" charset="0"/>
        </a:defRPr>
      </a:lvl8pPr>
      <a:lvl9pPr marL="1828800" algn="l" rtl="0" fontAlgn="base">
        <a:spcBef>
          <a:spcPct val="0"/>
        </a:spcBef>
        <a:spcAft>
          <a:spcPct val="0"/>
        </a:spcAft>
        <a:defRPr sz="2800" b="1">
          <a:solidFill>
            <a:schemeClr val="tx2"/>
          </a:solidFill>
          <a:latin typeface="Arial" pitchFamily="34" charset="0"/>
          <a:cs typeface="Arial" pitchFamily="34" charset="0"/>
        </a:defRPr>
      </a:lvl9pPr>
    </p:titleStyle>
    <p:bodyStyle>
      <a:lvl1pPr marL="342900" indent="-342900" algn="l" rtl="0" eaLnBrk="0" fontAlgn="base" hangingPunct="0">
        <a:spcBef>
          <a:spcPct val="50000"/>
        </a:spcBef>
        <a:spcAft>
          <a:spcPct val="0"/>
        </a:spcAft>
        <a:buFont typeface="Wingdings" pitchFamily="2" charset="2"/>
        <a:buChar char="q"/>
        <a:defRPr sz="3200">
          <a:solidFill>
            <a:schemeClr val="tx2"/>
          </a:solidFill>
          <a:latin typeface="Arial" pitchFamily="34" charset="0"/>
          <a:ea typeface="+mn-ea"/>
          <a:cs typeface="+mn-cs"/>
        </a:defRPr>
      </a:lvl1pPr>
      <a:lvl2pPr marL="742950" indent="-285750" algn="l" rtl="0" eaLnBrk="0" fontAlgn="base" hangingPunct="0">
        <a:spcBef>
          <a:spcPct val="10000"/>
        </a:spcBef>
        <a:spcAft>
          <a:spcPct val="0"/>
        </a:spcAft>
        <a:buChar char="•"/>
        <a:defRPr sz="1600">
          <a:solidFill>
            <a:schemeClr val="tx2"/>
          </a:solidFill>
          <a:latin typeface="Arial" pitchFamily="34" charset="0"/>
          <a:cs typeface="+mn-cs"/>
        </a:defRPr>
      </a:lvl2pPr>
      <a:lvl3pPr marL="1143000" indent="-228600" algn="l" rtl="0" eaLnBrk="0" fontAlgn="base" hangingPunct="0">
        <a:spcBef>
          <a:spcPct val="10000"/>
        </a:spcBef>
        <a:spcAft>
          <a:spcPct val="0"/>
        </a:spcAft>
        <a:buChar char="-"/>
        <a:defRPr sz="1600">
          <a:solidFill>
            <a:schemeClr val="tx2"/>
          </a:solidFill>
          <a:latin typeface="Arial" pitchFamily="34" charset="0"/>
          <a:cs typeface="+mn-cs"/>
        </a:defRPr>
      </a:lvl3pPr>
      <a:lvl4pPr marL="1600200" indent="-228600" algn="l" rtl="0" eaLnBrk="0" fontAlgn="base" hangingPunct="0">
        <a:spcBef>
          <a:spcPct val="10000"/>
        </a:spcBef>
        <a:spcAft>
          <a:spcPct val="0"/>
        </a:spcAft>
        <a:buChar char="-"/>
        <a:defRPr sz="1600">
          <a:solidFill>
            <a:schemeClr val="tx2"/>
          </a:solidFill>
          <a:latin typeface="Arial" pitchFamily="34" charset="0"/>
          <a:cs typeface="+mn-cs"/>
        </a:defRPr>
      </a:lvl4pPr>
      <a:lvl5pPr marL="2057400" indent="-228600" algn="l" rtl="0" eaLnBrk="0" fontAlgn="base" hangingPunct="0">
        <a:spcBef>
          <a:spcPct val="10000"/>
        </a:spcBef>
        <a:spcAft>
          <a:spcPct val="0"/>
        </a:spcAft>
        <a:buChar char="-"/>
        <a:defRPr sz="1600">
          <a:solidFill>
            <a:schemeClr val="tx2"/>
          </a:solidFill>
          <a:latin typeface="Arial" pitchFamily="34" charset="0"/>
          <a:cs typeface="+mn-cs"/>
        </a:defRPr>
      </a:lvl5pPr>
      <a:lvl6pPr marL="2514600" indent="-228600" algn="l" rtl="0" fontAlgn="base">
        <a:spcBef>
          <a:spcPct val="10000"/>
        </a:spcBef>
        <a:spcAft>
          <a:spcPct val="0"/>
        </a:spcAft>
        <a:buChar char="-"/>
        <a:defRPr sz="1600">
          <a:solidFill>
            <a:schemeClr val="tx2"/>
          </a:solidFill>
          <a:latin typeface="+mn-lt"/>
          <a:cs typeface="+mn-cs"/>
        </a:defRPr>
      </a:lvl6pPr>
      <a:lvl7pPr marL="2971800" indent="-228600" algn="l" rtl="0" fontAlgn="base">
        <a:spcBef>
          <a:spcPct val="10000"/>
        </a:spcBef>
        <a:spcAft>
          <a:spcPct val="0"/>
        </a:spcAft>
        <a:buChar char="-"/>
        <a:defRPr sz="1600">
          <a:solidFill>
            <a:schemeClr val="tx2"/>
          </a:solidFill>
          <a:latin typeface="+mn-lt"/>
          <a:cs typeface="+mn-cs"/>
        </a:defRPr>
      </a:lvl7pPr>
      <a:lvl8pPr marL="3429000" indent="-228600" algn="l" rtl="0" fontAlgn="base">
        <a:spcBef>
          <a:spcPct val="10000"/>
        </a:spcBef>
        <a:spcAft>
          <a:spcPct val="0"/>
        </a:spcAft>
        <a:buChar char="-"/>
        <a:defRPr sz="1600">
          <a:solidFill>
            <a:schemeClr val="tx2"/>
          </a:solidFill>
          <a:latin typeface="+mn-lt"/>
          <a:cs typeface="+mn-cs"/>
        </a:defRPr>
      </a:lvl8pPr>
      <a:lvl9pPr marL="3886200" indent="-228600" algn="l" rtl="0" fontAlgn="base">
        <a:spcBef>
          <a:spcPct val="10000"/>
        </a:spcBef>
        <a:spcAft>
          <a:spcPct val="0"/>
        </a:spcAft>
        <a:buChar char="-"/>
        <a:defRPr sz="1600">
          <a:solidFill>
            <a:schemeClr val="tx2"/>
          </a:solidFill>
          <a:latin typeface="+mn-lt"/>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Pr>
        <a:blipFill dpi="0" rotWithShape="0">
          <a:blip r:embed="rId4" cstate="email">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540940" y="170292"/>
            <a:ext cx="805378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1482460" y="1520826"/>
            <a:ext cx="8112258"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 name="Slide Number Placeholder 8"/>
          <p:cNvSpPr>
            <a:spLocks noGrp="1" noChangeArrowheads="1"/>
          </p:cNvSpPr>
          <p:nvPr>
            <p:ph type="sldNum" sz="quarter" idx="4"/>
          </p:nvPr>
        </p:nvSpPr>
        <p:spPr bwMode="gray">
          <a:xfrm>
            <a:off x="722320" y="296863"/>
            <a:ext cx="720593" cy="665162"/>
          </a:xfrm>
          <a:prstGeom prst="rect">
            <a:avLst/>
          </a:prstGeom>
          <a:ln>
            <a:miter lim="800000"/>
            <a:headEnd/>
            <a:tailEnd/>
          </a:ln>
        </p:spPr>
        <p:txBody>
          <a:bodyPr vert="horz" wrap="square" lIns="0" tIns="0" rIns="0" bIns="0" numCol="1" anchor="ctr" anchorCtr="1" compatLnSpc="1">
            <a:prstTxWarp prst="textNoShape">
              <a:avLst/>
            </a:prstTxWarp>
          </a:bodyPr>
          <a:lstStyle>
            <a:lvl1pPr eaLnBrk="0" hangingPunct="0">
              <a:defRPr sz="2800">
                <a:solidFill>
                  <a:schemeClr val="bg1"/>
                </a:solidFill>
                <a:latin typeface="Arial" pitchFamily="34" charset="0"/>
                <a:cs typeface="Arial" pitchFamily="34" charset="0"/>
              </a:defRPr>
            </a:lvl1pPr>
          </a:lstStyle>
          <a:p>
            <a:pPr algn="ctr">
              <a:defRPr/>
            </a:pPr>
            <a:fld id="{152A0AAE-506C-4973-ABA2-7909B347F0F0}" type="slidenum">
              <a:rPr lang="en-US">
                <a:solidFill>
                  <a:srgbClr val="FFFFFF"/>
                </a:solidFill>
              </a:rPr>
              <a:pPr algn="ctr">
                <a:defRPr/>
              </a:pPr>
              <a:t>‹N°›</a:t>
            </a:fld>
            <a:endParaRPr lang="en-US">
              <a:solidFill>
                <a:srgbClr val="FFFFFF"/>
              </a:solidFill>
            </a:endParaRPr>
          </a:p>
        </p:txBody>
      </p:sp>
      <p:pic>
        <p:nvPicPr>
          <p:cNvPr id="6" name="Picture 10"/>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6767807" y="6250629"/>
            <a:ext cx="291848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134285"/>
      </p:ext>
    </p:extLst>
  </p:cSld>
  <p:clrMap bg1="lt1" tx1="dk1" bg2="lt2" tx2="dk2" accent1="accent1" accent2="accent2" accent3="accent3" accent4="accent4" accent5="accent5" accent6="accent6" hlink="hlink" folHlink="folHlink"/>
  <p:sldLayoutIdLst>
    <p:sldLayoutId id="2147484287" r:id="rId1"/>
    <p:sldLayoutId id="2147484288" r:id="rId2"/>
  </p:sldLayoutIdLst>
  <p:transition/>
  <p:timing>
    <p:tnLst>
      <p:par>
        <p:cTn id="1" dur="indefinite" restart="never" nodeType="tmRoot"/>
      </p:par>
    </p:tnLst>
  </p:timing>
  <p:hf hdr="0" ftr="0" dt="0"/>
  <p:txStyles>
    <p:titleStyle>
      <a:lvl1pPr algn="l" rtl="0" eaLnBrk="0" fontAlgn="base" hangingPunct="0">
        <a:spcBef>
          <a:spcPct val="0"/>
        </a:spcBef>
        <a:spcAft>
          <a:spcPct val="0"/>
        </a:spcAft>
        <a:defRPr sz="2800" b="1">
          <a:solidFill>
            <a:schemeClr val="tx2"/>
          </a:solidFill>
          <a:latin typeface="Arial" pitchFamily="34" charset="0"/>
          <a:ea typeface="+mj-ea"/>
          <a:cs typeface="+mj-cs"/>
        </a:defRPr>
      </a:lvl1pPr>
      <a:lvl2pPr algn="l" rtl="0" eaLnBrk="0" fontAlgn="base" hangingPunct="0">
        <a:spcBef>
          <a:spcPct val="0"/>
        </a:spcBef>
        <a:spcAft>
          <a:spcPct val="0"/>
        </a:spcAft>
        <a:defRPr sz="2800" b="1">
          <a:solidFill>
            <a:schemeClr val="tx2"/>
          </a:solidFill>
          <a:latin typeface="Arial" pitchFamily="34" charset="0"/>
          <a:cs typeface="Arial" pitchFamily="34" charset="0"/>
        </a:defRPr>
      </a:lvl2pPr>
      <a:lvl3pPr algn="l" rtl="0" eaLnBrk="0" fontAlgn="base" hangingPunct="0">
        <a:spcBef>
          <a:spcPct val="0"/>
        </a:spcBef>
        <a:spcAft>
          <a:spcPct val="0"/>
        </a:spcAft>
        <a:defRPr sz="2800" b="1">
          <a:solidFill>
            <a:schemeClr val="tx2"/>
          </a:solidFill>
          <a:latin typeface="Arial" pitchFamily="34" charset="0"/>
          <a:cs typeface="Arial" pitchFamily="34" charset="0"/>
        </a:defRPr>
      </a:lvl3pPr>
      <a:lvl4pPr algn="l" rtl="0" eaLnBrk="0" fontAlgn="base" hangingPunct="0">
        <a:spcBef>
          <a:spcPct val="0"/>
        </a:spcBef>
        <a:spcAft>
          <a:spcPct val="0"/>
        </a:spcAft>
        <a:defRPr sz="2800" b="1">
          <a:solidFill>
            <a:schemeClr val="tx2"/>
          </a:solidFill>
          <a:latin typeface="Arial" pitchFamily="34" charset="0"/>
          <a:cs typeface="Arial" pitchFamily="34" charset="0"/>
        </a:defRPr>
      </a:lvl4pPr>
      <a:lvl5pPr algn="l" rtl="0" eaLnBrk="0" fontAlgn="base" hangingPunct="0">
        <a:spcBef>
          <a:spcPct val="0"/>
        </a:spcBef>
        <a:spcAft>
          <a:spcPct val="0"/>
        </a:spcAft>
        <a:defRPr sz="2800" b="1">
          <a:solidFill>
            <a:schemeClr val="tx2"/>
          </a:solidFill>
          <a:latin typeface="Arial" pitchFamily="34" charset="0"/>
          <a:cs typeface="Arial" pitchFamily="34" charset="0"/>
        </a:defRPr>
      </a:lvl5pPr>
      <a:lvl6pPr marL="457200" algn="l" rtl="0" fontAlgn="base">
        <a:spcBef>
          <a:spcPct val="0"/>
        </a:spcBef>
        <a:spcAft>
          <a:spcPct val="0"/>
        </a:spcAft>
        <a:defRPr sz="2800" b="1">
          <a:solidFill>
            <a:schemeClr val="tx2"/>
          </a:solidFill>
          <a:latin typeface="Arial" pitchFamily="34" charset="0"/>
          <a:cs typeface="Arial" pitchFamily="34" charset="0"/>
        </a:defRPr>
      </a:lvl6pPr>
      <a:lvl7pPr marL="914400" algn="l" rtl="0" fontAlgn="base">
        <a:spcBef>
          <a:spcPct val="0"/>
        </a:spcBef>
        <a:spcAft>
          <a:spcPct val="0"/>
        </a:spcAft>
        <a:defRPr sz="2800" b="1">
          <a:solidFill>
            <a:schemeClr val="tx2"/>
          </a:solidFill>
          <a:latin typeface="Arial" pitchFamily="34" charset="0"/>
          <a:cs typeface="Arial" pitchFamily="34" charset="0"/>
        </a:defRPr>
      </a:lvl7pPr>
      <a:lvl8pPr marL="1371600" algn="l" rtl="0" fontAlgn="base">
        <a:spcBef>
          <a:spcPct val="0"/>
        </a:spcBef>
        <a:spcAft>
          <a:spcPct val="0"/>
        </a:spcAft>
        <a:defRPr sz="2800" b="1">
          <a:solidFill>
            <a:schemeClr val="tx2"/>
          </a:solidFill>
          <a:latin typeface="Arial" pitchFamily="34" charset="0"/>
          <a:cs typeface="Arial" pitchFamily="34" charset="0"/>
        </a:defRPr>
      </a:lvl8pPr>
      <a:lvl9pPr marL="1828800" algn="l" rtl="0" fontAlgn="base">
        <a:spcBef>
          <a:spcPct val="0"/>
        </a:spcBef>
        <a:spcAft>
          <a:spcPct val="0"/>
        </a:spcAft>
        <a:defRPr sz="2800" b="1">
          <a:solidFill>
            <a:schemeClr val="tx2"/>
          </a:solidFill>
          <a:latin typeface="Arial" pitchFamily="34" charset="0"/>
          <a:cs typeface="Arial" pitchFamily="34" charset="0"/>
        </a:defRPr>
      </a:lvl9pPr>
    </p:titleStyle>
    <p:bodyStyle>
      <a:lvl1pPr marL="342900" indent="-342900" algn="l" rtl="0" eaLnBrk="0" fontAlgn="base" hangingPunct="0">
        <a:spcBef>
          <a:spcPct val="50000"/>
        </a:spcBef>
        <a:spcAft>
          <a:spcPct val="0"/>
        </a:spcAft>
        <a:buFont typeface="Wingdings" pitchFamily="2" charset="2"/>
        <a:buChar char="q"/>
        <a:defRPr sz="3200">
          <a:solidFill>
            <a:schemeClr val="tx2"/>
          </a:solidFill>
          <a:latin typeface="Arial" pitchFamily="34" charset="0"/>
          <a:ea typeface="+mn-ea"/>
          <a:cs typeface="+mn-cs"/>
        </a:defRPr>
      </a:lvl1pPr>
      <a:lvl2pPr marL="742950" indent="-285750" algn="l" rtl="0" eaLnBrk="0" fontAlgn="base" hangingPunct="0">
        <a:spcBef>
          <a:spcPct val="10000"/>
        </a:spcBef>
        <a:spcAft>
          <a:spcPct val="0"/>
        </a:spcAft>
        <a:buChar char="•"/>
        <a:defRPr sz="1600">
          <a:solidFill>
            <a:schemeClr val="tx2"/>
          </a:solidFill>
          <a:latin typeface="Arial" pitchFamily="34" charset="0"/>
          <a:cs typeface="+mn-cs"/>
        </a:defRPr>
      </a:lvl2pPr>
      <a:lvl3pPr marL="1143000" indent="-228600" algn="l" rtl="0" eaLnBrk="0" fontAlgn="base" hangingPunct="0">
        <a:spcBef>
          <a:spcPct val="10000"/>
        </a:spcBef>
        <a:spcAft>
          <a:spcPct val="0"/>
        </a:spcAft>
        <a:buChar char="-"/>
        <a:defRPr sz="1600">
          <a:solidFill>
            <a:schemeClr val="tx2"/>
          </a:solidFill>
          <a:latin typeface="Arial" pitchFamily="34" charset="0"/>
          <a:cs typeface="+mn-cs"/>
        </a:defRPr>
      </a:lvl3pPr>
      <a:lvl4pPr marL="1600200" indent="-228600" algn="l" rtl="0" eaLnBrk="0" fontAlgn="base" hangingPunct="0">
        <a:spcBef>
          <a:spcPct val="10000"/>
        </a:spcBef>
        <a:spcAft>
          <a:spcPct val="0"/>
        </a:spcAft>
        <a:buChar char="-"/>
        <a:defRPr sz="1600">
          <a:solidFill>
            <a:schemeClr val="tx2"/>
          </a:solidFill>
          <a:latin typeface="Arial" pitchFamily="34" charset="0"/>
          <a:cs typeface="+mn-cs"/>
        </a:defRPr>
      </a:lvl4pPr>
      <a:lvl5pPr marL="2057400" indent="-228600" algn="l" rtl="0" eaLnBrk="0" fontAlgn="base" hangingPunct="0">
        <a:spcBef>
          <a:spcPct val="10000"/>
        </a:spcBef>
        <a:spcAft>
          <a:spcPct val="0"/>
        </a:spcAft>
        <a:buChar char="-"/>
        <a:defRPr sz="1600">
          <a:solidFill>
            <a:schemeClr val="tx2"/>
          </a:solidFill>
          <a:latin typeface="Arial" pitchFamily="34" charset="0"/>
          <a:cs typeface="+mn-cs"/>
        </a:defRPr>
      </a:lvl5pPr>
      <a:lvl6pPr marL="2514600" indent="-228600" algn="l" rtl="0" fontAlgn="base">
        <a:spcBef>
          <a:spcPct val="10000"/>
        </a:spcBef>
        <a:spcAft>
          <a:spcPct val="0"/>
        </a:spcAft>
        <a:buChar char="-"/>
        <a:defRPr sz="1600">
          <a:solidFill>
            <a:schemeClr val="tx2"/>
          </a:solidFill>
          <a:latin typeface="+mn-lt"/>
          <a:cs typeface="+mn-cs"/>
        </a:defRPr>
      </a:lvl6pPr>
      <a:lvl7pPr marL="2971800" indent="-228600" algn="l" rtl="0" fontAlgn="base">
        <a:spcBef>
          <a:spcPct val="10000"/>
        </a:spcBef>
        <a:spcAft>
          <a:spcPct val="0"/>
        </a:spcAft>
        <a:buChar char="-"/>
        <a:defRPr sz="1600">
          <a:solidFill>
            <a:schemeClr val="tx2"/>
          </a:solidFill>
          <a:latin typeface="+mn-lt"/>
          <a:cs typeface="+mn-cs"/>
        </a:defRPr>
      </a:lvl7pPr>
      <a:lvl8pPr marL="3429000" indent="-228600" algn="l" rtl="0" fontAlgn="base">
        <a:spcBef>
          <a:spcPct val="10000"/>
        </a:spcBef>
        <a:spcAft>
          <a:spcPct val="0"/>
        </a:spcAft>
        <a:buChar char="-"/>
        <a:defRPr sz="1600">
          <a:solidFill>
            <a:schemeClr val="tx2"/>
          </a:solidFill>
          <a:latin typeface="+mn-lt"/>
          <a:cs typeface="+mn-cs"/>
        </a:defRPr>
      </a:lvl8pPr>
      <a:lvl9pPr marL="3886200" indent="-228600" algn="l" rtl="0" fontAlgn="base">
        <a:spcBef>
          <a:spcPct val="10000"/>
        </a:spcBef>
        <a:spcAft>
          <a:spcPct val="0"/>
        </a:spcAft>
        <a:buChar char="-"/>
        <a:defRPr sz="1600">
          <a:solidFill>
            <a:schemeClr val="tx2"/>
          </a:solidFill>
          <a:latin typeface="+mn-lt"/>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Pr>
        <a:blipFill dpi="0" rotWithShape="0">
          <a:blip r:embed="rId5" cstate="email">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540939" y="170292"/>
            <a:ext cx="805378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1482460" y="1520826"/>
            <a:ext cx="8112258" cy="467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9" name="Slide Number Placeholder 8"/>
          <p:cNvSpPr>
            <a:spLocks noGrp="1" noChangeArrowheads="1"/>
          </p:cNvSpPr>
          <p:nvPr>
            <p:ph type="sldNum" sz="quarter" idx="4"/>
          </p:nvPr>
        </p:nvSpPr>
        <p:spPr bwMode="gray">
          <a:xfrm>
            <a:off x="722319" y="296863"/>
            <a:ext cx="720593" cy="665162"/>
          </a:xfrm>
          <a:prstGeom prst="rect">
            <a:avLst/>
          </a:prstGeom>
          <a:ln>
            <a:miter lim="800000"/>
            <a:headEnd/>
            <a:tailEnd/>
          </a:ln>
        </p:spPr>
        <p:txBody>
          <a:bodyPr vert="horz" wrap="square" lIns="0" tIns="0" rIns="0" bIns="0" numCol="1" anchor="ctr" anchorCtr="1" compatLnSpc="1">
            <a:prstTxWarp prst="textNoShape">
              <a:avLst/>
            </a:prstTxWarp>
          </a:bodyPr>
          <a:lstStyle>
            <a:lvl1pPr eaLnBrk="0" hangingPunct="0">
              <a:defRPr sz="2800">
                <a:solidFill>
                  <a:schemeClr val="bg1"/>
                </a:solidFill>
                <a:latin typeface="Arial" pitchFamily="34" charset="0"/>
                <a:cs typeface="Arial" pitchFamily="34" charset="0"/>
              </a:defRPr>
            </a:lvl1pPr>
          </a:lstStyle>
          <a:p>
            <a:pPr algn="ctr">
              <a:defRPr/>
            </a:pPr>
            <a:fld id="{152A0AAE-506C-4973-ABA2-7909B347F0F0}" type="slidenum">
              <a:rPr lang="en-US">
                <a:solidFill>
                  <a:srgbClr val="FFFFFF"/>
                </a:solidFill>
              </a:rPr>
              <a:pPr algn="ctr">
                <a:defRPr/>
              </a:pPr>
              <a:t>‹N°›</a:t>
            </a:fld>
            <a:endParaRPr lang="en-US">
              <a:solidFill>
                <a:srgbClr val="FFFFFF"/>
              </a:solidFill>
            </a:endParaRPr>
          </a:p>
        </p:txBody>
      </p:sp>
      <p:pic>
        <p:nvPicPr>
          <p:cNvPr id="6" name="Picture 10"/>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6767806" y="6250627"/>
            <a:ext cx="2918486"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9561142"/>
      </p:ext>
    </p:extLst>
  </p:cSld>
  <p:clrMap bg1="lt1" tx1="dk1" bg2="lt2" tx2="dk2" accent1="accent1" accent2="accent2" accent3="accent3" accent4="accent4" accent5="accent5" accent6="accent6" hlink="hlink" folHlink="folHlink"/>
  <p:sldLayoutIdLst>
    <p:sldLayoutId id="2147484292" r:id="rId1"/>
    <p:sldLayoutId id="2147484293" r:id="rId2"/>
    <p:sldLayoutId id="2147484294" r:id="rId3"/>
  </p:sldLayoutIdLst>
  <p:transition/>
  <p:timing>
    <p:tnLst>
      <p:par>
        <p:cTn id="1" dur="indefinite" restart="never" nodeType="tmRoot"/>
      </p:par>
    </p:tnLst>
  </p:timing>
  <p:hf hdr="0" ftr="0" dt="0"/>
  <p:txStyles>
    <p:titleStyle>
      <a:lvl1pPr algn="l" rtl="0" eaLnBrk="0" fontAlgn="base" hangingPunct="0">
        <a:spcBef>
          <a:spcPct val="0"/>
        </a:spcBef>
        <a:spcAft>
          <a:spcPct val="0"/>
        </a:spcAft>
        <a:defRPr sz="2800" b="1">
          <a:solidFill>
            <a:schemeClr val="tx2"/>
          </a:solidFill>
          <a:latin typeface="Arial" pitchFamily="34" charset="0"/>
          <a:ea typeface="+mj-ea"/>
          <a:cs typeface="+mj-cs"/>
        </a:defRPr>
      </a:lvl1pPr>
      <a:lvl2pPr algn="l" rtl="0" eaLnBrk="0" fontAlgn="base" hangingPunct="0">
        <a:spcBef>
          <a:spcPct val="0"/>
        </a:spcBef>
        <a:spcAft>
          <a:spcPct val="0"/>
        </a:spcAft>
        <a:defRPr sz="2800" b="1">
          <a:solidFill>
            <a:schemeClr val="tx2"/>
          </a:solidFill>
          <a:latin typeface="Arial" pitchFamily="34" charset="0"/>
          <a:cs typeface="Arial" pitchFamily="34" charset="0"/>
        </a:defRPr>
      </a:lvl2pPr>
      <a:lvl3pPr algn="l" rtl="0" eaLnBrk="0" fontAlgn="base" hangingPunct="0">
        <a:spcBef>
          <a:spcPct val="0"/>
        </a:spcBef>
        <a:spcAft>
          <a:spcPct val="0"/>
        </a:spcAft>
        <a:defRPr sz="2800" b="1">
          <a:solidFill>
            <a:schemeClr val="tx2"/>
          </a:solidFill>
          <a:latin typeface="Arial" pitchFamily="34" charset="0"/>
          <a:cs typeface="Arial" pitchFamily="34" charset="0"/>
        </a:defRPr>
      </a:lvl3pPr>
      <a:lvl4pPr algn="l" rtl="0" eaLnBrk="0" fontAlgn="base" hangingPunct="0">
        <a:spcBef>
          <a:spcPct val="0"/>
        </a:spcBef>
        <a:spcAft>
          <a:spcPct val="0"/>
        </a:spcAft>
        <a:defRPr sz="2800" b="1">
          <a:solidFill>
            <a:schemeClr val="tx2"/>
          </a:solidFill>
          <a:latin typeface="Arial" pitchFamily="34" charset="0"/>
          <a:cs typeface="Arial" pitchFamily="34" charset="0"/>
        </a:defRPr>
      </a:lvl4pPr>
      <a:lvl5pPr algn="l" rtl="0" eaLnBrk="0" fontAlgn="base" hangingPunct="0">
        <a:spcBef>
          <a:spcPct val="0"/>
        </a:spcBef>
        <a:spcAft>
          <a:spcPct val="0"/>
        </a:spcAft>
        <a:defRPr sz="2800" b="1">
          <a:solidFill>
            <a:schemeClr val="tx2"/>
          </a:solidFill>
          <a:latin typeface="Arial" pitchFamily="34" charset="0"/>
          <a:cs typeface="Arial" pitchFamily="34" charset="0"/>
        </a:defRPr>
      </a:lvl5pPr>
      <a:lvl6pPr marL="457200" algn="l" rtl="0" fontAlgn="base">
        <a:spcBef>
          <a:spcPct val="0"/>
        </a:spcBef>
        <a:spcAft>
          <a:spcPct val="0"/>
        </a:spcAft>
        <a:defRPr sz="2800" b="1">
          <a:solidFill>
            <a:schemeClr val="tx2"/>
          </a:solidFill>
          <a:latin typeface="Arial" pitchFamily="34" charset="0"/>
          <a:cs typeface="Arial" pitchFamily="34" charset="0"/>
        </a:defRPr>
      </a:lvl6pPr>
      <a:lvl7pPr marL="914400" algn="l" rtl="0" fontAlgn="base">
        <a:spcBef>
          <a:spcPct val="0"/>
        </a:spcBef>
        <a:spcAft>
          <a:spcPct val="0"/>
        </a:spcAft>
        <a:defRPr sz="2800" b="1">
          <a:solidFill>
            <a:schemeClr val="tx2"/>
          </a:solidFill>
          <a:latin typeface="Arial" pitchFamily="34" charset="0"/>
          <a:cs typeface="Arial" pitchFamily="34" charset="0"/>
        </a:defRPr>
      </a:lvl7pPr>
      <a:lvl8pPr marL="1371600" algn="l" rtl="0" fontAlgn="base">
        <a:spcBef>
          <a:spcPct val="0"/>
        </a:spcBef>
        <a:spcAft>
          <a:spcPct val="0"/>
        </a:spcAft>
        <a:defRPr sz="2800" b="1">
          <a:solidFill>
            <a:schemeClr val="tx2"/>
          </a:solidFill>
          <a:latin typeface="Arial" pitchFamily="34" charset="0"/>
          <a:cs typeface="Arial" pitchFamily="34" charset="0"/>
        </a:defRPr>
      </a:lvl8pPr>
      <a:lvl9pPr marL="1828800" algn="l" rtl="0" fontAlgn="base">
        <a:spcBef>
          <a:spcPct val="0"/>
        </a:spcBef>
        <a:spcAft>
          <a:spcPct val="0"/>
        </a:spcAft>
        <a:defRPr sz="2800" b="1">
          <a:solidFill>
            <a:schemeClr val="tx2"/>
          </a:solidFill>
          <a:latin typeface="Arial" pitchFamily="34" charset="0"/>
          <a:cs typeface="Arial" pitchFamily="34" charset="0"/>
        </a:defRPr>
      </a:lvl9pPr>
    </p:titleStyle>
    <p:bodyStyle>
      <a:lvl1pPr marL="342900" indent="-342900" algn="l" rtl="0" eaLnBrk="0" fontAlgn="base" hangingPunct="0">
        <a:spcBef>
          <a:spcPct val="50000"/>
        </a:spcBef>
        <a:spcAft>
          <a:spcPct val="0"/>
        </a:spcAft>
        <a:buFont typeface="Wingdings" pitchFamily="2" charset="2"/>
        <a:buChar char="q"/>
        <a:defRPr sz="3200">
          <a:solidFill>
            <a:schemeClr val="tx2"/>
          </a:solidFill>
          <a:latin typeface="Arial" pitchFamily="34" charset="0"/>
          <a:ea typeface="+mn-ea"/>
          <a:cs typeface="+mn-cs"/>
        </a:defRPr>
      </a:lvl1pPr>
      <a:lvl2pPr marL="742950" indent="-285750" algn="l" rtl="0" eaLnBrk="0" fontAlgn="base" hangingPunct="0">
        <a:spcBef>
          <a:spcPct val="10000"/>
        </a:spcBef>
        <a:spcAft>
          <a:spcPct val="0"/>
        </a:spcAft>
        <a:buChar char="•"/>
        <a:defRPr sz="1600">
          <a:solidFill>
            <a:schemeClr val="tx2"/>
          </a:solidFill>
          <a:latin typeface="Arial" pitchFamily="34" charset="0"/>
          <a:cs typeface="+mn-cs"/>
        </a:defRPr>
      </a:lvl2pPr>
      <a:lvl3pPr marL="1143000" indent="-228600" algn="l" rtl="0" eaLnBrk="0" fontAlgn="base" hangingPunct="0">
        <a:spcBef>
          <a:spcPct val="10000"/>
        </a:spcBef>
        <a:spcAft>
          <a:spcPct val="0"/>
        </a:spcAft>
        <a:buChar char="-"/>
        <a:defRPr sz="1600">
          <a:solidFill>
            <a:schemeClr val="tx2"/>
          </a:solidFill>
          <a:latin typeface="Arial" pitchFamily="34" charset="0"/>
          <a:cs typeface="+mn-cs"/>
        </a:defRPr>
      </a:lvl3pPr>
      <a:lvl4pPr marL="1600200" indent="-228600" algn="l" rtl="0" eaLnBrk="0" fontAlgn="base" hangingPunct="0">
        <a:spcBef>
          <a:spcPct val="10000"/>
        </a:spcBef>
        <a:spcAft>
          <a:spcPct val="0"/>
        </a:spcAft>
        <a:buChar char="-"/>
        <a:defRPr sz="1600">
          <a:solidFill>
            <a:schemeClr val="tx2"/>
          </a:solidFill>
          <a:latin typeface="Arial" pitchFamily="34" charset="0"/>
          <a:cs typeface="+mn-cs"/>
        </a:defRPr>
      </a:lvl4pPr>
      <a:lvl5pPr marL="2057400" indent="-228600" algn="l" rtl="0" eaLnBrk="0" fontAlgn="base" hangingPunct="0">
        <a:spcBef>
          <a:spcPct val="10000"/>
        </a:spcBef>
        <a:spcAft>
          <a:spcPct val="0"/>
        </a:spcAft>
        <a:buChar char="-"/>
        <a:defRPr sz="1600">
          <a:solidFill>
            <a:schemeClr val="tx2"/>
          </a:solidFill>
          <a:latin typeface="Arial" pitchFamily="34" charset="0"/>
          <a:cs typeface="+mn-cs"/>
        </a:defRPr>
      </a:lvl5pPr>
      <a:lvl6pPr marL="2514600" indent="-228600" algn="l" rtl="0" fontAlgn="base">
        <a:spcBef>
          <a:spcPct val="10000"/>
        </a:spcBef>
        <a:spcAft>
          <a:spcPct val="0"/>
        </a:spcAft>
        <a:buChar char="-"/>
        <a:defRPr sz="1600">
          <a:solidFill>
            <a:schemeClr val="tx2"/>
          </a:solidFill>
          <a:latin typeface="+mn-lt"/>
          <a:cs typeface="+mn-cs"/>
        </a:defRPr>
      </a:lvl6pPr>
      <a:lvl7pPr marL="2971800" indent="-228600" algn="l" rtl="0" fontAlgn="base">
        <a:spcBef>
          <a:spcPct val="10000"/>
        </a:spcBef>
        <a:spcAft>
          <a:spcPct val="0"/>
        </a:spcAft>
        <a:buChar char="-"/>
        <a:defRPr sz="1600">
          <a:solidFill>
            <a:schemeClr val="tx2"/>
          </a:solidFill>
          <a:latin typeface="+mn-lt"/>
          <a:cs typeface="+mn-cs"/>
        </a:defRPr>
      </a:lvl7pPr>
      <a:lvl8pPr marL="3429000" indent="-228600" algn="l" rtl="0" fontAlgn="base">
        <a:spcBef>
          <a:spcPct val="10000"/>
        </a:spcBef>
        <a:spcAft>
          <a:spcPct val="0"/>
        </a:spcAft>
        <a:buChar char="-"/>
        <a:defRPr sz="1600">
          <a:solidFill>
            <a:schemeClr val="tx2"/>
          </a:solidFill>
          <a:latin typeface="+mn-lt"/>
          <a:cs typeface="+mn-cs"/>
        </a:defRPr>
      </a:lvl8pPr>
      <a:lvl9pPr marL="3886200" indent="-228600" algn="l" rtl="0" fontAlgn="base">
        <a:spcBef>
          <a:spcPct val="10000"/>
        </a:spcBef>
        <a:spcAft>
          <a:spcPct val="0"/>
        </a:spcAft>
        <a:buChar char="-"/>
        <a:defRPr sz="1600">
          <a:solidFill>
            <a:schemeClr val="tx2"/>
          </a:solidFill>
          <a:latin typeface="+mn-lt"/>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jpe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8.jpe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jpeg"/><Relationship Id="rId9" Type="http://schemas.openxmlformats.org/officeDocument/2006/relationships/image" Target="../media/image21.jpeg"/></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www.google.nl/url?url=http://opleverapp.nl/varianten/&amp;rct=j&amp;frm=1&amp;q=&amp;esrc=s&amp;sa=U&amp;ei=YY-ZU7G0De_T7AbT_oCABw&amp;ved=0CDIQ9QEwDg&amp;usg=AFQjCNFIO5UKBTCU1RKvnaDT3R0D9AENQA" TargetMode="External"/><Relationship Id="rId7"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0.png"/><Relationship Id="rId5" Type="http://schemas.microsoft.com/office/2007/relationships/hdphoto" Target="../media/hdphoto1.wdp"/><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jpeg"/><Relationship Id="rId7"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jpeg"/></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jpeg"/><Relationship Id="rId7" Type="http://schemas.openxmlformats.org/officeDocument/2006/relationships/image" Target="../media/image48.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jpeg"/><Relationship Id="rId10" Type="http://schemas.openxmlformats.org/officeDocument/2006/relationships/image" Target="../media/image51.png"/><Relationship Id="rId4" Type="http://schemas.openxmlformats.org/officeDocument/2006/relationships/image" Target="../media/image45.jpeg"/><Relationship Id="rId9" Type="http://schemas.openxmlformats.org/officeDocument/2006/relationships/image" Target="../media/image50.png"/></Relationships>
</file>

<file path=ppt/slides/_rels/slide1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4.jpeg"/><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1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1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1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66.jpeg"/><Relationship Id="rId3" Type="http://schemas.openxmlformats.org/officeDocument/2006/relationships/image" Target="../media/image35.jpeg"/><Relationship Id="rId7"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65.jpeg"/><Relationship Id="rId4" Type="http://schemas.openxmlformats.org/officeDocument/2006/relationships/image" Target="../media/image36.png"/><Relationship Id="rId9" Type="http://schemas.openxmlformats.org/officeDocument/2006/relationships/image" Target="../media/image67.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1423549" y="561109"/>
            <a:ext cx="8483614" cy="682683"/>
          </a:xfrm>
          <a:prstGeom prst="rect">
            <a:avLst/>
          </a:prstGeom>
          <a:solidFill>
            <a:schemeClr val="bg1"/>
          </a:solid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p:txBody>
      </p:sp>
      <p:pic>
        <p:nvPicPr>
          <p:cNvPr id="353282" name="Picture 2" descr="http://enjoyrhinebeck.com/wp-content/uploads/2012/05/shopping-bags-rainbow.jpg"/>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1423549" y="924795"/>
            <a:ext cx="8483614" cy="530049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1423556" y="529327"/>
            <a:ext cx="9017059" cy="892552"/>
          </a:xfrm>
          <a:prstGeom prst="rect">
            <a:avLst/>
          </a:prstGeom>
        </p:spPr>
        <p:txBody>
          <a:bodyPr wrap="square">
            <a:spAutoFit/>
          </a:bodyPr>
          <a:lstStyle/>
          <a:p>
            <a:pPr algn="l"/>
            <a:r>
              <a:rPr lang="en-US" sz="3600" b="1" dirty="0"/>
              <a:t>NEXT STEPS IN AIRLINE </a:t>
            </a:r>
            <a:r>
              <a:rPr lang="en-US" sz="3600" b="1" dirty="0" smtClean="0"/>
              <a:t>RETAILING:</a:t>
            </a:r>
          </a:p>
          <a:p>
            <a:pPr algn="l"/>
            <a:r>
              <a:rPr lang="en-US" sz="1400" b="1" dirty="0" smtClean="0"/>
              <a:t>WHAT BREAKTHROUGH INNOVATION CAN ADD TO EXISTING POLICIES AND PROJECTS</a:t>
            </a:r>
            <a:endParaRPr lang="en-US" sz="1400" b="1" dirty="0"/>
          </a:p>
        </p:txBody>
      </p:sp>
      <p:pic>
        <p:nvPicPr>
          <p:cNvPr id="10" name="Picture 2" descr="http://enjoyrhinebeck.com/wp-content/uploads/2012/05/shopping-bags-rainbow.jpg"/>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734289" y="1640032"/>
            <a:ext cx="689268" cy="71870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http://enjoyrhinebeck.com/wp-content/uploads/2012/05/shopping-bags-rainbow.jpg"/>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45021" y="1632772"/>
            <a:ext cx="689268" cy="71870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ttp://enjoyrhinebeck.com/wp-content/uploads/2012/05/shopping-bags-rainbow.jpg"/>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0" y="1628644"/>
            <a:ext cx="419102" cy="718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0697205"/>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bwMode="auto">
          <a:xfrm>
            <a:off x="2253125" y="3871283"/>
            <a:ext cx="731048" cy="551842"/>
          </a:xfrm>
          <a:prstGeom prst="rect">
            <a:avLst/>
          </a:prstGeom>
          <a:solidFill>
            <a:schemeClr val="bg1"/>
          </a:solid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p:txBody>
      </p:sp>
      <p:sp>
        <p:nvSpPr>
          <p:cNvPr id="2" name="Title 1"/>
          <p:cNvSpPr>
            <a:spLocks noGrp="1"/>
          </p:cNvSpPr>
          <p:nvPr>
            <p:ph type="title"/>
          </p:nvPr>
        </p:nvSpPr>
        <p:spPr>
          <a:xfrm>
            <a:off x="1464897" y="314550"/>
            <a:ext cx="8420083" cy="631384"/>
          </a:xfrm>
        </p:spPr>
        <p:txBody>
          <a:bodyPr/>
          <a:lstStyle/>
          <a:p>
            <a:r>
              <a:rPr lang="en-US" dirty="0" smtClean="0"/>
              <a:t>RETAIL IS SELLING GOODS &amp; SERVICES DIRECT TO END-USERS</a:t>
            </a:r>
            <a:br>
              <a:rPr lang="en-US" dirty="0" smtClean="0"/>
            </a:br>
            <a:r>
              <a:rPr lang="en-US" sz="1800" dirty="0" smtClean="0">
                <a:solidFill>
                  <a:srgbClr val="4AABFC"/>
                </a:solidFill>
              </a:rPr>
              <a:t>FOCUS ON RETAILING IS KEY IN OUR CUSTOMER INTIMACY AMBITION</a:t>
            </a:r>
            <a:endParaRPr lang="en-US" sz="1800" dirty="0">
              <a:solidFill>
                <a:srgbClr val="4AABFC"/>
              </a:solidFill>
            </a:endParaRPr>
          </a:p>
        </p:txBody>
      </p:sp>
      <p:sp>
        <p:nvSpPr>
          <p:cNvPr id="5" name="Rounded Rectangle 4"/>
          <p:cNvSpPr/>
          <p:nvPr/>
        </p:nvSpPr>
        <p:spPr bwMode="auto">
          <a:xfrm>
            <a:off x="1056754" y="2869431"/>
            <a:ext cx="2981785" cy="2217435"/>
          </a:xfrm>
          <a:prstGeom prst="roundRect">
            <a:avLst/>
          </a:prstGeom>
          <a:no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p:txBody>
      </p:sp>
      <p:pic>
        <p:nvPicPr>
          <p:cNvPr id="8"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3500374" y="3016011"/>
            <a:ext cx="345440" cy="21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p:nvSpPr>
        <p:spPr>
          <a:xfrm>
            <a:off x="1163339" y="1848469"/>
            <a:ext cx="2833636" cy="923330"/>
          </a:xfrm>
          <a:prstGeom prst="rect">
            <a:avLst/>
          </a:prstGeom>
          <a:noFill/>
        </p:spPr>
        <p:txBody>
          <a:bodyPr wrap="square" rtlCol="0">
            <a:spAutoFit/>
          </a:bodyPr>
          <a:lstStyle/>
          <a:p>
            <a:r>
              <a:rPr lang="en-US" sz="1800" dirty="0" smtClean="0"/>
              <a:t>Impersonal ticket sales to the masses with value added services</a:t>
            </a:r>
            <a:endParaRPr lang="en-US" sz="1800" dirty="0"/>
          </a:p>
        </p:txBody>
      </p:sp>
      <p:sp>
        <p:nvSpPr>
          <p:cNvPr id="15" name="TextBox 14"/>
          <p:cNvSpPr txBox="1"/>
          <p:nvPr/>
        </p:nvSpPr>
        <p:spPr>
          <a:xfrm>
            <a:off x="5713789" y="1841064"/>
            <a:ext cx="3263900" cy="369332"/>
          </a:xfrm>
          <a:prstGeom prst="rect">
            <a:avLst/>
          </a:prstGeom>
          <a:noFill/>
        </p:spPr>
        <p:txBody>
          <a:bodyPr wrap="square" rtlCol="0">
            <a:spAutoFit/>
          </a:bodyPr>
          <a:lstStyle/>
          <a:p>
            <a:r>
              <a:rPr lang="en-US" sz="1800" dirty="0" smtClean="0"/>
              <a:t>Retailing is core business</a:t>
            </a:r>
            <a:endParaRPr lang="en-US" sz="1800" dirty="0"/>
          </a:p>
        </p:txBody>
      </p:sp>
      <p:sp>
        <p:nvSpPr>
          <p:cNvPr id="16" name="Right Arrow 15"/>
          <p:cNvSpPr/>
          <p:nvPr/>
        </p:nvSpPr>
        <p:spPr bwMode="auto">
          <a:xfrm>
            <a:off x="4333829" y="3739204"/>
            <a:ext cx="1092200" cy="506170"/>
          </a:xfrm>
          <a:prstGeom prst="rightArrow">
            <a:avLst/>
          </a:prstGeom>
          <a:solidFill>
            <a:srgbClr val="00B0F0"/>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p:txBody>
      </p:sp>
      <p:pic>
        <p:nvPicPr>
          <p:cNvPr id="364546" name="Picture 2" descr="http://www.travelsworlds.com/wp-content/uploads/2013/12/airplane-clipart-no-backgroundpublic-domain-clip-art-image-illustration-of-an-airplane-n4nr5yjf.p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rot="2703380">
            <a:off x="1979592" y="3490135"/>
            <a:ext cx="1094542" cy="108520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bwMode="auto">
          <a:xfrm>
            <a:off x="6656591" y="3345867"/>
            <a:ext cx="1261280" cy="1312057"/>
          </a:xfrm>
          <a:prstGeom prst="rect">
            <a:avLst/>
          </a:prstGeom>
          <a:solidFill>
            <a:schemeClr val="bg1"/>
          </a:solid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p:txBody>
      </p:sp>
      <p:pic>
        <p:nvPicPr>
          <p:cNvPr id="19" name="Picture 2" descr="http://www.travelsworlds.com/wp-content/uploads/2013/12/airplane-clipart-no-backgroundpublic-domain-clip-art-image-illustration-of-an-airplane-n4nr5yjf.pn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rot="2703380">
            <a:off x="6658747" y="3315846"/>
            <a:ext cx="1334989" cy="132359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136304" y="2990284"/>
            <a:ext cx="762559" cy="397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2"/>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005974" y="2667600"/>
            <a:ext cx="762559" cy="397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2"/>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758142" y="3095365"/>
            <a:ext cx="762559" cy="397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 name="Picture 2"/>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386571" y="3697591"/>
            <a:ext cx="762559" cy="397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2"/>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872442" y="4407095"/>
            <a:ext cx="762559" cy="397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2"/>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7006024" y="4803046"/>
            <a:ext cx="762559" cy="397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2"/>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136304" y="4557578"/>
            <a:ext cx="762559" cy="397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
          <p:cNvPicPr>
            <a:picLocks noChangeAspect="1" noChangeArrowheads="1"/>
          </p:cNvPicPr>
          <p:nvPr/>
        </p:nvPicPr>
        <p:blipFill>
          <a:blip r:embed="rId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812647" y="3793743"/>
            <a:ext cx="762559" cy="397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Rounded Rectangle 28"/>
          <p:cNvSpPr/>
          <p:nvPr/>
        </p:nvSpPr>
        <p:spPr bwMode="auto">
          <a:xfrm>
            <a:off x="5569530" y="2542908"/>
            <a:ext cx="3647209" cy="2761141"/>
          </a:xfrm>
          <a:prstGeom prst="roundRect">
            <a:avLst/>
          </a:prstGeom>
          <a:no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p:txBody>
      </p:sp>
      <p:pic>
        <p:nvPicPr>
          <p:cNvPr id="31"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204903" y="3011621"/>
            <a:ext cx="345440" cy="21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193067" y="4729216"/>
            <a:ext cx="345440" cy="219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1985390"/>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3365" y="292750"/>
            <a:ext cx="7969515" cy="711200"/>
          </a:xfrm>
        </p:spPr>
        <p:txBody>
          <a:bodyPr/>
          <a:lstStyle/>
          <a:p>
            <a:r>
              <a:rPr lang="en-US" dirty="0" smtClean="0"/>
              <a:t>EXTERNAL DRIVERS STIMULATE AIRLINES TO MOVE TOWARDS INNOVATIVE RETAILING</a:t>
            </a:r>
            <a:endParaRPr lang="en-US" dirty="0"/>
          </a:p>
        </p:txBody>
      </p:sp>
      <p:grpSp>
        <p:nvGrpSpPr>
          <p:cNvPr id="351234" name="Group 351233"/>
          <p:cNvGrpSpPr/>
          <p:nvPr/>
        </p:nvGrpSpPr>
        <p:grpSpPr>
          <a:xfrm>
            <a:off x="7746927" y="1604127"/>
            <a:ext cx="1839971" cy="2061027"/>
            <a:chOff x="1483364" y="4045758"/>
            <a:chExt cx="1839971" cy="2061027"/>
          </a:xfrm>
        </p:grpSpPr>
        <p:grpSp>
          <p:nvGrpSpPr>
            <p:cNvPr id="11" name="Group 92"/>
            <p:cNvGrpSpPr>
              <a:grpSpLocks/>
            </p:cNvGrpSpPr>
            <p:nvPr/>
          </p:nvGrpSpPr>
          <p:grpSpPr bwMode="auto">
            <a:xfrm>
              <a:off x="1483364" y="4045758"/>
              <a:ext cx="1839971" cy="2061027"/>
              <a:chOff x="8132623" y="1391635"/>
              <a:chExt cx="1454727" cy="1018309"/>
            </a:xfrm>
          </p:grpSpPr>
          <p:sp>
            <p:nvSpPr>
              <p:cNvPr id="21" name="Rectangle 20"/>
              <p:cNvSpPr/>
              <p:nvPr/>
            </p:nvSpPr>
            <p:spPr bwMode="auto">
              <a:xfrm>
                <a:off x="8132623" y="1391635"/>
                <a:ext cx="1454727" cy="1018309"/>
              </a:xfrm>
              <a:prstGeom prst="rect">
                <a:avLst/>
              </a:prstGeom>
              <a:noFill/>
              <a:ln w="9525" cap="flat" cmpd="sng" algn="ctr">
                <a:solidFill>
                  <a:schemeClr val="accent2">
                    <a:lumMod val="50000"/>
                  </a:schemeClr>
                </a:solidFill>
                <a:prstDash val="solid"/>
                <a:round/>
                <a:headEnd type="none" w="med" len="med"/>
                <a:tailEnd type="none" w="med" len="med"/>
              </a:ln>
              <a:effectLst/>
              <a:extLst/>
            </p:spPr>
            <p:txBody>
              <a:bodyPr lIns="90000" tIns="46800" rIns="90000" bIns="46800"/>
              <a:lstStyle/>
              <a:p>
                <a:pPr algn="l">
                  <a:defRPr/>
                </a:pPr>
                <a:endParaRPr lang="en-US">
                  <a:solidFill>
                    <a:srgbClr val="000000"/>
                  </a:solidFill>
                </a:endParaRPr>
              </a:p>
            </p:txBody>
          </p:sp>
          <p:sp>
            <p:nvSpPr>
              <p:cNvPr id="22" name="TextBox 15"/>
              <p:cNvSpPr txBox="1">
                <a:spLocks noChangeArrowheads="1"/>
              </p:cNvSpPr>
              <p:nvPr/>
            </p:nvSpPr>
            <p:spPr bwMode="auto">
              <a:xfrm>
                <a:off x="8132623" y="1391635"/>
                <a:ext cx="1454727" cy="349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rgbClr val="000066"/>
                    </a:solidFill>
                    <a:latin typeface="Verdana" pitchFamily="34" charset="0"/>
                    <a:cs typeface="Arial" charset="0"/>
                  </a:defRPr>
                </a:lvl1pPr>
                <a:lvl2pPr marL="742950" indent="-285750" eaLnBrk="0" hangingPunct="0">
                  <a:defRPr sz="1200">
                    <a:solidFill>
                      <a:srgbClr val="000066"/>
                    </a:solidFill>
                    <a:latin typeface="Verdana" pitchFamily="34" charset="0"/>
                    <a:cs typeface="Arial" charset="0"/>
                  </a:defRPr>
                </a:lvl2pPr>
                <a:lvl3pPr marL="1143000" indent="-228600" eaLnBrk="0" hangingPunct="0">
                  <a:defRPr sz="1200">
                    <a:solidFill>
                      <a:srgbClr val="000066"/>
                    </a:solidFill>
                    <a:latin typeface="Verdana" pitchFamily="34" charset="0"/>
                    <a:cs typeface="Arial" charset="0"/>
                  </a:defRPr>
                </a:lvl3pPr>
                <a:lvl4pPr marL="1600200" indent="-228600" eaLnBrk="0" hangingPunct="0">
                  <a:defRPr sz="1200">
                    <a:solidFill>
                      <a:srgbClr val="000066"/>
                    </a:solidFill>
                    <a:latin typeface="Verdana" pitchFamily="34" charset="0"/>
                    <a:cs typeface="Arial" charset="0"/>
                  </a:defRPr>
                </a:lvl4pPr>
                <a:lvl5pPr marL="2057400" indent="-228600" eaLnBrk="0" hangingPunct="0">
                  <a:defRPr sz="1200">
                    <a:solidFill>
                      <a:srgbClr val="000066"/>
                    </a:solidFill>
                    <a:latin typeface="Verdana" pitchFamily="34" charset="0"/>
                    <a:cs typeface="Arial" charset="0"/>
                  </a:defRPr>
                </a:lvl5pPr>
                <a:lvl6pPr marL="2514600" indent="-228600" algn="ctr" eaLnBrk="0" fontAlgn="base" hangingPunct="0">
                  <a:spcBef>
                    <a:spcPct val="0"/>
                  </a:spcBef>
                  <a:spcAft>
                    <a:spcPct val="0"/>
                  </a:spcAft>
                  <a:defRPr sz="1200">
                    <a:solidFill>
                      <a:srgbClr val="000066"/>
                    </a:solidFill>
                    <a:latin typeface="Verdana" pitchFamily="34" charset="0"/>
                    <a:cs typeface="Arial" charset="0"/>
                  </a:defRPr>
                </a:lvl6pPr>
                <a:lvl7pPr marL="2971800" indent="-228600" algn="ctr" eaLnBrk="0" fontAlgn="base" hangingPunct="0">
                  <a:spcBef>
                    <a:spcPct val="0"/>
                  </a:spcBef>
                  <a:spcAft>
                    <a:spcPct val="0"/>
                  </a:spcAft>
                  <a:defRPr sz="1200">
                    <a:solidFill>
                      <a:srgbClr val="000066"/>
                    </a:solidFill>
                    <a:latin typeface="Verdana" pitchFamily="34" charset="0"/>
                    <a:cs typeface="Arial" charset="0"/>
                  </a:defRPr>
                </a:lvl7pPr>
                <a:lvl8pPr marL="3429000" indent="-228600" algn="ctr" eaLnBrk="0" fontAlgn="base" hangingPunct="0">
                  <a:spcBef>
                    <a:spcPct val="0"/>
                  </a:spcBef>
                  <a:spcAft>
                    <a:spcPct val="0"/>
                  </a:spcAft>
                  <a:defRPr sz="1200">
                    <a:solidFill>
                      <a:srgbClr val="000066"/>
                    </a:solidFill>
                    <a:latin typeface="Verdana" pitchFamily="34" charset="0"/>
                    <a:cs typeface="Arial" charset="0"/>
                  </a:defRPr>
                </a:lvl8pPr>
                <a:lvl9pPr marL="3886200" indent="-228600" algn="ctr" eaLnBrk="0" fontAlgn="base" hangingPunct="0">
                  <a:spcBef>
                    <a:spcPct val="0"/>
                  </a:spcBef>
                  <a:spcAft>
                    <a:spcPct val="0"/>
                  </a:spcAft>
                  <a:defRPr sz="1200">
                    <a:solidFill>
                      <a:srgbClr val="000066"/>
                    </a:solidFill>
                    <a:latin typeface="Verdana" pitchFamily="34" charset="0"/>
                    <a:cs typeface="Arial" charset="0"/>
                  </a:defRPr>
                </a:lvl9pPr>
              </a:lstStyle>
              <a:p>
                <a:pPr algn="ctr" eaLnBrk="1" hangingPunct="1"/>
                <a:r>
                  <a:rPr lang="en-US" sz="1000" b="1" dirty="0" smtClean="0"/>
                  <a:t>Big Data</a:t>
                </a:r>
                <a:r>
                  <a:rPr lang="en-US" sz="1000" dirty="0" smtClean="0"/>
                  <a:t> predictions enable retailing of the right offer, at the right moment and place</a:t>
                </a:r>
                <a:endParaRPr lang="en-US" sz="1000" dirty="0"/>
              </a:p>
            </p:txBody>
          </p:sp>
        </p:grpSp>
        <p:pic>
          <p:nvPicPr>
            <p:cNvPr id="42" name="Picture 14"/>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582592" y="5074670"/>
              <a:ext cx="1641513" cy="995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51235" name="Group 351234"/>
          <p:cNvGrpSpPr/>
          <p:nvPr/>
        </p:nvGrpSpPr>
        <p:grpSpPr>
          <a:xfrm>
            <a:off x="1485943" y="4015716"/>
            <a:ext cx="4062742" cy="2091061"/>
            <a:chOff x="1485943" y="4015716"/>
            <a:chExt cx="4062742" cy="2091061"/>
          </a:xfrm>
        </p:grpSpPr>
        <p:grpSp>
          <p:nvGrpSpPr>
            <p:cNvPr id="8" name="Group 88"/>
            <p:cNvGrpSpPr>
              <a:grpSpLocks/>
            </p:cNvGrpSpPr>
            <p:nvPr/>
          </p:nvGrpSpPr>
          <p:grpSpPr bwMode="auto">
            <a:xfrm>
              <a:off x="3486875" y="4039457"/>
              <a:ext cx="2061810" cy="2064119"/>
              <a:chOff x="4773464" y="5032547"/>
              <a:chExt cx="1630119" cy="1021560"/>
            </a:xfrm>
          </p:grpSpPr>
          <p:sp>
            <p:nvSpPr>
              <p:cNvPr id="31" name="Rectangle 30"/>
              <p:cNvSpPr/>
              <p:nvPr/>
            </p:nvSpPr>
            <p:spPr bwMode="auto">
              <a:xfrm>
                <a:off x="4850830" y="5035666"/>
                <a:ext cx="1454727" cy="1018441"/>
              </a:xfrm>
              <a:prstGeom prst="rect">
                <a:avLst/>
              </a:prstGeom>
              <a:noFill/>
              <a:ln w="9525" cap="flat" cmpd="sng" algn="ctr">
                <a:solidFill>
                  <a:schemeClr val="accent2">
                    <a:lumMod val="50000"/>
                  </a:schemeClr>
                </a:solidFill>
                <a:prstDash val="solid"/>
                <a:round/>
                <a:headEnd type="none" w="med" len="med"/>
                <a:tailEnd type="none" w="med" len="med"/>
              </a:ln>
              <a:effectLst/>
              <a:extLst/>
            </p:spPr>
            <p:txBody>
              <a:bodyPr lIns="90000" tIns="46800" rIns="90000" bIns="46800"/>
              <a:lstStyle/>
              <a:p>
                <a:pPr algn="l">
                  <a:defRPr/>
                </a:pPr>
                <a:endParaRPr lang="en-US">
                  <a:solidFill>
                    <a:srgbClr val="000000"/>
                  </a:solidFill>
                </a:endParaRPr>
              </a:p>
            </p:txBody>
          </p:sp>
          <p:sp>
            <p:nvSpPr>
              <p:cNvPr id="32" name="TextBox 59"/>
              <p:cNvSpPr txBox="1">
                <a:spLocks noChangeArrowheads="1"/>
              </p:cNvSpPr>
              <p:nvPr/>
            </p:nvSpPr>
            <p:spPr bwMode="auto">
              <a:xfrm>
                <a:off x="4773464" y="5032547"/>
                <a:ext cx="1630119" cy="274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rgbClr val="000066"/>
                    </a:solidFill>
                    <a:latin typeface="Verdana" pitchFamily="34" charset="0"/>
                    <a:cs typeface="Arial" charset="0"/>
                  </a:defRPr>
                </a:lvl1pPr>
                <a:lvl2pPr marL="742950" indent="-285750" eaLnBrk="0" hangingPunct="0">
                  <a:defRPr sz="1200">
                    <a:solidFill>
                      <a:srgbClr val="000066"/>
                    </a:solidFill>
                    <a:latin typeface="Verdana" pitchFamily="34" charset="0"/>
                    <a:cs typeface="Arial" charset="0"/>
                  </a:defRPr>
                </a:lvl2pPr>
                <a:lvl3pPr marL="1143000" indent="-228600" eaLnBrk="0" hangingPunct="0">
                  <a:defRPr sz="1200">
                    <a:solidFill>
                      <a:srgbClr val="000066"/>
                    </a:solidFill>
                    <a:latin typeface="Verdana" pitchFamily="34" charset="0"/>
                    <a:cs typeface="Arial" charset="0"/>
                  </a:defRPr>
                </a:lvl3pPr>
                <a:lvl4pPr marL="1600200" indent="-228600" eaLnBrk="0" hangingPunct="0">
                  <a:defRPr sz="1200">
                    <a:solidFill>
                      <a:srgbClr val="000066"/>
                    </a:solidFill>
                    <a:latin typeface="Verdana" pitchFamily="34" charset="0"/>
                    <a:cs typeface="Arial" charset="0"/>
                  </a:defRPr>
                </a:lvl4pPr>
                <a:lvl5pPr marL="2057400" indent="-228600" eaLnBrk="0" hangingPunct="0">
                  <a:defRPr sz="1200">
                    <a:solidFill>
                      <a:srgbClr val="000066"/>
                    </a:solidFill>
                    <a:latin typeface="Verdana" pitchFamily="34" charset="0"/>
                    <a:cs typeface="Arial" charset="0"/>
                  </a:defRPr>
                </a:lvl5pPr>
                <a:lvl6pPr marL="2514600" indent="-228600" algn="ctr" eaLnBrk="0" fontAlgn="base" hangingPunct="0">
                  <a:spcBef>
                    <a:spcPct val="0"/>
                  </a:spcBef>
                  <a:spcAft>
                    <a:spcPct val="0"/>
                  </a:spcAft>
                  <a:defRPr sz="1200">
                    <a:solidFill>
                      <a:srgbClr val="000066"/>
                    </a:solidFill>
                    <a:latin typeface="Verdana" pitchFamily="34" charset="0"/>
                    <a:cs typeface="Arial" charset="0"/>
                  </a:defRPr>
                </a:lvl6pPr>
                <a:lvl7pPr marL="2971800" indent="-228600" algn="ctr" eaLnBrk="0" fontAlgn="base" hangingPunct="0">
                  <a:spcBef>
                    <a:spcPct val="0"/>
                  </a:spcBef>
                  <a:spcAft>
                    <a:spcPct val="0"/>
                  </a:spcAft>
                  <a:defRPr sz="1200">
                    <a:solidFill>
                      <a:srgbClr val="000066"/>
                    </a:solidFill>
                    <a:latin typeface="Verdana" pitchFamily="34" charset="0"/>
                    <a:cs typeface="Arial" charset="0"/>
                  </a:defRPr>
                </a:lvl7pPr>
                <a:lvl8pPr marL="3429000" indent="-228600" algn="ctr" eaLnBrk="0" fontAlgn="base" hangingPunct="0">
                  <a:spcBef>
                    <a:spcPct val="0"/>
                  </a:spcBef>
                  <a:spcAft>
                    <a:spcPct val="0"/>
                  </a:spcAft>
                  <a:defRPr sz="1200">
                    <a:solidFill>
                      <a:srgbClr val="000066"/>
                    </a:solidFill>
                    <a:latin typeface="Verdana" pitchFamily="34" charset="0"/>
                    <a:cs typeface="Arial" charset="0"/>
                  </a:defRPr>
                </a:lvl8pPr>
                <a:lvl9pPr marL="3886200" indent="-228600" algn="ctr" eaLnBrk="0" fontAlgn="base" hangingPunct="0">
                  <a:spcBef>
                    <a:spcPct val="0"/>
                  </a:spcBef>
                  <a:spcAft>
                    <a:spcPct val="0"/>
                  </a:spcAft>
                  <a:defRPr sz="1200">
                    <a:solidFill>
                      <a:srgbClr val="000066"/>
                    </a:solidFill>
                    <a:latin typeface="Verdana" pitchFamily="34" charset="0"/>
                    <a:cs typeface="Arial" charset="0"/>
                  </a:defRPr>
                </a:lvl9pPr>
              </a:lstStyle>
              <a:p>
                <a:pPr algn="ctr" eaLnBrk="1" hangingPunct="1"/>
                <a:r>
                  <a:rPr lang="en-US" sz="1000" dirty="0" smtClean="0"/>
                  <a:t>Travelers demand </a:t>
                </a:r>
                <a:r>
                  <a:rPr lang="en-US" sz="1000" b="1" dirty="0" smtClean="0"/>
                  <a:t>Personalization </a:t>
                </a:r>
                <a:r>
                  <a:rPr lang="en-US" sz="1000" dirty="0" smtClean="0"/>
                  <a:t>&amp;</a:t>
                </a:r>
                <a:r>
                  <a:rPr lang="en-US" sz="1000" b="1" dirty="0" smtClean="0"/>
                  <a:t> Choice</a:t>
                </a:r>
              </a:p>
              <a:p>
                <a:pPr algn="ctr" eaLnBrk="1" hangingPunct="1"/>
                <a:r>
                  <a:rPr lang="en-US" sz="1000" dirty="0" smtClean="0"/>
                  <a:t>in the buying process</a:t>
                </a:r>
                <a:endParaRPr lang="en-US" sz="1000" dirty="0"/>
              </a:p>
            </p:txBody>
          </p:sp>
        </p:grpSp>
        <p:grpSp>
          <p:nvGrpSpPr>
            <p:cNvPr id="12" name="Group 92193"/>
            <p:cNvGrpSpPr>
              <a:grpSpLocks/>
            </p:cNvGrpSpPr>
            <p:nvPr/>
          </p:nvGrpSpPr>
          <p:grpSpPr bwMode="auto">
            <a:xfrm>
              <a:off x="1485943" y="4015716"/>
              <a:ext cx="1839972" cy="2091061"/>
              <a:chOff x="4791933" y="2554888"/>
              <a:chExt cx="1454864" cy="1033824"/>
            </a:xfrm>
          </p:grpSpPr>
          <p:sp>
            <p:nvSpPr>
              <p:cNvPr id="17" name="Rectangle 16"/>
              <p:cNvSpPr/>
              <p:nvPr/>
            </p:nvSpPr>
            <p:spPr bwMode="auto">
              <a:xfrm>
                <a:off x="4791934" y="2569738"/>
                <a:ext cx="1454863" cy="1018974"/>
              </a:xfrm>
              <a:prstGeom prst="rect">
                <a:avLst/>
              </a:prstGeom>
              <a:noFill/>
              <a:ln w="9525" cap="flat" cmpd="sng" algn="ctr">
                <a:solidFill>
                  <a:schemeClr val="accent2">
                    <a:lumMod val="50000"/>
                  </a:schemeClr>
                </a:solidFill>
                <a:prstDash val="solid"/>
                <a:round/>
                <a:headEnd type="none" w="med" len="med"/>
                <a:tailEnd type="none" w="med" len="med"/>
              </a:ln>
              <a:effectLst/>
              <a:extLst/>
            </p:spPr>
            <p:txBody>
              <a:bodyPr lIns="90000" tIns="46800" rIns="90000" bIns="46800"/>
              <a:lstStyle/>
              <a:p>
                <a:pPr algn="l">
                  <a:defRPr/>
                </a:pPr>
                <a:endParaRPr lang="en-US">
                  <a:solidFill>
                    <a:srgbClr val="000000"/>
                  </a:solidFill>
                </a:endParaRPr>
              </a:p>
            </p:txBody>
          </p:sp>
          <p:sp>
            <p:nvSpPr>
              <p:cNvPr id="19" name="TextBox 38"/>
              <p:cNvSpPr txBox="1">
                <a:spLocks noChangeArrowheads="1"/>
              </p:cNvSpPr>
              <p:nvPr/>
            </p:nvSpPr>
            <p:spPr bwMode="auto">
              <a:xfrm>
                <a:off x="4791933" y="2554888"/>
                <a:ext cx="1427212" cy="273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rgbClr val="000066"/>
                    </a:solidFill>
                    <a:latin typeface="Verdana" pitchFamily="34" charset="0"/>
                    <a:cs typeface="Arial" charset="0"/>
                  </a:defRPr>
                </a:lvl1pPr>
                <a:lvl2pPr marL="742950" indent="-285750" eaLnBrk="0" hangingPunct="0">
                  <a:defRPr sz="1200">
                    <a:solidFill>
                      <a:srgbClr val="000066"/>
                    </a:solidFill>
                    <a:latin typeface="Verdana" pitchFamily="34" charset="0"/>
                    <a:cs typeface="Arial" charset="0"/>
                  </a:defRPr>
                </a:lvl2pPr>
                <a:lvl3pPr marL="1143000" indent="-228600" eaLnBrk="0" hangingPunct="0">
                  <a:defRPr sz="1200">
                    <a:solidFill>
                      <a:srgbClr val="000066"/>
                    </a:solidFill>
                    <a:latin typeface="Verdana" pitchFamily="34" charset="0"/>
                    <a:cs typeface="Arial" charset="0"/>
                  </a:defRPr>
                </a:lvl3pPr>
                <a:lvl4pPr marL="1600200" indent="-228600" eaLnBrk="0" hangingPunct="0">
                  <a:defRPr sz="1200">
                    <a:solidFill>
                      <a:srgbClr val="000066"/>
                    </a:solidFill>
                    <a:latin typeface="Verdana" pitchFamily="34" charset="0"/>
                    <a:cs typeface="Arial" charset="0"/>
                  </a:defRPr>
                </a:lvl4pPr>
                <a:lvl5pPr marL="2057400" indent="-228600" eaLnBrk="0" hangingPunct="0">
                  <a:defRPr sz="1200">
                    <a:solidFill>
                      <a:srgbClr val="000066"/>
                    </a:solidFill>
                    <a:latin typeface="Verdana" pitchFamily="34" charset="0"/>
                    <a:cs typeface="Arial" charset="0"/>
                  </a:defRPr>
                </a:lvl5pPr>
                <a:lvl6pPr marL="2514600" indent="-228600" algn="ctr" eaLnBrk="0" fontAlgn="base" hangingPunct="0">
                  <a:spcBef>
                    <a:spcPct val="0"/>
                  </a:spcBef>
                  <a:spcAft>
                    <a:spcPct val="0"/>
                  </a:spcAft>
                  <a:defRPr sz="1200">
                    <a:solidFill>
                      <a:srgbClr val="000066"/>
                    </a:solidFill>
                    <a:latin typeface="Verdana" pitchFamily="34" charset="0"/>
                    <a:cs typeface="Arial" charset="0"/>
                  </a:defRPr>
                </a:lvl6pPr>
                <a:lvl7pPr marL="2971800" indent="-228600" algn="ctr" eaLnBrk="0" fontAlgn="base" hangingPunct="0">
                  <a:spcBef>
                    <a:spcPct val="0"/>
                  </a:spcBef>
                  <a:spcAft>
                    <a:spcPct val="0"/>
                  </a:spcAft>
                  <a:defRPr sz="1200">
                    <a:solidFill>
                      <a:srgbClr val="000066"/>
                    </a:solidFill>
                    <a:latin typeface="Verdana" pitchFamily="34" charset="0"/>
                    <a:cs typeface="Arial" charset="0"/>
                  </a:defRPr>
                </a:lvl7pPr>
                <a:lvl8pPr marL="3429000" indent="-228600" algn="ctr" eaLnBrk="0" fontAlgn="base" hangingPunct="0">
                  <a:spcBef>
                    <a:spcPct val="0"/>
                  </a:spcBef>
                  <a:spcAft>
                    <a:spcPct val="0"/>
                  </a:spcAft>
                  <a:defRPr sz="1200">
                    <a:solidFill>
                      <a:srgbClr val="000066"/>
                    </a:solidFill>
                    <a:latin typeface="Verdana" pitchFamily="34" charset="0"/>
                    <a:cs typeface="Arial" charset="0"/>
                  </a:defRPr>
                </a:lvl8pPr>
                <a:lvl9pPr marL="3886200" indent="-228600" algn="ctr" eaLnBrk="0" fontAlgn="base" hangingPunct="0">
                  <a:spcBef>
                    <a:spcPct val="0"/>
                  </a:spcBef>
                  <a:spcAft>
                    <a:spcPct val="0"/>
                  </a:spcAft>
                  <a:defRPr sz="1200">
                    <a:solidFill>
                      <a:srgbClr val="000066"/>
                    </a:solidFill>
                    <a:latin typeface="Verdana" pitchFamily="34" charset="0"/>
                    <a:cs typeface="Arial" charset="0"/>
                  </a:defRPr>
                </a:lvl9pPr>
              </a:lstStyle>
              <a:p>
                <a:pPr algn="ctr" eaLnBrk="1" hangingPunct="1"/>
                <a:r>
                  <a:rPr lang="en-US" sz="1000" dirty="0" smtClean="0"/>
                  <a:t>Passengers increasingly expect to be able to buy </a:t>
                </a:r>
                <a:r>
                  <a:rPr lang="en-US" sz="1000" b="1" dirty="0" smtClean="0"/>
                  <a:t>Seamless Travel</a:t>
                </a:r>
                <a:endParaRPr lang="en-US" sz="1000" b="1" dirty="0"/>
              </a:p>
            </p:txBody>
          </p:sp>
        </p:grpSp>
        <p:pic>
          <p:nvPicPr>
            <p:cNvPr id="351240" name="Picture 8" descr="amadeus rail"/>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1680053" y="4639697"/>
              <a:ext cx="1492672" cy="1463880"/>
            </a:xfrm>
            <a:prstGeom prst="rect">
              <a:avLst/>
            </a:prstGeom>
            <a:noFill/>
            <a:effectLst>
              <a:softEdge rad="31750"/>
            </a:effectLst>
            <a:extLst>
              <a:ext uri="{909E8E84-426E-40DD-AFC4-6F175D3DCCD1}">
                <a14:hiddenFill xmlns:a14="http://schemas.microsoft.com/office/drawing/2010/main">
                  <a:solidFill>
                    <a:srgbClr val="FFFFFF"/>
                  </a:solidFill>
                </a14:hiddenFill>
              </a:ext>
            </a:extLst>
          </p:spPr>
        </p:pic>
        <p:pic>
          <p:nvPicPr>
            <p:cNvPr id="44" name="Picture 11"/>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3699566" y="4777681"/>
              <a:ext cx="1636419" cy="1229421"/>
            </a:xfrm>
            <a:prstGeom prst="rect">
              <a:avLst/>
            </a:prstGeom>
            <a:noFill/>
            <a:ln>
              <a:noFill/>
            </a:ln>
            <a:effectLst>
              <a:softEdge rad="3175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6" name="Group 25"/>
          <p:cNvGrpSpPr/>
          <p:nvPr/>
        </p:nvGrpSpPr>
        <p:grpSpPr>
          <a:xfrm>
            <a:off x="1483539" y="1578598"/>
            <a:ext cx="6039715" cy="2115963"/>
            <a:chOff x="3562575" y="1570601"/>
            <a:chExt cx="6039715" cy="2115963"/>
          </a:xfrm>
        </p:grpSpPr>
        <p:grpSp>
          <p:nvGrpSpPr>
            <p:cNvPr id="18" name="Group 17"/>
            <p:cNvGrpSpPr/>
            <p:nvPr/>
          </p:nvGrpSpPr>
          <p:grpSpPr>
            <a:xfrm>
              <a:off x="4050243" y="2446901"/>
              <a:ext cx="914252" cy="1239663"/>
              <a:chOff x="4050243" y="2446901"/>
              <a:chExt cx="914252" cy="1239663"/>
            </a:xfrm>
          </p:grpSpPr>
          <p:pic>
            <p:nvPicPr>
              <p:cNvPr id="351252" name="Picture 20" descr="one 3d man with symbol of wifi connection, concept of the always connected generation (3d render) Stock Photo - 9872629"/>
              <p:cNvPicPr>
                <a:picLocks noChangeAspect="1" noChangeArrowheads="1"/>
              </p:cNvPicPr>
              <p:nvPr/>
            </p:nvPicPr>
            <p:blipFill>
              <a:blip r:embed="rId6" cstate="email">
                <a:clrChange>
                  <a:clrFrom>
                    <a:srgbClr val="C6C5C3"/>
                  </a:clrFrom>
                  <a:clrTo>
                    <a:srgbClr val="C6C5C3">
                      <a:alpha val="0"/>
                    </a:srgbClr>
                  </a:clrTo>
                </a:clrChange>
                <a:extLst>
                  <a:ext uri="{28A0092B-C50C-407E-A947-70E740481C1C}">
                    <a14:useLocalDpi xmlns:a14="http://schemas.microsoft.com/office/drawing/2010/main"/>
                  </a:ext>
                </a:extLst>
              </a:blip>
              <a:srcRect/>
              <a:stretch>
                <a:fillRect/>
              </a:stretch>
            </p:blipFill>
            <p:spPr bwMode="auto">
              <a:xfrm>
                <a:off x="4050243" y="2446901"/>
                <a:ext cx="914252" cy="123966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bwMode="auto">
              <a:xfrm>
                <a:off x="4520413" y="3012697"/>
                <a:ext cx="61826" cy="123982"/>
              </a:xfrm>
              <a:prstGeom prst="rect">
                <a:avLst/>
              </a:prstGeom>
              <a:solidFill>
                <a:schemeClr val="bg1"/>
              </a:solid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bg1"/>
                  </a:solidFill>
                  <a:effectLst/>
                  <a:latin typeface="Arial" charset="0"/>
                </a:endParaRPr>
              </a:p>
            </p:txBody>
          </p:sp>
          <p:sp>
            <p:nvSpPr>
              <p:cNvPr id="38" name="Rectangle 37"/>
              <p:cNvSpPr/>
              <p:nvPr/>
            </p:nvSpPr>
            <p:spPr bwMode="auto">
              <a:xfrm>
                <a:off x="4669060" y="3000080"/>
                <a:ext cx="61826" cy="123982"/>
              </a:xfrm>
              <a:prstGeom prst="rect">
                <a:avLst/>
              </a:prstGeom>
              <a:solidFill>
                <a:schemeClr val="bg1"/>
              </a:solid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bg1"/>
                  </a:solidFill>
                  <a:effectLst/>
                  <a:latin typeface="Arial" charset="0"/>
                </a:endParaRPr>
              </a:p>
            </p:txBody>
          </p:sp>
        </p:grpSp>
        <p:grpSp>
          <p:nvGrpSpPr>
            <p:cNvPr id="6" name="Group 5"/>
            <p:cNvGrpSpPr/>
            <p:nvPr/>
          </p:nvGrpSpPr>
          <p:grpSpPr>
            <a:xfrm>
              <a:off x="3562575" y="1593072"/>
              <a:ext cx="1839971" cy="2057817"/>
              <a:chOff x="2549525" y="1377950"/>
              <a:chExt cx="1343025" cy="1017588"/>
            </a:xfrm>
          </p:grpSpPr>
          <p:sp>
            <p:nvSpPr>
              <p:cNvPr id="36" name="Rectangle 35"/>
              <p:cNvSpPr/>
              <p:nvPr/>
            </p:nvSpPr>
            <p:spPr bwMode="auto">
              <a:xfrm>
                <a:off x="2549525" y="1377950"/>
                <a:ext cx="1343025" cy="1017588"/>
              </a:xfrm>
              <a:prstGeom prst="rect">
                <a:avLst/>
              </a:prstGeom>
              <a:noFill/>
              <a:ln w="9525" cap="flat" cmpd="sng" algn="ctr">
                <a:solidFill>
                  <a:schemeClr val="accent2">
                    <a:lumMod val="50000"/>
                  </a:schemeClr>
                </a:solidFill>
                <a:prstDash val="solid"/>
                <a:round/>
                <a:headEnd type="none" w="med" len="med"/>
                <a:tailEnd type="none" w="med" len="med"/>
              </a:ln>
              <a:effectLst/>
              <a:extLst/>
            </p:spPr>
            <p:txBody>
              <a:bodyPr lIns="90000" tIns="46800" rIns="90000" bIns="46800"/>
              <a:lstStyle/>
              <a:p>
                <a:pPr algn="l">
                  <a:defRPr/>
                </a:pPr>
                <a:endParaRPr lang="en-US">
                  <a:solidFill>
                    <a:srgbClr val="000000"/>
                  </a:solidFill>
                </a:endParaRPr>
              </a:p>
            </p:txBody>
          </p:sp>
          <p:sp>
            <p:nvSpPr>
              <p:cNvPr id="37" name="TextBox 23"/>
              <p:cNvSpPr txBox="1">
                <a:spLocks noChangeArrowheads="1"/>
              </p:cNvSpPr>
              <p:nvPr/>
            </p:nvSpPr>
            <p:spPr bwMode="auto">
              <a:xfrm>
                <a:off x="2549525" y="1379462"/>
                <a:ext cx="1343025" cy="426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rgbClr val="000066"/>
                    </a:solidFill>
                    <a:latin typeface="Verdana" pitchFamily="34" charset="0"/>
                    <a:cs typeface="Arial" charset="0"/>
                  </a:defRPr>
                </a:lvl1pPr>
                <a:lvl2pPr marL="742950" indent="-285750" eaLnBrk="0" hangingPunct="0">
                  <a:defRPr sz="1200">
                    <a:solidFill>
                      <a:srgbClr val="000066"/>
                    </a:solidFill>
                    <a:latin typeface="Verdana" pitchFamily="34" charset="0"/>
                    <a:cs typeface="Arial" charset="0"/>
                  </a:defRPr>
                </a:lvl2pPr>
                <a:lvl3pPr marL="1143000" indent="-228600" eaLnBrk="0" hangingPunct="0">
                  <a:defRPr sz="1200">
                    <a:solidFill>
                      <a:srgbClr val="000066"/>
                    </a:solidFill>
                    <a:latin typeface="Verdana" pitchFamily="34" charset="0"/>
                    <a:cs typeface="Arial" charset="0"/>
                  </a:defRPr>
                </a:lvl3pPr>
                <a:lvl4pPr marL="1600200" indent="-228600" eaLnBrk="0" hangingPunct="0">
                  <a:defRPr sz="1200">
                    <a:solidFill>
                      <a:srgbClr val="000066"/>
                    </a:solidFill>
                    <a:latin typeface="Verdana" pitchFamily="34" charset="0"/>
                    <a:cs typeface="Arial" charset="0"/>
                  </a:defRPr>
                </a:lvl4pPr>
                <a:lvl5pPr marL="2057400" indent="-228600" eaLnBrk="0" hangingPunct="0">
                  <a:defRPr sz="1200">
                    <a:solidFill>
                      <a:srgbClr val="000066"/>
                    </a:solidFill>
                    <a:latin typeface="Verdana" pitchFamily="34" charset="0"/>
                    <a:cs typeface="Arial" charset="0"/>
                  </a:defRPr>
                </a:lvl5pPr>
                <a:lvl6pPr marL="2514600" indent="-228600" algn="ctr" eaLnBrk="0" fontAlgn="base" hangingPunct="0">
                  <a:spcBef>
                    <a:spcPct val="0"/>
                  </a:spcBef>
                  <a:spcAft>
                    <a:spcPct val="0"/>
                  </a:spcAft>
                  <a:defRPr sz="1200">
                    <a:solidFill>
                      <a:srgbClr val="000066"/>
                    </a:solidFill>
                    <a:latin typeface="Verdana" pitchFamily="34" charset="0"/>
                    <a:cs typeface="Arial" charset="0"/>
                  </a:defRPr>
                </a:lvl6pPr>
                <a:lvl7pPr marL="2971800" indent="-228600" algn="ctr" eaLnBrk="0" fontAlgn="base" hangingPunct="0">
                  <a:spcBef>
                    <a:spcPct val="0"/>
                  </a:spcBef>
                  <a:spcAft>
                    <a:spcPct val="0"/>
                  </a:spcAft>
                  <a:defRPr sz="1200">
                    <a:solidFill>
                      <a:srgbClr val="000066"/>
                    </a:solidFill>
                    <a:latin typeface="Verdana" pitchFamily="34" charset="0"/>
                    <a:cs typeface="Arial" charset="0"/>
                  </a:defRPr>
                </a:lvl7pPr>
                <a:lvl8pPr marL="3429000" indent="-228600" algn="ctr" eaLnBrk="0" fontAlgn="base" hangingPunct="0">
                  <a:spcBef>
                    <a:spcPct val="0"/>
                  </a:spcBef>
                  <a:spcAft>
                    <a:spcPct val="0"/>
                  </a:spcAft>
                  <a:defRPr sz="1200">
                    <a:solidFill>
                      <a:srgbClr val="000066"/>
                    </a:solidFill>
                    <a:latin typeface="Verdana" pitchFamily="34" charset="0"/>
                    <a:cs typeface="Arial" charset="0"/>
                  </a:defRPr>
                </a:lvl8pPr>
                <a:lvl9pPr marL="3886200" indent="-228600" algn="ctr" eaLnBrk="0" fontAlgn="base" hangingPunct="0">
                  <a:spcBef>
                    <a:spcPct val="0"/>
                  </a:spcBef>
                  <a:spcAft>
                    <a:spcPct val="0"/>
                  </a:spcAft>
                  <a:defRPr sz="1200">
                    <a:solidFill>
                      <a:srgbClr val="000066"/>
                    </a:solidFill>
                    <a:latin typeface="Verdana" pitchFamily="34" charset="0"/>
                    <a:cs typeface="Arial" charset="0"/>
                  </a:defRPr>
                </a:lvl9pPr>
              </a:lstStyle>
              <a:p>
                <a:pPr algn="ctr" eaLnBrk="1" hangingPunct="1"/>
                <a:r>
                  <a:rPr lang="en-US" sz="1000" dirty="0" smtClean="0"/>
                  <a:t>Staff &amp; customers </a:t>
                </a:r>
                <a:r>
                  <a:rPr lang="en-US" sz="1000" b="1" dirty="0" smtClean="0"/>
                  <a:t>“always connected” </a:t>
                </a:r>
                <a:r>
                  <a:rPr lang="en-US" sz="1000" dirty="0" smtClean="0"/>
                  <a:t>means products and services are sold everywhere and anytime</a:t>
                </a:r>
                <a:endParaRPr lang="en-US" sz="1000" b="1" dirty="0"/>
              </a:p>
            </p:txBody>
          </p:sp>
        </p:grpSp>
        <p:grpSp>
          <p:nvGrpSpPr>
            <p:cNvPr id="9" name="Group 92197"/>
            <p:cNvGrpSpPr>
              <a:grpSpLocks/>
            </p:cNvGrpSpPr>
            <p:nvPr/>
          </p:nvGrpSpPr>
          <p:grpSpPr bwMode="auto">
            <a:xfrm>
              <a:off x="5663535" y="1570601"/>
              <a:ext cx="1855196" cy="2080289"/>
              <a:chOff x="4798866" y="1366823"/>
              <a:chExt cx="1466781" cy="1028700"/>
            </a:xfrm>
          </p:grpSpPr>
          <p:sp>
            <p:nvSpPr>
              <p:cNvPr id="27" name="Rectangle 26"/>
              <p:cNvSpPr/>
              <p:nvPr/>
            </p:nvSpPr>
            <p:spPr bwMode="auto">
              <a:xfrm>
                <a:off x="4798866" y="1377935"/>
                <a:ext cx="1454744" cy="1017588"/>
              </a:xfrm>
              <a:prstGeom prst="rect">
                <a:avLst/>
              </a:prstGeom>
              <a:noFill/>
              <a:ln w="9525" cap="flat" cmpd="sng" algn="ctr">
                <a:solidFill>
                  <a:schemeClr val="accent2">
                    <a:lumMod val="50000"/>
                  </a:schemeClr>
                </a:solidFill>
                <a:prstDash val="solid"/>
                <a:round/>
                <a:headEnd type="none" w="med" len="med"/>
                <a:tailEnd type="none" w="med" len="med"/>
              </a:ln>
              <a:effectLst/>
              <a:extLst/>
            </p:spPr>
            <p:txBody>
              <a:bodyPr lIns="90000" tIns="46800" rIns="90000" bIns="46800"/>
              <a:lstStyle/>
              <a:p>
                <a:pPr algn="l">
                  <a:defRPr/>
                </a:pPr>
                <a:endParaRPr lang="en-US">
                  <a:solidFill>
                    <a:srgbClr val="000000"/>
                  </a:solidFill>
                </a:endParaRPr>
              </a:p>
            </p:txBody>
          </p:sp>
          <p:sp>
            <p:nvSpPr>
              <p:cNvPr id="28" name="TextBox 6"/>
              <p:cNvSpPr txBox="1">
                <a:spLocks noChangeArrowheads="1"/>
              </p:cNvSpPr>
              <p:nvPr/>
            </p:nvSpPr>
            <p:spPr bwMode="auto">
              <a:xfrm>
                <a:off x="4810920" y="1366823"/>
                <a:ext cx="1454727" cy="350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200">
                    <a:solidFill>
                      <a:srgbClr val="000066"/>
                    </a:solidFill>
                    <a:latin typeface="Verdana" pitchFamily="34" charset="0"/>
                    <a:cs typeface="Arial" charset="0"/>
                  </a:defRPr>
                </a:lvl1pPr>
                <a:lvl2pPr marL="742950" indent="-285750" eaLnBrk="0" hangingPunct="0">
                  <a:defRPr sz="1200">
                    <a:solidFill>
                      <a:srgbClr val="000066"/>
                    </a:solidFill>
                    <a:latin typeface="Verdana" pitchFamily="34" charset="0"/>
                    <a:cs typeface="Arial" charset="0"/>
                  </a:defRPr>
                </a:lvl2pPr>
                <a:lvl3pPr marL="1143000" indent="-228600" eaLnBrk="0" hangingPunct="0">
                  <a:defRPr sz="1200">
                    <a:solidFill>
                      <a:srgbClr val="000066"/>
                    </a:solidFill>
                    <a:latin typeface="Verdana" pitchFamily="34" charset="0"/>
                    <a:cs typeface="Arial" charset="0"/>
                  </a:defRPr>
                </a:lvl3pPr>
                <a:lvl4pPr marL="1600200" indent="-228600" eaLnBrk="0" hangingPunct="0">
                  <a:defRPr sz="1200">
                    <a:solidFill>
                      <a:srgbClr val="000066"/>
                    </a:solidFill>
                    <a:latin typeface="Verdana" pitchFamily="34" charset="0"/>
                    <a:cs typeface="Arial" charset="0"/>
                  </a:defRPr>
                </a:lvl4pPr>
                <a:lvl5pPr marL="2057400" indent="-228600" eaLnBrk="0" hangingPunct="0">
                  <a:defRPr sz="1200">
                    <a:solidFill>
                      <a:srgbClr val="000066"/>
                    </a:solidFill>
                    <a:latin typeface="Verdana" pitchFamily="34" charset="0"/>
                    <a:cs typeface="Arial" charset="0"/>
                  </a:defRPr>
                </a:lvl5pPr>
                <a:lvl6pPr marL="2514600" indent="-228600" algn="ctr" eaLnBrk="0" fontAlgn="base" hangingPunct="0">
                  <a:spcBef>
                    <a:spcPct val="0"/>
                  </a:spcBef>
                  <a:spcAft>
                    <a:spcPct val="0"/>
                  </a:spcAft>
                  <a:defRPr sz="1200">
                    <a:solidFill>
                      <a:srgbClr val="000066"/>
                    </a:solidFill>
                    <a:latin typeface="Verdana" pitchFamily="34" charset="0"/>
                    <a:cs typeface="Arial" charset="0"/>
                  </a:defRPr>
                </a:lvl6pPr>
                <a:lvl7pPr marL="2971800" indent="-228600" algn="ctr" eaLnBrk="0" fontAlgn="base" hangingPunct="0">
                  <a:spcBef>
                    <a:spcPct val="0"/>
                  </a:spcBef>
                  <a:spcAft>
                    <a:spcPct val="0"/>
                  </a:spcAft>
                  <a:defRPr sz="1200">
                    <a:solidFill>
                      <a:srgbClr val="000066"/>
                    </a:solidFill>
                    <a:latin typeface="Verdana" pitchFamily="34" charset="0"/>
                    <a:cs typeface="Arial" charset="0"/>
                  </a:defRPr>
                </a:lvl7pPr>
                <a:lvl8pPr marL="3429000" indent="-228600" algn="ctr" eaLnBrk="0" fontAlgn="base" hangingPunct="0">
                  <a:spcBef>
                    <a:spcPct val="0"/>
                  </a:spcBef>
                  <a:spcAft>
                    <a:spcPct val="0"/>
                  </a:spcAft>
                  <a:defRPr sz="1200">
                    <a:solidFill>
                      <a:srgbClr val="000066"/>
                    </a:solidFill>
                    <a:latin typeface="Verdana" pitchFamily="34" charset="0"/>
                    <a:cs typeface="Arial" charset="0"/>
                  </a:defRPr>
                </a:lvl8pPr>
                <a:lvl9pPr marL="3886200" indent="-228600" algn="ctr" eaLnBrk="0" fontAlgn="base" hangingPunct="0">
                  <a:spcBef>
                    <a:spcPct val="0"/>
                  </a:spcBef>
                  <a:spcAft>
                    <a:spcPct val="0"/>
                  </a:spcAft>
                  <a:defRPr sz="1200">
                    <a:solidFill>
                      <a:srgbClr val="000066"/>
                    </a:solidFill>
                    <a:latin typeface="Verdana" pitchFamily="34" charset="0"/>
                    <a:cs typeface="Arial" charset="0"/>
                  </a:defRPr>
                </a:lvl9pPr>
              </a:lstStyle>
              <a:p>
                <a:pPr algn="ctr" eaLnBrk="1" hangingPunct="1"/>
                <a:r>
                  <a:rPr lang="en-US" sz="1000" b="1" dirty="0" smtClean="0"/>
                  <a:t>Increasingly rapid technology adoption </a:t>
                </a:r>
                <a:r>
                  <a:rPr lang="en-US" sz="1000" dirty="0" smtClean="0"/>
                  <a:t>by consumers shortens competitive advantages</a:t>
                </a:r>
                <a:endParaRPr lang="en-US" sz="1000" dirty="0"/>
              </a:p>
            </p:txBody>
          </p:sp>
        </p:grpSp>
        <p:grpSp>
          <p:nvGrpSpPr>
            <p:cNvPr id="10" name="Group 9"/>
            <p:cNvGrpSpPr/>
            <p:nvPr/>
          </p:nvGrpSpPr>
          <p:grpSpPr>
            <a:xfrm>
              <a:off x="7727520" y="1586652"/>
              <a:ext cx="1874770" cy="2057817"/>
              <a:chOff x="5589587" y="1374775"/>
              <a:chExt cx="1368425" cy="1017588"/>
            </a:xfrm>
          </p:grpSpPr>
          <p:sp>
            <p:nvSpPr>
              <p:cNvPr id="24" name="Rectangle 23"/>
              <p:cNvSpPr/>
              <p:nvPr/>
            </p:nvSpPr>
            <p:spPr bwMode="auto">
              <a:xfrm>
                <a:off x="5602288" y="1374775"/>
                <a:ext cx="1343025" cy="1017588"/>
              </a:xfrm>
              <a:prstGeom prst="rect">
                <a:avLst/>
              </a:prstGeom>
              <a:noFill/>
              <a:ln w="9525" cap="flat" cmpd="sng" algn="ctr">
                <a:solidFill>
                  <a:schemeClr val="accent2">
                    <a:lumMod val="50000"/>
                  </a:schemeClr>
                </a:solidFill>
                <a:prstDash val="solid"/>
                <a:round/>
                <a:headEnd type="none" w="med" len="med"/>
                <a:tailEnd type="none" w="med" len="med"/>
              </a:ln>
              <a:effectLst/>
              <a:extLst/>
            </p:spPr>
            <p:txBody>
              <a:bodyPr lIns="90000" tIns="46800" rIns="90000" bIns="46800"/>
              <a:lstStyle/>
              <a:p>
                <a:pPr algn="l">
                  <a:defRPr/>
                </a:pPr>
                <a:endParaRPr lang="en-US">
                  <a:solidFill>
                    <a:srgbClr val="000000"/>
                  </a:solidFill>
                </a:endParaRPr>
              </a:p>
            </p:txBody>
          </p:sp>
          <p:sp>
            <p:nvSpPr>
              <p:cNvPr id="25" name="TextBox 9"/>
              <p:cNvSpPr txBox="1">
                <a:spLocks noChangeArrowheads="1"/>
              </p:cNvSpPr>
              <p:nvPr/>
            </p:nvSpPr>
            <p:spPr bwMode="auto">
              <a:xfrm>
                <a:off x="5589587" y="1379462"/>
                <a:ext cx="1368425" cy="426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rgbClr val="000066"/>
                    </a:solidFill>
                    <a:latin typeface="Verdana" pitchFamily="34" charset="0"/>
                    <a:cs typeface="Arial" charset="0"/>
                  </a:defRPr>
                </a:lvl1pPr>
                <a:lvl2pPr marL="742950" indent="-285750" eaLnBrk="0" hangingPunct="0">
                  <a:defRPr sz="1200">
                    <a:solidFill>
                      <a:srgbClr val="000066"/>
                    </a:solidFill>
                    <a:latin typeface="Verdana" pitchFamily="34" charset="0"/>
                    <a:cs typeface="Arial" charset="0"/>
                  </a:defRPr>
                </a:lvl2pPr>
                <a:lvl3pPr marL="1143000" indent="-228600" eaLnBrk="0" hangingPunct="0">
                  <a:defRPr sz="1200">
                    <a:solidFill>
                      <a:srgbClr val="000066"/>
                    </a:solidFill>
                    <a:latin typeface="Verdana" pitchFamily="34" charset="0"/>
                    <a:cs typeface="Arial" charset="0"/>
                  </a:defRPr>
                </a:lvl3pPr>
                <a:lvl4pPr marL="1600200" indent="-228600" eaLnBrk="0" hangingPunct="0">
                  <a:defRPr sz="1200">
                    <a:solidFill>
                      <a:srgbClr val="000066"/>
                    </a:solidFill>
                    <a:latin typeface="Verdana" pitchFamily="34" charset="0"/>
                    <a:cs typeface="Arial" charset="0"/>
                  </a:defRPr>
                </a:lvl4pPr>
                <a:lvl5pPr marL="2057400" indent="-228600" eaLnBrk="0" hangingPunct="0">
                  <a:defRPr sz="1200">
                    <a:solidFill>
                      <a:srgbClr val="000066"/>
                    </a:solidFill>
                    <a:latin typeface="Verdana" pitchFamily="34" charset="0"/>
                    <a:cs typeface="Arial" charset="0"/>
                  </a:defRPr>
                </a:lvl5pPr>
                <a:lvl6pPr marL="2514600" indent="-228600" algn="ctr" eaLnBrk="0" fontAlgn="base" hangingPunct="0">
                  <a:spcBef>
                    <a:spcPct val="0"/>
                  </a:spcBef>
                  <a:spcAft>
                    <a:spcPct val="0"/>
                  </a:spcAft>
                  <a:defRPr sz="1200">
                    <a:solidFill>
                      <a:srgbClr val="000066"/>
                    </a:solidFill>
                    <a:latin typeface="Verdana" pitchFamily="34" charset="0"/>
                    <a:cs typeface="Arial" charset="0"/>
                  </a:defRPr>
                </a:lvl6pPr>
                <a:lvl7pPr marL="2971800" indent="-228600" algn="ctr" eaLnBrk="0" fontAlgn="base" hangingPunct="0">
                  <a:spcBef>
                    <a:spcPct val="0"/>
                  </a:spcBef>
                  <a:spcAft>
                    <a:spcPct val="0"/>
                  </a:spcAft>
                  <a:defRPr sz="1200">
                    <a:solidFill>
                      <a:srgbClr val="000066"/>
                    </a:solidFill>
                    <a:latin typeface="Verdana" pitchFamily="34" charset="0"/>
                    <a:cs typeface="Arial" charset="0"/>
                  </a:defRPr>
                </a:lvl7pPr>
                <a:lvl8pPr marL="3429000" indent="-228600" algn="ctr" eaLnBrk="0" fontAlgn="base" hangingPunct="0">
                  <a:spcBef>
                    <a:spcPct val="0"/>
                  </a:spcBef>
                  <a:spcAft>
                    <a:spcPct val="0"/>
                  </a:spcAft>
                  <a:defRPr sz="1200">
                    <a:solidFill>
                      <a:srgbClr val="000066"/>
                    </a:solidFill>
                    <a:latin typeface="Verdana" pitchFamily="34" charset="0"/>
                    <a:cs typeface="Arial" charset="0"/>
                  </a:defRPr>
                </a:lvl8pPr>
                <a:lvl9pPr marL="3886200" indent="-228600" algn="ctr" eaLnBrk="0" fontAlgn="base" hangingPunct="0">
                  <a:spcBef>
                    <a:spcPct val="0"/>
                  </a:spcBef>
                  <a:spcAft>
                    <a:spcPct val="0"/>
                  </a:spcAft>
                  <a:defRPr sz="1200">
                    <a:solidFill>
                      <a:srgbClr val="000066"/>
                    </a:solidFill>
                    <a:latin typeface="Verdana" pitchFamily="34" charset="0"/>
                    <a:cs typeface="Arial" charset="0"/>
                  </a:defRPr>
                </a:lvl9pPr>
              </a:lstStyle>
              <a:p>
                <a:pPr algn="ctr" eaLnBrk="1" hangingPunct="1"/>
                <a:r>
                  <a:rPr lang="en-US" sz="1000" dirty="0" smtClean="0"/>
                  <a:t>The “explosive” growth of </a:t>
                </a:r>
                <a:r>
                  <a:rPr lang="en-US" sz="1000" b="1" dirty="0" smtClean="0"/>
                  <a:t>E-commerce </a:t>
                </a:r>
                <a:r>
                  <a:rPr lang="en-US" sz="1000" dirty="0" smtClean="0"/>
                  <a:t>has reduced the value-add of traditional retailing channels</a:t>
                </a:r>
                <a:endParaRPr lang="en-US" sz="1000" b="1" dirty="0"/>
              </a:p>
            </p:txBody>
          </p:sp>
        </p:grpSp>
        <p:pic>
          <p:nvPicPr>
            <p:cNvPr id="3" name="Picture 2" descr="san jose e-commerce website"/>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8159862" y="2415219"/>
              <a:ext cx="1166810" cy="1166810"/>
            </a:xfrm>
            <a:prstGeom prst="rect">
              <a:avLst/>
            </a:prstGeom>
            <a:noFill/>
            <a:extLst>
              <a:ext uri="{909E8E84-426E-40DD-AFC4-6F175D3DCCD1}">
                <a14:hiddenFill xmlns:a14="http://schemas.microsoft.com/office/drawing/2010/main">
                  <a:solidFill>
                    <a:srgbClr val="FFFFFF"/>
                  </a:solidFill>
                </a14:hiddenFill>
              </a:ext>
            </a:extLst>
          </p:spPr>
        </p:pic>
        <p:pic>
          <p:nvPicPr>
            <p:cNvPr id="351237" name="Picture 5"/>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5689579" y="2346295"/>
              <a:ext cx="1787873" cy="1238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351233" name="Group 351232"/>
          <p:cNvGrpSpPr/>
          <p:nvPr/>
        </p:nvGrpSpPr>
        <p:grpSpPr>
          <a:xfrm>
            <a:off x="5623845" y="4042553"/>
            <a:ext cx="1879834" cy="2057815"/>
            <a:chOff x="7734634" y="1598110"/>
            <a:chExt cx="1879834" cy="2057815"/>
          </a:xfrm>
        </p:grpSpPr>
        <p:grpSp>
          <p:nvGrpSpPr>
            <p:cNvPr id="7" name="Group 92160"/>
            <p:cNvGrpSpPr>
              <a:grpSpLocks/>
            </p:cNvGrpSpPr>
            <p:nvPr/>
          </p:nvGrpSpPr>
          <p:grpSpPr bwMode="auto">
            <a:xfrm>
              <a:off x="7734634" y="1598110"/>
              <a:ext cx="1879834" cy="2057815"/>
              <a:chOff x="3184236" y="2588230"/>
              <a:chExt cx="1485283" cy="1018258"/>
            </a:xfrm>
          </p:grpSpPr>
          <p:sp>
            <p:nvSpPr>
              <p:cNvPr id="34" name="Rectangle 33"/>
              <p:cNvSpPr/>
              <p:nvPr/>
            </p:nvSpPr>
            <p:spPr bwMode="auto">
              <a:xfrm>
                <a:off x="3214014" y="2588230"/>
                <a:ext cx="1455505" cy="1018258"/>
              </a:xfrm>
              <a:prstGeom prst="rect">
                <a:avLst/>
              </a:prstGeom>
              <a:noFill/>
              <a:ln w="9525" cap="flat" cmpd="sng" algn="ctr">
                <a:solidFill>
                  <a:schemeClr val="accent2">
                    <a:lumMod val="50000"/>
                  </a:schemeClr>
                </a:solidFill>
                <a:prstDash val="solid"/>
                <a:round/>
                <a:headEnd type="none" w="med" len="med"/>
                <a:tailEnd type="none" w="med" len="med"/>
              </a:ln>
              <a:effectLst/>
              <a:extLst/>
            </p:spPr>
            <p:txBody>
              <a:bodyPr lIns="90000" tIns="46800" rIns="90000" bIns="46800"/>
              <a:lstStyle/>
              <a:p>
                <a:pPr algn="l">
                  <a:defRPr/>
                </a:pPr>
                <a:endParaRPr lang="en-US">
                  <a:solidFill>
                    <a:srgbClr val="000000"/>
                  </a:solidFill>
                </a:endParaRPr>
              </a:p>
            </p:txBody>
          </p:sp>
          <p:sp>
            <p:nvSpPr>
              <p:cNvPr id="35" name="TextBox 26"/>
              <p:cNvSpPr txBox="1">
                <a:spLocks noChangeArrowheads="1"/>
              </p:cNvSpPr>
              <p:nvPr/>
            </p:nvSpPr>
            <p:spPr bwMode="auto">
              <a:xfrm>
                <a:off x="3184236" y="2589354"/>
                <a:ext cx="1481282" cy="350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rgbClr val="000066"/>
                    </a:solidFill>
                    <a:latin typeface="Verdana" pitchFamily="34" charset="0"/>
                    <a:cs typeface="Arial" charset="0"/>
                  </a:defRPr>
                </a:lvl1pPr>
                <a:lvl2pPr marL="742950" indent="-285750" eaLnBrk="0" hangingPunct="0">
                  <a:defRPr sz="1200">
                    <a:solidFill>
                      <a:srgbClr val="000066"/>
                    </a:solidFill>
                    <a:latin typeface="Verdana" pitchFamily="34" charset="0"/>
                    <a:cs typeface="Arial" charset="0"/>
                  </a:defRPr>
                </a:lvl2pPr>
                <a:lvl3pPr marL="1143000" indent="-228600" eaLnBrk="0" hangingPunct="0">
                  <a:defRPr sz="1200">
                    <a:solidFill>
                      <a:srgbClr val="000066"/>
                    </a:solidFill>
                    <a:latin typeface="Verdana" pitchFamily="34" charset="0"/>
                    <a:cs typeface="Arial" charset="0"/>
                  </a:defRPr>
                </a:lvl3pPr>
                <a:lvl4pPr marL="1600200" indent="-228600" eaLnBrk="0" hangingPunct="0">
                  <a:defRPr sz="1200">
                    <a:solidFill>
                      <a:srgbClr val="000066"/>
                    </a:solidFill>
                    <a:latin typeface="Verdana" pitchFamily="34" charset="0"/>
                    <a:cs typeface="Arial" charset="0"/>
                  </a:defRPr>
                </a:lvl4pPr>
                <a:lvl5pPr marL="2057400" indent="-228600" eaLnBrk="0" hangingPunct="0">
                  <a:defRPr sz="1200">
                    <a:solidFill>
                      <a:srgbClr val="000066"/>
                    </a:solidFill>
                    <a:latin typeface="Verdana" pitchFamily="34" charset="0"/>
                    <a:cs typeface="Arial" charset="0"/>
                  </a:defRPr>
                </a:lvl5pPr>
                <a:lvl6pPr marL="2514600" indent="-228600" algn="ctr" eaLnBrk="0" fontAlgn="base" hangingPunct="0">
                  <a:spcBef>
                    <a:spcPct val="0"/>
                  </a:spcBef>
                  <a:spcAft>
                    <a:spcPct val="0"/>
                  </a:spcAft>
                  <a:defRPr sz="1200">
                    <a:solidFill>
                      <a:srgbClr val="000066"/>
                    </a:solidFill>
                    <a:latin typeface="Verdana" pitchFamily="34" charset="0"/>
                    <a:cs typeface="Arial" charset="0"/>
                  </a:defRPr>
                </a:lvl6pPr>
                <a:lvl7pPr marL="2971800" indent="-228600" algn="ctr" eaLnBrk="0" fontAlgn="base" hangingPunct="0">
                  <a:spcBef>
                    <a:spcPct val="0"/>
                  </a:spcBef>
                  <a:spcAft>
                    <a:spcPct val="0"/>
                  </a:spcAft>
                  <a:defRPr sz="1200">
                    <a:solidFill>
                      <a:srgbClr val="000066"/>
                    </a:solidFill>
                    <a:latin typeface="Verdana" pitchFamily="34" charset="0"/>
                    <a:cs typeface="Arial" charset="0"/>
                  </a:defRPr>
                </a:lvl7pPr>
                <a:lvl8pPr marL="3429000" indent="-228600" algn="ctr" eaLnBrk="0" fontAlgn="base" hangingPunct="0">
                  <a:spcBef>
                    <a:spcPct val="0"/>
                  </a:spcBef>
                  <a:spcAft>
                    <a:spcPct val="0"/>
                  </a:spcAft>
                  <a:defRPr sz="1200">
                    <a:solidFill>
                      <a:srgbClr val="000066"/>
                    </a:solidFill>
                    <a:latin typeface="Verdana" pitchFamily="34" charset="0"/>
                    <a:cs typeface="Arial" charset="0"/>
                  </a:defRPr>
                </a:lvl8pPr>
                <a:lvl9pPr marL="3886200" indent="-228600" algn="ctr" eaLnBrk="0" fontAlgn="base" hangingPunct="0">
                  <a:spcBef>
                    <a:spcPct val="0"/>
                  </a:spcBef>
                  <a:spcAft>
                    <a:spcPct val="0"/>
                  </a:spcAft>
                  <a:defRPr sz="1200">
                    <a:solidFill>
                      <a:srgbClr val="000066"/>
                    </a:solidFill>
                    <a:latin typeface="Verdana" pitchFamily="34" charset="0"/>
                    <a:cs typeface="Arial" charset="0"/>
                  </a:defRPr>
                </a:lvl9pPr>
              </a:lstStyle>
              <a:p>
                <a:pPr algn="ctr" eaLnBrk="1" hangingPunct="1"/>
                <a:r>
                  <a:rPr lang="en-US" sz="1000" b="1" dirty="0" smtClean="0"/>
                  <a:t>Commoditization </a:t>
                </a:r>
                <a:r>
                  <a:rPr lang="en-US" sz="1000" dirty="0" smtClean="0"/>
                  <a:t>of the airline industry; airlines need new revenue sources</a:t>
                </a:r>
                <a:endParaRPr lang="en-US" sz="1000" dirty="0"/>
              </a:p>
            </p:txBody>
          </p:sp>
        </p:grpSp>
        <p:pic>
          <p:nvPicPr>
            <p:cNvPr id="362498" name="Picture 2"/>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7970348" y="2550534"/>
              <a:ext cx="1361275" cy="1020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0" name="Group 19"/>
          <p:cNvGrpSpPr/>
          <p:nvPr/>
        </p:nvGrpSpPr>
        <p:grpSpPr>
          <a:xfrm>
            <a:off x="7762319" y="4048968"/>
            <a:ext cx="1839971" cy="2057817"/>
            <a:chOff x="1483361" y="1593068"/>
            <a:chExt cx="1839971" cy="2057817"/>
          </a:xfrm>
        </p:grpSpPr>
        <p:grpSp>
          <p:nvGrpSpPr>
            <p:cNvPr id="13" name="Group 17"/>
            <p:cNvGrpSpPr>
              <a:grpSpLocks/>
            </p:cNvGrpSpPr>
            <p:nvPr/>
          </p:nvGrpSpPr>
          <p:grpSpPr bwMode="auto">
            <a:xfrm>
              <a:off x="1483361" y="1593068"/>
              <a:ext cx="1839971" cy="2057817"/>
              <a:chOff x="8132353" y="5035380"/>
              <a:chExt cx="1455294" cy="1019016"/>
            </a:xfrm>
          </p:grpSpPr>
          <p:sp>
            <p:nvSpPr>
              <p:cNvPr id="14" name="Rectangle 13"/>
              <p:cNvSpPr/>
              <p:nvPr/>
            </p:nvSpPr>
            <p:spPr bwMode="auto">
              <a:xfrm>
                <a:off x="8132353" y="5035380"/>
                <a:ext cx="1455294" cy="1019016"/>
              </a:xfrm>
              <a:prstGeom prst="rect">
                <a:avLst/>
              </a:prstGeom>
              <a:noFill/>
              <a:ln w="9525" cap="flat" cmpd="sng" algn="ctr">
                <a:solidFill>
                  <a:schemeClr val="accent2">
                    <a:lumMod val="50000"/>
                  </a:schemeClr>
                </a:solidFill>
                <a:prstDash val="solid"/>
                <a:round/>
                <a:headEnd type="none" w="med" len="med"/>
                <a:tailEnd type="none" w="med" len="med"/>
              </a:ln>
              <a:effectLst/>
              <a:extLst/>
            </p:spPr>
            <p:txBody>
              <a:bodyPr lIns="90000" tIns="46800" rIns="90000" bIns="46800"/>
              <a:lstStyle/>
              <a:p>
                <a:pPr algn="l">
                  <a:defRPr/>
                </a:pPr>
                <a:endParaRPr lang="en-US">
                  <a:solidFill>
                    <a:srgbClr val="000000"/>
                  </a:solidFill>
                </a:endParaRPr>
              </a:p>
            </p:txBody>
          </p:sp>
          <p:sp>
            <p:nvSpPr>
              <p:cNvPr id="15" name="TextBox 65"/>
              <p:cNvSpPr txBox="1">
                <a:spLocks noChangeArrowheads="1"/>
              </p:cNvSpPr>
              <p:nvPr/>
            </p:nvSpPr>
            <p:spPr bwMode="auto">
              <a:xfrm>
                <a:off x="8132356" y="5035380"/>
                <a:ext cx="1455291" cy="4267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200">
                    <a:solidFill>
                      <a:srgbClr val="000066"/>
                    </a:solidFill>
                    <a:latin typeface="Verdana" pitchFamily="34" charset="0"/>
                    <a:cs typeface="Arial" charset="0"/>
                  </a:defRPr>
                </a:lvl1pPr>
                <a:lvl2pPr marL="742950" indent="-285750" eaLnBrk="0" hangingPunct="0">
                  <a:defRPr sz="1200">
                    <a:solidFill>
                      <a:srgbClr val="000066"/>
                    </a:solidFill>
                    <a:latin typeface="Verdana" pitchFamily="34" charset="0"/>
                    <a:cs typeface="Arial" charset="0"/>
                  </a:defRPr>
                </a:lvl2pPr>
                <a:lvl3pPr marL="1143000" indent="-228600" eaLnBrk="0" hangingPunct="0">
                  <a:defRPr sz="1200">
                    <a:solidFill>
                      <a:srgbClr val="000066"/>
                    </a:solidFill>
                    <a:latin typeface="Verdana" pitchFamily="34" charset="0"/>
                    <a:cs typeface="Arial" charset="0"/>
                  </a:defRPr>
                </a:lvl3pPr>
                <a:lvl4pPr marL="1600200" indent="-228600" eaLnBrk="0" hangingPunct="0">
                  <a:defRPr sz="1200">
                    <a:solidFill>
                      <a:srgbClr val="000066"/>
                    </a:solidFill>
                    <a:latin typeface="Verdana" pitchFamily="34" charset="0"/>
                    <a:cs typeface="Arial" charset="0"/>
                  </a:defRPr>
                </a:lvl4pPr>
                <a:lvl5pPr marL="2057400" indent="-228600" eaLnBrk="0" hangingPunct="0">
                  <a:defRPr sz="1200">
                    <a:solidFill>
                      <a:srgbClr val="000066"/>
                    </a:solidFill>
                    <a:latin typeface="Verdana" pitchFamily="34" charset="0"/>
                    <a:cs typeface="Arial" charset="0"/>
                  </a:defRPr>
                </a:lvl5pPr>
                <a:lvl6pPr marL="2514600" indent="-228600" algn="ctr" eaLnBrk="0" fontAlgn="base" hangingPunct="0">
                  <a:spcBef>
                    <a:spcPct val="0"/>
                  </a:spcBef>
                  <a:spcAft>
                    <a:spcPct val="0"/>
                  </a:spcAft>
                  <a:defRPr sz="1200">
                    <a:solidFill>
                      <a:srgbClr val="000066"/>
                    </a:solidFill>
                    <a:latin typeface="Verdana" pitchFamily="34" charset="0"/>
                    <a:cs typeface="Arial" charset="0"/>
                  </a:defRPr>
                </a:lvl6pPr>
                <a:lvl7pPr marL="2971800" indent="-228600" algn="ctr" eaLnBrk="0" fontAlgn="base" hangingPunct="0">
                  <a:spcBef>
                    <a:spcPct val="0"/>
                  </a:spcBef>
                  <a:spcAft>
                    <a:spcPct val="0"/>
                  </a:spcAft>
                  <a:defRPr sz="1200">
                    <a:solidFill>
                      <a:srgbClr val="000066"/>
                    </a:solidFill>
                    <a:latin typeface="Verdana" pitchFamily="34" charset="0"/>
                    <a:cs typeface="Arial" charset="0"/>
                  </a:defRPr>
                </a:lvl7pPr>
                <a:lvl8pPr marL="3429000" indent="-228600" algn="ctr" eaLnBrk="0" fontAlgn="base" hangingPunct="0">
                  <a:spcBef>
                    <a:spcPct val="0"/>
                  </a:spcBef>
                  <a:spcAft>
                    <a:spcPct val="0"/>
                  </a:spcAft>
                  <a:defRPr sz="1200">
                    <a:solidFill>
                      <a:srgbClr val="000066"/>
                    </a:solidFill>
                    <a:latin typeface="Verdana" pitchFamily="34" charset="0"/>
                    <a:cs typeface="Arial" charset="0"/>
                  </a:defRPr>
                </a:lvl8pPr>
                <a:lvl9pPr marL="3886200" indent="-228600" algn="ctr" eaLnBrk="0" fontAlgn="base" hangingPunct="0">
                  <a:spcBef>
                    <a:spcPct val="0"/>
                  </a:spcBef>
                  <a:spcAft>
                    <a:spcPct val="0"/>
                  </a:spcAft>
                  <a:defRPr sz="1200">
                    <a:solidFill>
                      <a:srgbClr val="000066"/>
                    </a:solidFill>
                    <a:latin typeface="Verdana" pitchFamily="34" charset="0"/>
                    <a:cs typeface="Arial" charset="0"/>
                  </a:defRPr>
                </a:lvl9pPr>
              </a:lstStyle>
              <a:p>
                <a:pPr algn="ctr" eaLnBrk="1" hangingPunct="1"/>
                <a:r>
                  <a:rPr lang="en-US" sz="1000" dirty="0" smtClean="0"/>
                  <a:t>Fast </a:t>
                </a:r>
                <a:r>
                  <a:rPr lang="en-US" sz="1000" b="1" dirty="0" smtClean="0"/>
                  <a:t>Digitization</a:t>
                </a:r>
                <a:r>
                  <a:rPr lang="en-US" sz="1000" dirty="0" smtClean="0"/>
                  <a:t> of the </a:t>
                </a:r>
                <a:r>
                  <a:rPr lang="en-US" sz="1000" dirty="0"/>
                  <a:t>w</a:t>
                </a:r>
                <a:r>
                  <a:rPr lang="en-US" sz="1000" dirty="0" smtClean="0"/>
                  <a:t>orld changes business </a:t>
                </a:r>
                <a:r>
                  <a:rPr lang="en-US" sz="1000" smtClean="0"/>
                  <a:t>models and leads </a:t>
                </a:r>
                <a:r>
                  <a:rPr lang="en-US" sz="1000" dirty="0" smtClean="0"/>
                  <a:t>to cross-overs to/from retailing</a:t>
                </a:r>
                <a:endParaRPr lang="en-US" sz="1000" dirty="0"/>
              </a:p>
            </p:txBody>
          </p:sp>
        </p:grpSp>
        <p:pic>
          <p:nvPicPr>
            <p:cNvPr id="362499" name="Picture 3"/>
            <p:cNvPicPr>
              <a:picLocks noChangeAspect="1" noChangeArrowheads="1"/>
            </p:cNvPicPr>
            <p:nvPr/>
          </p:nvPicPr>
          <p:blipFill rotWithShape="1">
            <a:blip r:embed="rId10" cstate="email">
              <a:extLst>
                <a:ext uri="{28A0092B-C50C-407E-A947-70E740481C1C}">
                  <a14:useLocalDpi xmlns:a14="http://schemas.microsoft.com/office/drawing/2010/main"/>
                </a:ext>
              </a:extLst>
            </a:blip>
            <a:srcRect/>
            <a:stretch/>
          </p:blipFill>
          <p:spPr bwMode="auto">
            <a:xfrm>
              <a:off x="1531434" y="2626071"/>
              <a:ext cx="1777991" cy="95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2199288482"/>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8674" y="339725"/>
            <a:ext cx="8466306" cy="561046"/>
          </a:xfrm>
        </p:spPr>
        <p:txBody>
          <a:bodyPr/>
          <a:lstStyle/>
          <a:p>
            <a:r>
              <a:rPr lang="en-US" dirty="0" smtClean="0"/>
              <a:t>RETAILING OF PERSONALIZED PRODUCTS ALSO OFFERS </a:t>
            </a:r>
            <a:br>
              <a:rPr lang="en-US" dirty="0" smtClean="0"/>
            </a:br>
            <a:r>
              <a:rPr lang="en-US" dirty="0" smtClean="0"/>
              <a:t>BRAND DIFFERENTIATION &amp; NEW REVENUE POTENTIAL TO AFKL</a:t>
            </a:r>
            <a:endParaRPr lang="en-US" dirty="0"/>
          </a:p>
        </p:txBody>
      </p:sp>
      <p:sp>
        <p:nvSpPr>
          <p:cNvPr id="3" name="TextBox 2"/>
          <p:cNvSpPr txBox="1"/>
          <p:nvPr/>
        </p:nvSpPr>
        <p:spPr>
          <a:xfrm>
            <a:off x="535463" y="5972182"/>
            <a:ext cx="4070345" cy="230832"/>
          </a:xfrm>
          <a:prstGeom prst="rect">
            <a:avLst/>
          </a:prstGeom>
          <a:noFill/>
        </p:spPr>
        <p:txBody>
          <a:bodyPr wrap="none" rtlCol="0">
            <a:spAutoFit/>
          </a:bodyPr>
          <a:lstStyle/>
          <a:p>
            <a:r>
              <a:rPr lang="en-US" sz="900" dirty="0" smtClean="0">
                <a:solidFill>
                  <a:schemeClr val="bg2"/>
                </a:solidFill>
              </a:rPr>
              <a:t>Source: Nawal </a:t>
            </a:r>
            <a:r>
              <a:rPr lang="en-US" sz="900" dirty="0">
                <a:solidFill>
                  <a:schemeClr val="bg2"/>
                </a:solidFill>
              </a:rPr>
              <a:t>Taneja, Designing Future-Oriented Airline Businesses </a:t>
            </a:r>
            <a:r>
              <a:rPr lang="en-US" sz="900" dirty="0" smtClean="0">
                <a:solidFill>
                  <a:schemeClr val="bg2"/>
                </a:solidFill>
              </a:rPr>
              <a:t>, 2014</a:t>
            </a:r>
            <a:endParaRPr lang="en-US" sz="900" dirty="0">
              <a:solidFill>
                <a:schemeClr val="bg2"/>
              </a:solidFill>
            </a:endParaRPr>
          </a:p>
        </p:txBody>
      </p:sp>
      <p:sp>
        <p:nvSpPr>
          <p:cNvPr id="12" name="TextBox 11"/>
          <p:cNvSpPr txBox="1"/>
          <p:nvPr/>
        </p:nvSpPr>
        <p:spPr>
          <a:xfrm>
            <a:off x="6733054" y="5971146"/>
            <a:ext cx="2986715" cy="369332"/>
          </a:xfrm>
          <a:prstGeom prst="rect">
            <a:avLst/>
          </a:prstGeom>
          <a:noFill/>
        </p:spPr>
        <p:txBody>
          <a:bodyPr wrap="none" rtlCol="0">
            <a:spAutoFit/>
          </a:bodyPr>
          <a:lstStyle/>
          <a:p>
            <a:pPr algn="l"/>
            <a:r>
              <a:rPr lang="en-US" sz="900" dirty="0" smtClean="0">
                <a:solidFill>
                  <a:schemeClr val="bg2"/>
                </a:solidFill>
              </a:rPr>
              <a:t>Source: Frost &amp; Sullivan/Amadeus, </a:t>
            </a:r>
            <a:br>
              <a:rPr lang="en-US" sz="900" dirty="0" smtClean="0">
                <a:solidFill>
                  <a:schemeClr val="bg2"/>
                </a:solidFill>
              </a:rPr>
            </a:br>
            <a:r>
              <a:rPr lang="en-US" sz="900" dirty="0" smtClean="0">
                <a:solidFill>
                  <a:schemeClr val="bg2"/>
                </a:solidFill>
              </a:rPr>
              <a:t>AFKL (paid options, commission based revenue, FFP) </a:t>
            </a:r>
            <a:endParaRPr lang="en-US" sz="900" dirty="0">
              <a:solidFill>
                <a:schemeClr val="bg2"/>
              </a:solidFill>
            </a:endParaRPr>
          </a:p>
        </p:txBody>
      </p:sp>
      <p:grpSp>
        <p:nvGrpSpPr>
          <p:cNvPr id="31" name="Group 30"/>
          <p:cNvGrpSpPr/>
          <p:nvPr/>
        </p:nvGrpSpPr>
        <p:grpSpPr>
          <a:xfrm>
            <a:off x="219216" y="1786834"/>
            <a:ext cx="5600673" cy="4076067"/>
            <a:chOff x="219216" y="1786834"/>
            <a:chExt cx="5600673" cy="4076067"/>
          </a:xfrm>
        </p:grpSpPr>
        <p:grpSp>
          <p:nvGrpSpPr>
            <p:cNvPr id="6" name="Group 5"/>
            <p:cNvGrpSpPr/>
            <p:nvPr/>
          </p:nvGrpSpPr>
          <p:grpSpPr>
            <a:xfrm>
              <a:off x="219216" y="1786834"/>
              <a:ext cx="5600673" cy="4076067"/>
              <a:chOff x="1724302" y="1240976"/>
              <a:chExt cx="6583680" cy="5055325"/>
            </a:xfrm>
          </p:grpSpPr>
          <p:pic>
            <p:nvPicPr>
              <p:cNvPr id="4" name="Picture 3"/>
              <p:cNvPicPr/>
              <p:nvPr/>
            </p:nvPicPr>
            <p:blipFill>
              <a:blip r:embed="rId3" cstate="email">
                <a:extLst>
                  <a:ext uri="{28A0092B-C50C-407E-A947-70E740481C1C}">
                    <a14:useLocalDpi xmlns:a14="http://schemas.microsoft.com/office/drawing/2010/main"/>
                  </a:ext>
                </a:extLst>
              </a:blip>
              <a:stretch>
                <a:fillRect/>
              </a:stretch>
            </p:blipFill>
            <p:spPr>
              <a:xfrm>
                <a:off x="1724302" y="1240976"/>
                <a:ext cx="6583680" cy="5055325"/>
              </a:xfrm>
              <a:prstGeom prst="rect">
                <a:avLst/>
              </a:prstGeom>
            </p:spPr>
          </p:pic>
          <p:grpSp>
            <p:nvGrpSpPr>
              <p:cNvPr id="5" name="Group 4"/>
              <p:cNvGrpSpPr/>
              <p:nvPr/>
            </p:nvGrpSpPr>
            <p:grpSpPr>
              <a:xfrm>
                <a:off x="6720840" y="1965960"/>
                <a:ext cx="1386840" cy="1630680"/>
                <a:chOff x="6720840" y="1965960"/>
                <a:chExt cx="1386840" cy="1630680"/>
              </a:xfrm>
            </p:grpSpPr>
            <p:cxnSp>
              <p:nvCxnSpPr>
                <p:cNvPr id="8" name="Straight Connector 7"/>
                <p:cNvCxnSpPr/>
                <p:nvPr/>
              </p:nvCxnSpPr>
              <p:spPr bwMode="auto">
                <a:xfrm flipV="1">
                  <a:off x="6720840" y="2514600"/>
                  <a:ext cx="1097280" cy="1082040"/>
                </a:xfrm>
                <a:prstGeom prst="line">
                  <a:avLst/>
                </a:prstGeom>
                <a:solidFill>
                  <a:schemeClr val="accent1"/>
                </a:solidFill>
                <a:ln w="101600" cap="flat" cmpd="sng" algn="ctr">
                  <a:solidFill>
                    <a:srgbClr val="FFFF00">
                      <a:alpha val="44000"/>
                    </a:srgb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Straight Connector 8"/>
                <p:cNvCxnSpPr/>
                <p:nvPr/>
              </p:nvCxnSpPr>
              <p:spPr bwMode="auto">
                <a:xfrm flipV="1">
                  <a:off x="7818120" y="1965960"/>
                  <a:ext cx="289560" cy="548640"/>
                </a:xfrm>
                <a:prstGeom prst="line">
                  <a:avLst/>
                </a:prstGeom>
                <a:solidFill>
                  <a:schemeClr val="accent1"/>
                </a:solidFill>
                <a:ln w="101600" cap="flat" cmpd="sng" algn="ctr">
                  <a:solidFill>
                    <a:srgbClr val="FFFF00">
                      <a:alpha val="44000"/>
                    </a:srgb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30" name="Rectangle 29"/>
            <p:cNvSpPr/>
            <p:nvPr/>
          </p:nvSpPr>
          <p:spPr bwMode="auto">
            <a:xfrm>
              <a:off x="5379191" y="5717628"/>
              <a:ext cx="422524" cy="145273"/>
            </a:xfrm>
            <a:prstGeom prst="rect">
              <a:avLst/>
            </a:prstGeom>
            <a:solidFill>
              <a:schemeClr val="bg1"/>
            </a:solid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p:txBody>
        </p:sp>
      </p:grpSp>
      <p:pic>
        <p:nvPicPr>
          <p:cNvPr id="368645" name="Picture 5"/>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305106" y="1997082"/>
            <a:ext cx="3318490" cy="3634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6009263"/>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ARE AIRLINES TRADITIONALLY NOT GOOD RETAILERS?</a:t>
            </a:r>
            <a:endParaRPr lang="en-US" dirty="0"/>
          </a:p>
        </p:txBody>
      </p:sp>
      <p:sp>
        <p:nvSpPr>
          <p:cNvPr id="13" name="Content Placeholder 1"/>
          <p:cNvSpPr txBox="1">
            <a:spLocks/>
          </p:cNvSpPr>
          <p:nvPr/>
        </p:nvSpPr>
        <p:spPr>
          <a:xfrm>
            <a:off x="1469829" y="1528323"/>
            <a:ext cx="6706762" cy="4823392"/>
          </a:xfrm>
          <a:prstGeom prst="rect">
            <a:avLst/>
          </a:prstGeom>
        </p:spPr>
        <p:txBody>
          <a:bodyPr vert="horz" lIns="91440" tIns="45720" rIns="91440" bIns="45720" rtlCol="0">
            <a:normAutofit/>
          </a:bodyPr>
          <a:lstStyle>
            <a:lvl1pPr marL="266700" indent="-266700" algn="l" defTabSz="914400" rtl="0" eaLnBrk="1" latinLnBrk="0" hangingPunct="1">
              <a:spcBef>
                <a:spcPct val="20000"/>
              </a:spcBef>
              <a:buFont typeface="Arial" pitchFamily="34" charset="0"/>
              <a:buChar char="•"/>
              <a:defRPr sz="2400" kern="1200" baseline="0">
                <a:solidFill>
                  <a:schemeClr val="tx1"/>
                </a:solidFill>
                <a:latin typeface="Arial" pitchFamily="34" charset="0"/>
                <a:ea typeface="+mn-ea"/>
                <a:cs typeface="Arial" pitchFamily="34" charset="0"/>
              </a:defRPr>
            </a:lvl1pPr>
            <a:lvl2pPr marL="542925" indent="-266700" algn="l" defTabSz="914400" rtl="0" eaLnBrk="1" latinLnBrk="0" hangingPunct="1">
              <a:spcBef>
                <a:spcPct val="20000"/>
              </a:spcBef>
              <a:buClrTx/>
              <a:buFont typeface="Arial" pitchFamily="34" charset="0"/>
              <a:buChar char="•"/>
              <a:defRPr sz="2000" kern="1200" baseline="0">
                <a:solidFill>
                  <a:schemeClr val="tx1"/>
                </a:solidFill>
                <a:latin typeface="Arial" pitchFamily="34" charset="0"/>
                <a:ea typeface="+mn-ea"/>
                <a:cs typeface="Arial" pitchFamily="34" charset="0"/>
              </a:defRPr>
            </a:lvl2pPr>
            <a:lvl3pPr marL="809625" indent="-266700" algn="l" defTabSz="1076325" rtl="0" eaLnBrk="1" latinLnBrk="0" hangingPunct="1">
              <a:spcBef>
                <a:spcPct val="20000"/>
              </a:spcBef>
              <a:buClrTx/>
              <a:buFont typeface="Arial" pitchFamily="34" charset="0"/>
              <a:buChar char="•"/>
              <a:defRPr sz="2000" kern="1200" baseline="0">
                <a:solidFill>
                  <a:schemeClr val="tx1"/>
                </a:solidFill>
                <a:latin typeface="Arial" pitchFamily="34" charset="0"/>
                <a:ea typeface="+mn-ea"/>
                <a:cs typeface="Arial" pitchFamily="34" charset="0"/>
              </a:defRPr>
            </a:lvl3pPr>
            <a:lvl4pPr marL="1076325" indent="-266700" algn="l" defTabSz="1162050" rtl="0" eaLnBrk="1" latinLnBrk="0" hangingPunct="1">
              <a:spcBef>
                <a:spcPct val="20000"/>
              </a:spcBef>
              <a:buClrTx/>
              <a:buFont typeface="Arial" pitchFamily="34" charset="0"/>
              <a:buChar char="•"/>
              <a:tabLst/>
              <a:defRPr sz="1800" kern="1200" baseline="0">
                <a:solidFill>
                  <a:schemeClr val="tx1"/>
                </a:solidFill>
                <a:latin typeface="Arial" pitchFamily="34" charset="0"/>
                <a:ea typeface="+mn-ea"/>
                <a:cs typeface="Arial" pitchFamily="34" charset="0"/>
              </a:defRPr>
            </a:lvl4pPr>
            <a:lvl5pPr marL="1338263" indent="-228600" algn="l" defTabSz="914400" rtl="0" eaLnBrk="1" latinLnBrk="0" hangingPunct="1">
              <a:spcBef>
                <a:spcPct val="20000"/>
              </a:spcBef>
              <a:buFont typeface="Arial" pitchFamily="34" charset="0"/>
              <a:buChar char="•"/>
              <a:tabLst/>
              <a:defRPr sz="1800" kern="1200" baseline="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marR="0" lvl="0" indent="-457200" defTabSz="914400" rtl="0" eaLnBrk="1" fontAlgn="auto" latinLnBrk="0" hangingPunct="1">
              <a:lnSpc>
                <a:spcPct val="100000"/>
              </a:lnSpc>
              <a:spcBef>
                <a:spcPct val="20000"/>
              </a:spcBef>
              <a:spcAft>
                <a:spcPts val="0"/>
              </a:spcAft>
              <a:buClrTx/>
              <a:buSzTx/>
              <a:buFont typeface="+mj-lt"/>
              <a:buAutoNum type="arabicPeriod"/>
              <a:tabLst/>
              <a:defRPr/>
            </a:pPr>
            <a:r>
              <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rPr>
              <a:t>Travel Agents are the retailers</a:t>
            </a:r>
            <a:br>
              <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rPr>
            </a:br>
            <a:endPar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endParaRPr>
          </a:p>
          <a:p>
            <a:pPr marL="457200" marR="0" lvl="0" indent="-457200" defTabSz="914400" rtl="0" eaLnBrk="1" fontAlgn="auto" latinLnBrk="0" hangingPunct="1">
              <a:lnSpc>
                <a:spcPct val="100000"/>
              </a:lnSpc>
              <a:spcBef>
                <a:spcPct val="20000"/>
              </a:spcBef>
              <a:spcAft>
                <a:spcPts val="0"/>
              </a:spcAft>
              <a:buClrTx/>
              <a:buSzTx/>
              <a:buFont typeface="+mj-lt"/>
              <a:buAutoNum type="arabicPeriod"/>
              <a:tabLst/>
              <a:defRPr/>
            </a:pPr>
            <a:r>
              <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rPr>
              <a:t>Built around infrastructure and operations</a:t>
            </a:r>
            <a:br>
              <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rPr>
            </a:br>
            <a:endPar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endParaRPr>
          </a:p>
          <a:p>
            <a:pPr marL="457200" marR="0" lvl="0" indent="-457200" defTabSz="914400" rtl="0" eaLnBrk="1" fontAlgn="auto" latinLnBrk="0" hangingPunct="1">
              <a:lnSpc>
                <a:spcPct val="100000"/>
              </a:lnSpc>
              <a:spcBef>
                <a:spcPct val="20000"/>
              </a:spcBef>
              <a:spcAft>
                <a:spcPts val="0"/>
              </a:spcAft>
              <a:buClrTx/>
              <a:buSzTx/>
              <a:buFont typeface="+mj-lt"/>
              <a:buAutoNum type="arabicPeriod"/>
              <a:tabLst/>
              <a:defRPr/>
            </a:pPr>
            <a:r>
              <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rPr>
              <a:t>Own airline operational complexity</a:t>
            </a:r>
            <a:br>
              <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rPr>
            </a:br>
            <a:endPar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endParaRPr>
          </a:p>
          <a:p>
            <a:pPr marL="457200" marR="0" lvl="0" indent="-457200" defTabSz="914400" rtl="0" eaLnBrk="1" fontAlgn="auto" latinLnBrk="0" hangingPunct="1">
              <a:lnSpc>
                <a:spcPct val="100000"/>
              </a:lnSpc>
              <a:spcBef>
                <a:spcPct val="20000"/>
              </a:spcBef>
              <a:spcAft>
                <a:spcPts val="0"/>
              </a:spcAft>
              <a:buClrTx/>
              <a:buSzTx/>
              <a:buFont typeface="+mj-lt"/>
              <a:buAutoNum type="arabicPeriod"/>
              <a:tabLst/>
              <a:defRPr/>
            </a:pPr>
            <a:r>
              <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rPr>
              <a:t>Legacy airline industry technology</a:t>
            </a:r>
            <a:br>
              <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rPr>
            </a:br>
            <a:endPar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endParaRPr>
          </a:p>
          <a:p>
            <a:pPr marL="457200" marR="0" lvl="0" indent="-457200" defTabSz="914400" rtl="0" eaLnBrk="1" fontAlgn="auto" latinLnBrk="0" hangingPunct="1">
              <a:lnSpc>
                <a:spcPct val="100000"/>
              </a:lnSpc>
              <a:spcBef>
                <a:spcPct val="20000"/>
              </a:spcBef>
              <a:spcAft>
                <a:spcPts val="0"/>
              </a:spcAft>
              <a:buClrTx/>
              <a:buSzTx/>
              <a:buFont typeface="+mj-lt"/>
              <a:buAutoNum type="arabicPeriod"/>
              <a:tabLst/>
              <a:defRPr/>
            </a:pPr>
            <a:r>
              <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rPr>
              <a:t>Business &amp; functional silos</a:t>
            </a:r>
            <a:br>
              <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rPr>
            </a:br>
            <a:endPar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endParaRPr>
          </a:p>
          <a:p>
            <a:pPr marL="457200" marR="0" lvl="0" indent="-457200" defTabSz="914400" rtl="0" eaLnBrk="1" fontAlgn="auto" latinLnBrk="0" hangingPunct="1">
              <a:lnSpc>
                <a:spcPct val="100000"/>
              </a:lnSpc>
              <a:spcBef>
                <a:spcPct val="20000"/>
              </a:spcBef>
              <a:spcAft>
                <a:spcPts val="0"/>
              </a:spcAft>
              <a:buClrTx/>
              <a:buSzTx/>
              <a:buFont typeface="+mj-lt"/>
              <a:buAutoNum type="arabicPeriod"/>
              <a:tabLst/>
              <a:defRPr/>
            </a:pPr>
            <a:endParaRPr kumimoji="0" lang="en-IE" sz="2000" b="0" i="0" u="none" strike="noStrike" kern="1200" cap="none" spc="0" normalizeH="0" baseline="0" noProof="0" dirty="0" smtClean="0">
              <a:ln>
                <a:noFill/>
              </a:ln>
              <a:solidFill>
                <a:sysClr val="windowText" lastClr="000000"/>
              </a:solidFill>
              <a:effectLst/>
              <a:uLnTx/>
              <a:uFillTx/>
              <a:latin typeface="Arial" pitchFamily="34" charset="0"/>
              <a:ea typeface="+mn-ea"/>
              <a:cs typeface="Arial" pitchFamily="34" charset="0"/>
            </a:endParaRPr>
          </a:p>
          <a:p>
            <a:pPr marL="457200" marR="0" lvl="0" indent="-457200" defTabSz="914400" rtl="0" eaLnBrk="1" fontAlgn="auto" latinLnBrk="0" hangingPunct="1">
              <a:lnSpc>
                <a:spcPct val="100000"/>
              </a:lnSpc>
              <a:spcBef>
                <a:spcPct val="20000"/>
              </a:spcBef>
              <a:spcAft>
                <a:spcPts val="0"/>
              </a:spcAft>
              <a:buClrTx/>
              <a:buSzTx/>
              <a:buFont typeface="+mj-lt"/>
              <a:buAutoNum type="arabicPeriod"/>
              <a:tabLst/>
              <a:defRPr/>
            </a:pPr>
            <a:endParaRPr kumimoji="0" lang="en-IE" sz="2000" b="0" i="0" u="none" strike="noStrike" kern="1200" cap="none" spc="0" normalizeH="0" baseline="0" noProof="0" dirty="0">
              <a:ln>
                <a:noFill/>
              </a:ln>
              <a:solidFill>
                <a:sysClr val="windowText" lastClr="00000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71459139"/>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1837" y="391940"/>
            <a:ext cx="8420083" cy="457200"/>
          </a:xfrm>
        </p:spPr>
        <p:txBody>
          <a:bodyPr/>
          <a:lstStyle/>
          <a:p>
            <a:r>
              <a:rPr lang="en-US" dirty="0" smtClean="0"/>
              <a:t>BEST-IN-CLASS RETAILERS PERSONALIZE TO BE RELEVANT, DIFFERENTIATE AND ARE EASY TO DO BUSINESS WITH</a:t>
            </a:r>
            <a:endParaRPr lang="en-US" dirty="0"/>
          </a:p>
        </p:txBody>
      </p:sp>
      <p:graphicFrame>
        <p:nvGraphicFramePr>
          <p:cNvPr id="3" name="Diagram 2"/>
          <p:cNvGraphicFramePr/>
          <p:nvPr>
            <p:extLst>
              <p:ext uri="{D42A27DB-BD31-4B8C-83A1-F6EECF244321}">
                <p14:modId xmlns:p14="http://schemas.microsoft.com/office/powerpoint/2010/main" val="3736975662"/>
              </p:ext>
            </p:extLst>
          </p:nvPr>
        </p:nvGraphicFramePr>
        <p:xfrm>
          <a:off x="583452" y="1250577"/>
          <a:ext cx="8739096" cy="47887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81427289"/>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5821" y="349772"/>
            <a:ext cx="7969515" cy="574675"/>
          </a:xfrm>
        </p:spPr>
        <p:txBody>
          <a:bodyPr/>
          <a:lstStyle/>
          <a:p>
            <a:r>
              <a:rPr lang="en-US" dirty="0"/>
              <a:t>WE HAVE MANY RETAILING CAPABILITIES, BUT WE REQUIRE A TRANSFORMATION TO BECOME A SUCCESSFUL RETAILER</a:t>
            </a:r>
          </a:p>
        </p:txBody>
      </p:sp>
      <p:sp>
        <p:nvSpPr>
          <p:cNvPr id="8" name="Rectangle 7"/>
          <p:cNvSpPr/>
          <p:nvPr/>
        </p:nvSpPr>
        <p:spPr>
          <a:xfrm>
            <a:off x="1867434" y="1786047"/>
            <a:ext cx="6171132" cy="4526829"/>
          </a:xfrm>
          <a:prstGeom prst="rect">
            <a:avLst/>
          </a:prstGeom>
          <a:noFill/>
        </p:spPr>
      </p:sp>
      <p:sp>
        <p:nvSpPr>
          <p:cNvPr id="9" name="Rectangle 8"/>
          <p:cNvSpPr/>
          <p:nvPr/>
        </p:nvSpPr>
        <p:spPr>
          <a:xfrm>
            <a:off x="2012424" y="2392360"/>
            <a:ext cx="2868854" cy="337512"/>
          </a:xfrm>
          <a:prstGeom prst="rect">
            <a:avLst/>
          </a:prstGeom>
          <a:solidFill>
            <a:srgbClr val="009BE1"/>
          </a:solidFill>
          <a:ln>
            <a:solidFill>
              <a:srgbClr val="009BE1"/>
            </a:solid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11" name="Rectangle 10"/>
          <p:cNvSpPr/>
          <p:nvPr/>
        </p:nvSpPr>
        <p:spPr>
          <a:xfrm>
            <a:off x="2012424" y="2519116"/>
            <a:ext cx="210756" cy="210756"/>
          </a:xfrm>
          <a:prstGeom prst="rect">
            <a:avLst/>
          </a:prstGeom>
          <a:no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sp>
      <p:sp>
        <p:nvSpPr>
          <p:cNvPr id="12" name="Freeform 11"/>
          <p:cNvSpPr/>
          <p:nvPr/>
        </p:nvSpPr>
        <p:spPr>
          <a:xfrm flipH="1">
            <a:off x="1867434" y="1786047"/>
            <a:ext cx="658430" cy="606313"/>
          </a:xfrm>
          <a:custGeom>
            <a:avLst/>
            <a:gdLst>
              <a:gd name="connsiteX0" fmla="*/ 0 w 658430"/>
              <a:gd name="connsiteY0" fmla="*/ 0 h 606313"/>
              <a:gd name="connsiteX1" fmla="*/ 658430 w 658430"/>
              <a:gd name="connsiteY1" fmla="*/ 0 h 606313"/>
              <a:gd name="connsiteX2" fmla="*/ 658430 w 658430"/>
              <a:gd name="connsiteY2" fmla="*/ 606313 h 606313"/>
              <a:gd name="connsiteX3" fmla="*/ 0 w 658430"/>
              <a:gd name="connsiteY3" fmla="*/ 606313 h 606313"/>
              <a:gd name="connsiteX4" fmla="*/ 0 w 658430"/>
              <a:gd name="connsiteY4" fmla="*/ 0 h 606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8430" h="606313">
                <a:moveTo>
                  <a:pt x="0" y="0"/>
                </a:moveTo>
                <a:lnTo>
                  <a:pt x="658430" y="0"/>
                </a:lnTo>
                <a:lnTo>
                  <a:pt x="658430" y="606313"/>
                </a:lnTo>
                <a:lnTo>
                  <a:pt x="0" y="6063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2390" tIns="48260" rIns="72390" bIns="48260" numCol="1" spcCol="1270" anchor="ctr" anchorCtr="0">
            <a:noAutofit/>
          </a:bodyPr>
          <a:lstStyle/>
          <a:p>
            <a:pPr lvl="0" algn="l" defTabSz="1689100">
              <a:lnSpc>
                <a:spcPct val="90000"/>
              </a:lnSpc>
              <a:spcBef>
                <a:spcPct val="0"/>
              </a:spcBef>
              <a:spcAft>
                <a:spcPct val="35000"/>
              </a:spcAft>
            </a:pPr>
            <a:endParaRPr lang="en-US" sz="3800" kern="1200" dirty="0"/>
          </a:p>
        </p:txBody>
      </p:sp>
      <p:sp>
        <p:nvSpPr>
          <p:cNvPr id="19" name="Rectangle 18"/>
          <p:cNvSpPr/>
          <p:nvPr/>
        </p:nvSpPr>
        <p:spPr>
          <a:xfrm>
            <a:off x="2012424" y="3010383"/>
            <a:ext cx="210751" cy="210751"/>
          </a:xfrm>
          <a:prstGeom prst="rect">
            <a:avLst/>
          </a:prstGeom>
          <a:noFill/>
          <a:ln>
            <a:solidFill>
              <a:srgbClr val="009BE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sp>
      <p:sp>
        <p:nvSpPr>
          <p:cNvPr id="20" name="Freeform 19"/>
          <p:cNvSpPr/>
          <p:nvPr/>
        </p:nvSpPr>
        <p:spPr>
          <a:xfrm>
            <a:off x="2213244" y="2870128"/>
            <a:ext cx="2668034" cy="491261"/>
          </a:xfrm>
          <a:custGeom>
            <a:avLst/>
            <a:gdLst>
              <a:gd name="connsiteX0" fmla="*/ 0 w 2668034"/>
              <a:gd name="connsiteY0" fmla="*/ 0 h 491261"/>
              <a:gd name="connsiteX1" fmla="*/ 2668034 w 2668034"/>
              <a:gd name="connsiteY1" fmla="*/ 0 h 491261"/>
              <a:gd name="connsiteX2" fmla="*/ 2668034 w 2668034"/>
              <a:gd name="connsiteY2" fmla="*/ 491261 h 491261"/>
              <a:gd name="connsiteX3" fmla="*/ 0 w 2668034"/>
              <a:gd name="connsiteY3" fmla="*/ 491261 h 491261"/>
              <a:gd name="connsiteX4" fmla="*/ 0 w 2668034"/>
              <a:gd name="connsiteY4" fmla="*/ 0 h 49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034" h="491261">
                <a:moveTo>
                  <a:pt x="0" y="0"/>
                </a:moveTo>
                <a:lnTo>
                  <a:pt x="2668034" y="0"/>
                </a:lnTo>
                <a:lnTo>
                  <a:pt x="2668034" y="491261"/>
                </a:lnTo>
                <a:lnTo>
                  <a:pt x="0" y="4912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n-US" sz="1200" kern="1200" dirty="0" smtClean="0"/>
              <a:t>Data about our customers</a:t>
            </a:r>
            <a:endParaRPr lang="en-US" sz="1200" kern="1200" dirty="0"/>
          </a:p>
        </p:txBody>
      </p:sp>
      <p:sp>
        <p:nvSpPr>
          <p:cNvPr id="21" name="Rectangle 20"/>
          <p:cNvSpPr/>
          <p:nvPr/>
        </p:nvSpPr>
        <p:spPr>
          <a:xfrm>
            <a:off x="2012424" y="3501645"/>
            <a:ext cx="210751" cy="210751"/>
          </a:xfrm>
          <a:prstGeom prst="rect">
            <a:avLst/>
          </a:prstGeom>
          <a:noFill/>
          <a:ln>
            <a:solidFill>
              <a:srgbClr val="009BE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sp>
      <p:sp>
        <p:nvSpPr>
          <p:cNvPr id="22" name="Freeform 21"/>
          <p:cNvSpPr/>
          <p:nvPr/>
        </p:nvSpPr>
        <p:spPr>
          <a:xfrm>
            <a:off x="2213244" y="3361389"/>
            <a:ext cx="2668034" cy="491261"/>
          </a:xfrm>
          <a:custGeom>
            <a:avLst/>
            <a:gdLst>
              <a:gd name="connsiteX0" fmla="*/ 0 w 2668034"/>
              <a:gd name="connsiteY0" fmla="*/ 0 h 491261"/>
              <a:gd name="connsiteX1" fmla="*/ 2668034 w 2668034"/>
              <a:gd name="connsiteY1" fmla="*/ 0 h 491261"/>
              <a:gd name="connsiteX2" fmla="*/ 2668034 w 2668034"/>
              <a:gd name="connsiteY2" fmla="*/ 491261 h 491261"/>
              <a:gd name="connsiteX3" fmla="*/ 0 w 2668034"/>
              <a:gd name="connsiteY3" fmla="*/ 491261 h 491261"/>
              <a:gd name="connsiteX4" fmla="*/ 0 w 2668034"/>
              <a:gd name="connsiteY4" fmla="*/ 0 h 49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034" h="491261">
                <a:moveTo>
                  <a:pt x="0" y="0"/>
                </a:moveTo>
                <a:lnTo>
                  <a:pt x="2668034" y="0"/>
                </a:lnTo>
                <a:lnTo>
                  <a:pt x="2668034" y="491261"/>
                </a:lnTo>
                <a:lnTo>
                  <a:pt x="0" y="4912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n-US" sz="1200" kern="1200" dirty="0" smtClean="0"/>
              <a:t>(Physical) touch points with our customers</a:t>
            </a:r>
            <a:endParaRPr lang="en-US" sz="1200" kern="1200" dirty="0"/>
          </a:p>
        </p:txBody>
      </p:sp>
      <p:sp>
        <p:nvSpPr>
          <p:cNvPr id="23" name="Rectangle 22"/>
          <p:cNvSpPr/>
          <p:nvPr/>
        </p:nvSpPr>
        <p:spPr>
          <a:xfrm>
            <a:off x="2012424" y="3992906"/>
            <a:ext cx="210751" cy="210751"/>
          </a:xfrm>
          <a:prstGeom prst="rect">
            <a:avLst/>
          </a:prstGeom>
          <a:noFill/>
          <a:ln>
            <a:solidFill>
              <a:srgbClr val="009BE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sp>
      <p:sp>
        <p:nvSpPr>
          <p:cNvPr id="24" name="Freeform 23"/>
          <p:cNvSpPr/>
          <p:nvPr/>
        </p:nvSpPr>
        <p:spPr>
          <a:xfrm>
            <a:off x="2213244" y="3852651"/>
            <a:ext cx="2668034" cy="491261"/>
          </a:xfrm>
          <a:custGeom>
            <a:avLst/>
            <a:gdLst>
              <a:gd name="connsiteX0" fmla="*/ 0 w 2668034"/>
              <a:gd name="connsiteY0" fmla="*/ 0 h 491261"/>
              <a:gd name="connsiteX1" fmla="*/ 2668034 w 2668034"/>
              <a:gd name="connsiteY1" fmla="*/ 0 h 491261"/>
              <a:gd name="connsiteX2" fmla="*/ 2668034 w 2668034"/>
              <a:gd name="connsiteY2" fmla="*/ 491261 h 491261"/>
              <a:gd name="connsiteX3" fmla="*/ 0 w 2668034"/>
              <a:gd name="connsiteY3" fmla="*/ 491261 h 491261"/>
              <a:gd name="connsiteX4" fmla="*/ 0 w 2668034"/>
              <a:gd name="connsiteY4" fmla="*/ 0 h 49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034" h="491261">
                <a:moveTo>
                  <a:pt x="0" y="0"/>
                </a:moveTo>
                <a:lnTo>
                  <a:pt x="2668034" y="0"/>
                </a:lnTo>
                <a:lnTo>
                  <a:pt x="2668034" y="491261"/>
                </a:lnTo>
                <a:lnTo>
                  <a:pt x="0" y="4912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n-US" sz="1200" kern="1200" dirty="0" smtClean="0"/>
              <a:t>Strong loyalty program</a:t>
            </a:r>
            <a:endParaRPr lang="en-US" sz="1200" kern="1200" dirty="0"/>
          </a:p>
        </p:txBody>
      </p:sp>
      <p:sp>
        <p:nvSpPr>
          <p:cNvPr id="25" name="Rectangle 24"/>
          <p:cNvSpPr/>
          <p:nvPr/>
        </p:nvSpPr>
        <p:spPr>
          <a:xfrm>
            <a:off x="2012424" y="4484168"/>
            <a:ext cx="210751" cy="210751"/>
          </a:xfrm>
          <a:prstGeom prst="rect">
            <a:avLst/>
          </a:prstGeom>
          <a:noFill/>
          <a:ln>
            <a:solidFill>
              <a:srgbClr val="009BE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sp>
      <p:sp>
        <p:nvSpPr>
          <p:cNvPr id="26" name="Freeform 25"/>
          <p:cNvSpPr/>
          <p:nvPr/>
        </p:nvSpPr>
        <p:spPr>
          <a:xfrm>
            <a:off x="2213244" y="4343912"/>
            <a:ext cx="2668034" cy="491261"/>
          </a:xfrm>
          <a:custGeom>
            <a:avLst/>
            <a:gdLst>
              <a:gd name="connsiteX0" fmla="*/ 0 w 2668034"/>
              <a:gd name="connsiteY0" fmla="*/ 0 h 491261"/>
              <a:gd name="connsiteX1" fmla="*/ 2668034 w 2668034"/>
              <a:gd name="connsiteY1" fmla="*/ 0 h 491261"/>
              <a:gd name="connsiteX2" fmla="*/ 2668034 w 2668034"/>
              <a:gd name="connsiteY2" fmla="*/ 491261 h 491261"/>
              <a:gd name="connsiteX3" fmla="*/ 0 w 2668034"/>
              <a:gd name="connsiteY3" fmla="*/ 491261 h 491261"/>
              <a:gd name="connsiteX4" fmla="*/ 0 w 2668034"/>
              <a:gd name="connsiteY4" fmla="*/ 0 h 49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034" h="491261">
                <a:moveTo>
                  <a:pt x="0" y="0"/>
                </a:moveTo>
                <a:lnTo>
                  <a:pt x="2668034" y="0"/>
                </a:lnTo>
                <a:lnTo>
                  <a:pt x="2668034" y="491261"/>
                </a:lnTo>
                <a:lnTo>
                  <a:pt x="0" y="4912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n-US" sz="1200" kern="1200" dirty="0" smtClean="0"/>
              <a:t>Social media skills and high number of active users</a:t>
            </a:r>
            <a:endParaRPr lang="en-US" sz="1200" kern="1200" dirty="0"/>
          </a:p>
        </p:txBody>
      </p:sp>
      <p:sp>
        <p:nvSpPr>
          <p:cNvPr id="27" name="Rectangle 26"/>
          <p:cNvSpPr/>
          <p:nvPr/>
        </p:nvSpPr>
        <p:spPr>
          <a:xfrm>
            <a:off x="2012424" y="4975429"/>
            <a:ext cx="210751" cy="210751"/>
          </a:xfrm>
          <a:prstGeom prst="rect">
            <a:avLst/>
          </a:prstGeom>
          <a:noFill/>
          <a:ln>
            <a:solidFill>
              <a:srgbClr val="009BE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sp>
      <p:sp>
        <p:nvSpPr>
          <p:cNvPr id="28" name="Freeform 27"/>
          <p:cNvSpPr/>
          <p:nvPr/>
        </p:nvSpPr>
        <p:spPr>
          <a:xfrm>
            <a:off x="2213244" y="4835174"/>
            <a:ext cx="2668034" cy="491261"/>
          </a:xfrm>
          <a:custGeom>
            <a:avLst/>
            <a:gdLst>
              <a:gd name="connsiteX0" fmla="*/ 0 w 2668034"/>
              <a:gd name="connsiteY0" fmla="*/ 0 h 491261"/>
              <a:gd name="connsiteX1" fmla="*/ 2668034 w 2668034"/>
              <a:gd name="connsiteY1" fmla="*/ 0 h 491261"/>
              <a:gd name="connsiteX2" fmla="*/ 2668034 w 2668034"/>
              <a:gd name="connsiteY2" fmla="*/ 491261 h 491261"/>
              <a:gd name="connsiteX3" fmla="*/ 0 w 2668034"/>
              <a:gd name="connsiteY3" fmla="*/ 491261 h 491261"/>
              <a:gd name="connsiteX4" fmla="*/ 0 w 2668034"/>
              <a:gd name="connsiteY4" fmla="*/ 0 h 49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034" h="491261">
                <a:moveTo>
                  <a:pt x="0" y="0"/>
                </a:moveTo>
                <a:lnTo>
                  <a:pt x="2668034" y="0"/>
                </a:lnTo>
                <a:lnTo>
                  <a:pt x="2668034" y="491261"/>
                </a:lnTo>
                <a:lnTo>
                  <a:pt x="0" y="4912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n-US" sz="1200" kern="1200" dirty="0" smtClean="0"/>
              <a:t>Strong pricing &amp; inventory skills</a:t>
            </a:r>
            <a:endParaRPr lang="en-US" sz="1200" kern="1200" dirty="0"/>
          </a:p>
        </p:txBody>
      </p:sp>
      <p:sp>
        <p:nvSpPr>
          <p:cNvPr id="29" name="Rectangle 28"/>
          <p:cNvSpPr/>
          <p:nvPr/>
        </p:nvSpPr>
        <p:spPr>
          <a:xfrm>
            <a:off x="2012424" y="5466691"/>
            <a:ext cx="210751" cy="210751"/>
          </a:xfrm>
          <a:prstGeom prst="rect">
            <a:avLst/>
          </a:prstGeom>
          <a:noFill/>
          <a:ln>
            <a:solidFill>
              <a:srgbClr val="009BE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sp>
      <p:sp>
        <p:nvSpPr>
          <p:cNvPr id="30" name="Freeform 29"/>
          <p:cNvSpPr/>
          <p:nvPr/>
        </p:nvSpPr>
        <p:spPr>
          <a:xfrm>
            <a:off x="2213244" y="5326435"/>
            <a:ext cx="2668034" cy="491261"/>
          </a:xfrm>
          <a:custGeom>
            <a:avLst/>
            <a:gdLst>
              <a:gd name="connsiteX0" fmla="*/ 0 w 2668034"/>
              <a:gd name="connsiteY0" fmla="*/ 0 h 491261"/>
              <a:gd name="connsiteX1" fmla="*/ 2668034 w 2668034"/>
              <a:gd name="connsiteY1" fmla="*/ 0 h 491261"/>
              <a:gd name="connsiteX2" fmla="*/ 2668034 w 2668034"/>
              <a:gd name="connsiteY2" fmla="*/ 491261 h 491261"/>
              <a:gd name="connsiteX3" fmla="*/ 0 w 2668034"/>
              <a:gd name="connsiteY3" fmla="*/ 491261 h 491261"/>
              <a:gd name="connsiteX4" fmla="*/ 0 w 2668034"/>
              <a:gd name="connsiteY4" fmla="*/ 0 h 49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034" h="491261">
                <a:moveTo>
                  <a:pt x="0" y="0"/>
                </a:moveTo>
                <a:lnTo>
                  <a:pt x="2668034" y="0"/>
                </a:lnTo>
                <a:lnTo>
                  <a:pt x="2668034" y="491261"/>
                </a:lnTo>
                <a:lnTo>
                  <a:pt x="0" y="4912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n-US" sz="1200" kern="1200" dirty="0" smtClean="0"/>
              <a:t>Strong electronic and physical  distribution capabilities</a:t>
            </a:r>
            <a:endParaRPr lang="en-US" sz="1200" kern="1200" dirty="0"/>
          </a:p>
        </p:txBody>
      </p:sp>
      <p:sp>
        <p:nvSpPr>
          <p:cNvPr id="31" name="Rectangle 30"/>
          <p:cNvSpPr/>
          <p:nvPr/>
        </p:nvSpPr>
        <p:spPr>
          <a:xfrm>
            <a:off x="2012424" y="5957952"/>
            <a:ext cx="210751" cy="210751"/>
          </a:xfrm>
          <a:prstGeom prst="rect">
            <a:avLst/>
          </a:prstGeom>
          <a:noFill/>
          <a:ln>
            <a:solidFill>
              <a:srgbClr val="009BE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sp>
      <p:sp>
        <p:nvSpPr>
          <p:cNvPr id="351232" name="Freeform 351231"/>
          <p:cNvSpPr/>
          <p:nvPr/>
        </p:nvSpPr>
        <p:spPr>
          <a:xfrm>
            <a:off x="2213244" y="5817697"/>
            <a:ext cx="2668034" cy="491261"/>
          </a:xfrm>
          <a:custGeom>
            <a:avLst/>
            <a:gdLst>
              <a:gd name="connsiteX0" fmla="*/ 0 w 2668034"/>
              <a:gd name="connsiteY0" fmla="*/ 0 h 491261"/>
              <a:gd name="connsiteX1" fmla="*/ 2668034 w 2668034"/>
              <a:gd name="connsiteY1" fmla="*/ 0 h 491261"/>
              <a:gd name="connsiteX2" fmla="*/ 2668034 w 2668034"/>
              <a:gd name="connsiteY2" fmla="*/ 491261 h 491261"/>
              <a:gd name="connsiteX3" fmla="*/ 0 w 2668034"/>
              <a:gd name="connsiteY3" fmla="*/ 491261 h 491261"/>
              <a:gd name="connsiteX4" fmla="*/ 0 w 2668034"/>
              <a:gd name="connsiteY4" fmla="*/ 0 h 49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034" h="491261">
                <a:moveTo>
                  <a:pt x="0" y="0"/>
                </a:moveTo>
                <a:lnTo>
                  <a:pt x="2668034" y="0"/>
                </a:lnTo>
                <a:lnTo>
                  <a:pt x="2668034" y="491261"/>
                </a:lnTo>
                <a:lnTo>
                  <a:pt x="0" y="4912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n-US" sz="1200" kern="1200" dirty="0" smtClean="0"/>
              <a:t>Strong brands</a:t>
            </a:r>
            <a:endParaRPr lang="en-US" sz="1200" kern="1200" dirty="0"/>
          </a:p>
        </p:txBody>
      </p:sp>
      <p:sp>
        <p:nvSpPr>
          <p:cNvPr id="351233" name="Rectangle 351232"/>
          <p:cNvSpPr/>
          <p:nvPr/>
        </p:nvSpPr>
        <p:spPr>
          <a:xfrm>
            <a:off x="5024721" y="2392360"/>
            <a:ext cx="2868854" cy="337512"/>
          </a:xfrm>
          <a:prstGeom prst="rect">
            <a:avLst/>
          </a:prstGeom>
          <a:solidFill>
            <a:srgbClr val="009BE1"/>
          </a:solidFill>
          <a:ln>
            <a:solidFill>
              <a:srgbClr val="009BE1"/>
            </a:solidFill>
          </a:ln>
        </p:spPr>
        <p:style>
          <a:lnRef idx="2">
            <a:scrgbClr r="0" g="0" b="0"/>
          </a:lnRef>
          <a:fillRef idx="1">
            <a:scrgbClr r="0" g="0" b="0"/>
          </a:fillRef>
          <a:effectRef idx="0">
            <a:schemeClr val="accent1">
              <a:hueOff val="0"/>
              <a:satOff val="0"/>
              <a:lumOff val="0"/>
              <a:alphaOff val="0"/>
            </a:schemeClr>
          </a:effectRef>
          <a:fontRef idx="minor">
            <a:schemeClr val="lt1"/>
          </a:fontRef>
        </p:style>
      </p:sp>
      <p:sp>
        <p:nvSpPr>
          <p:cNvPr id="351234" name="Rectangle 351233"/>
          <p:cNvSpPr/>
          <p:nvPr/>
        </p:nvSpPr>
        <p:spPr>
          <a:xfrm>
            <a:off x="5024721" y="2519116"/>
            <a:ext cx="210756" cy="210756"/>
          </a:xfrm>
          <a:prstGeom prst="rect">
            <a:avLst/>
          </a:prstGeom>
          <a:no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sp>
      <p:sp>
        <p:nvSpPr>
          <p:cNvPr id="351235" name="Freeform 351234"/>
          <p:cNvSpPr/>
          <p:nvPr/>
        </p:nvSpPr>
        <p:spPr>
          <a:xfrm>
            <a:off x="5024721" y="1786047"/>
            <a:ext cx="2868854" cy="606313"/>
          </a:xfrm>
          <a:custGeom>
            <a:avLst/>
            <a:gdLst>
              <a:gd name="connsiteX0" fmla="*/ 0 w 2868854"/>
              <a:gd name="connsiteY0" fmla="*/ 0 h 606313"/>
              <a:gd name="connsiteX1" fmla="*/ 2868854 w 2868854"/>
              <a:gd name="connsiteY1" fmla="*/ 0 h 606313"/>
              <a:gd name="connsiteX2" fmla="*/ 2868854 w 2868854"/>
              <a:gd name="connsiteY2" fmla="*/ 606313 h 606313"/>
              <a:gd name="connsiteX3" fmla="*/ 0 w 2868854"/>
              <a:gd name="connsiteY3" fmla="*/ 606313 h 606313"/>
              <a:gd name="connsiteX4" fmla="*/ 0 w 2868854"/>
              <a:gd name="connsiteY4" fmla="*/ 0 h 606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8854" h="606313">
                <a:moveTo>
                  <a:pt x="0" y="0"/>
                </a:moveTo>
                <a:lnTo>
                  <a:pt x="2868854" y="0"/>
                </a:lnTo>
                <a:lnTo>
                  <a:pt x="2868854" y="606313"/>
                </a:lnTo>
                <a:lnTo>
                  <a:pt x="0" y="606313"/>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2390" tIns="48260" rIns="72390" bIns="48260" numCol="1" spcCol="1270" anchor="ctr" anchorCtr="0">
            <a:noAutofit/>
          </a:bodyPr>
          <a:lstStyle/>
          <a:p>
            <a:pPr lvl="0" algn="r" defTabSz="1689100">
              <a:lnSpc>
                <a:spcPct val="90000"/>
              </a:lnSpc>
              <a:spcBef>
                <a:spcPct val="0"/>
              </a:spcBef>
              <a:spcAft>
                <a:spcPct val="35000"/>
              </a:spcAft>
            </a:pPr>
            <a:endParaRPr lang="en-US" sz="3800" kern="1200" dirty="0"/>
          </a:p>
        </p:txBody>
      </p:sp>
      <p:sp>
        <p:nvSpPr>
          <p:cNvPr id="351236" name="Rectangle 351235"/>
          <p:cNvSpPr/>
          <p:nvPr/>
        </p:nvSpPr>
        <p:spPr>
          <a:xfrm>
            <a:off x="5024721" y="3010383"/>
            <a:ext cx="210751" cy="210751"/>
          </a:xfrm>
          <a:prstGeom prst="rect">
            <a:avLst/>
          </a:prstGeom>
          <a:ln>
            <a:solidFill>
              <a:srgbClr val="009BE1"/>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51237" name="Freeform 351236"/>
          <p:cNvSpPr/>
          <p:nvPr/>
        </p:nvSpPr>
        <p:spPr>
          <a:xfrm>
            <a:off x="5225541" y="2870128"/>
            <a:ext cx="2668034" cy="491261"/>
          </a:xfrm>
          <a:custGeom>
            <a:avLst/>
            <a:gdLst>
              <a:gd name="connsiteX0" fmla="*/ 0 w 2668034"/>
              <a:gd name="connsiteY0" fmla="*/ 0 h 491261"/>
              <a:gd name="connsiteX1" fmla="*/ 2668034 w 2668034"/>
              <a:gd name="connsiteY1" fmla="*/ 0 h 491261"/>
              <a:gd name="connsiteX2" fmla="*/ 2668034 w 2668034"/>
              <a:gd name="connsiteY2" fmla="*/ 491261 h 491261"/>
              <a:gd name="connsiteX3" fmla="*/ 0 w 2668034"/>
              <a:gd name="connsiteY3" fmla="*/ 491261 h 491261"/>
              <a:gd name="connsiteX4" fmla="*/ 0 w 2668034"/>
              <a:gd name="connsiteY4" fmla="*/ 0 h 49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034" h="491261">
                <a:moveTo>
                  <a:pt x="0" y="0"/>
                </a:moveTo>
                <a:lnTo>
                  <a:pt x="2668034" y="0"/>
                </a:lnTo>
                <a:lnTo>
                  <a:pt x="2668034" y="491261"/>
                </a:lnTo>
                <a:lnTo>
                  <a:pt x="0" y="4912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n-US" sz="1200" kern="1200" dirty="0" smtClean="0"/>
              <a:t>Customer centric organization</a:t>
            </a:r>
            <a:endParaRPr lang="en-US" sz="1200" kern="1200" dirty="0"/>
          </a:p>
        </p:txBody>
      </p:sp>
      <p:sp>
        <p:nvSpPr>
          <p:cNvPr id="351238" name="Rectangle 351237"/>
          <p:cNvSpPr/>
          <p:nvPr/>
        </p:nvSpPr>
        <p:spPr>
          <a:xfrm>
            <a:off x="5024721" y="3501645"/>
            <a:ext cx="210751" cy="210751"/>
          </a:xfrm>
          <a:prstGeom prst="rect">
            <a:avLst/>
          </a:prstGeom>
          <a:ln>
            <a:solidFill>
              <a:srgbClr val="009BE1"/>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51239" name="Freeform 351238"/>
          <p:cNvSpPr/>
          <p:nvPr/>
        </p:nvSpPr>
        <p:spPr>
          <a:xfrm>
            <a:off x="5225541" y="3361389"/>
            <a:ext cx="2668034" cy="491261"/>
          </a:xfrm>
          <a:custGeom>
            <a:avLst/>
            <a:gdLst>
              <a:gd name="connsiteX0" fmla="*/ 0 w 2668034"/>
              <a:gd name="connsiteY0" fmla="*/ 0 h 491261"/>
              <a:gd name="connsiteX1" fmla="*/ 2668034 w 2668034"/>
              <a:gd name="connsiteY1" fmla="*/ 0 h 491261"/>
              <a:gd name="connsiteX2" fmla="*/ 2668034 w 2668034"/>
              <a:gd name="connsiteY2" fmla="*/ 491261 h 491261"/>
              <a:gd name="connsiteX3" fmla="*/ 0 w 2668034"/>
              <a:gd name="connsiteY3" fmla="*/ 491261 h 491261"/>
              <a:gd name="connsiteX4" fmla="*/ 0 w 2668034"/>
              <a:gd name="connsiteY4" fmla="*/ 0 h 49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034" h="491261">
                <a:moveTo>
                  <a:pt x="0" y="0"/>
                </a:moveTo>
                <a:lnTo>
                  <a:pt x="2668034" y="0"/>
                </a:lnTo>
                <a:lnTo>
                  <a:pt x="2668034" y="491261"/>
                </a:lnTo>
                <a:lnTo>
                  <a:pt x="0" y="4912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n-US" sz="1200" kern="1200" dirty="0" smtClean="0"/>
              <a:t>Optimized retail offering to customers</a:t>
            </a:r>
            <a:endParaRPr lang="en-US" sz="1200" kern="1200" dirty="0"/>
          </a:p>
        </p:txBody>
      </p:sp>
      <p:sp>
        <p:nvSpPr>
          <p:cNvPr id="351241" name="Rectangle 351240"/>
          <p:cNvSpPr/>
          <p:nvPr/>
        </p:nvSpPr>
        <p:spPr>
          <a:xfrm>
            <a:off x="5024721" y="3992906"/>
            <a:ext cx="210751" cy="210751"/>
          </a:xfrm>
          <a:prstGeom prst="rect">
            <a:avLst/>
          </a:prstGeom>
          <a:ln>
            <a:solidFill>
              <a:srgbClr val="009BE1"/>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51242" name="Freeform 351241"/>
          <p:cNvSpPr/>
          <p:nvPr/>
        </p:nvSpPr>
        <p:spPr>
          <a:xfrm>
            <a:off x="5225541" y="3852651"/>
            <a:ext cx="2668034" cy="491261"/>
          </a:xfrm>
          <a:custGeom>
            <a:avLst/>
            <a:gdLst>
              <a:gd name="connsiteX0" fmla="*/ 0 w 2668034"/>
              <a:gd name="connsiteY0" fmla="*/ 0 h 491261"/>
              <a:gd name="connsiteX1" fmla="*/ 2668034 w 2668034"/>
              <a:gd name="connsiteY1" fmla="*/ 0 h 491261"/>
              <a:gd name="connsiteX2" fmla="*/ 2668034 w 2668034"/>
              <a:gd name="connsiteY2" fmla="*/ 491261 h 491261"/>
              <a:gd name="connsiteX3" fmla="*/ 0 w 2668034"/>
              <a:gd name="connsiteY3" fmla="*/ 491261 h 491261"/>
              <a:gd name="connsiteX4" fmla="*/ 0 w 2668034"/>
              <a:gd name="connsiteY4" fmla="*/ 0 h 49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034" h="491261">
                <a:moveTo>
                  <a:pt x="0" y="0"/>
                </a:moveTo>
                <a:lnTo>
                  <a:pt x="2668034" y="0"/>
                </a:lnTo>
                <a:lnTo>
                  <a:pt x="2668034" y="491261"/>
                </a:lnTo>
                <a:lnTo>
                  <a:pt x="0" y="4912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n-US" sz="1200" kern="1200" dirty="0" smtClean="0"/>
              <a:t>Hardcore retailing skills</a:t>
            </a:r>
            <a:endParaRPr lang="en-US" sz="1200" kern="1200" dirty="0"/>
          </a:p>
        </p:txBody>
      </p:sp>
      <p:sp>
        <p:nvSpPr>
          <p:cNvPr id="351243" name="Rectangle 351242"/>
          <p:cNvSpPr/>
          <p:nvPr/>
        </p:nvSpPr>
        <p:spPr>
          <a:xfrm>
            <a:off x="5024721" y="4484168"/>
            <a:ext cx="210751" cy="210751"/>
          </a:xfrm>
          <a:prstGeom prst="rect">
            <a:avLst/>
          </a:prstGeom>
          <a:ln>
            <a:solidFill>
              <a:srgbClr val="009BE1"/>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51244" name="Freeform 351243"/>
          <p:cNvSpPr/>
          <p:nvPr/>
        </p:nvSpPr>
        <p:spPr>
          <a:xfrm>
            <a:off x="5225541" y="4343912"/>
            <a:ext cx="2668034" cy="491261"/>
          </a:xfrm>
          <a:custGeom>
            <a:avLst/>
            <a:gdLst>
              <a:gd name="connsiteX0" fmla="*/ 0 w 2668034"/>
              <a:gd name="connsiteY0" fmla="*/ 0 h 491261"/>
              <a:gd name="connsiteX1" fmla="*/ 2668034 w 2668034"/>
              <a:gd name="connsiteY1" fmla="*/ 0 h 491261"/>
              <a:gd name="connsiteX2" fmla="*/ 2668034 w 2668034"/>
              <a:gd name="connsiteY2" fmla="*/ 491261 h 491261"/>
              <a:gd name="connsiteX3" fmla="*/ 0 w 2668034"/>
              <a:gd name="connsiteY3" fmla="*/ 491261 h 491261"/>
              <a:gd name="connsiteX4" fmla="*/ 0 w 2668034"/>
              <a:gd name="connsiteY4" fmla="*/ 0 h 49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034" h="491261">
                <a:moveTo>
                  <a:pt x="0" y="0"/>
                </a:moveTo>
                <a:lnTo>
                  <a:pt x="2668034" y="0"/>
                </a:lnTo>
                <a:lnTo>
                  <a:pt x="2668034" y="491261"/>
                </a:lnTo>
                <a:lnTo>
                  <a:pt x="0" y="4912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n-US" sz="1200" dirty="0" smtClean="0"/>
              <a:t>Big Data capabilities</a:t>
            </a:r>
            <a:endParaRPr lang="en-US" sz="1200" kern="1200" dirty="0"/>
          </a:p>
        </p:txBody>
      </p:sp>
      <p:grpSp>
        <p:nvGrpSpPr>
          <p:cNvPr id="351248" name="Group 351247"/>
          <p:cNvGrpSpPr/>
          <p:nvPr/>
        </p:nvGrpSpPr>
        <p:grpSpPr>
          <a:xfrm>
            <a:off x="5024721" y="4835174"/>
            <a:ext cx="2868854" cy="491261"/>
            <a:chOff x="5024721" y="4835174"/>
            <a:chExt cx="2868854" cy="491261"/>
          </a:xfrm>
        </p:grpSpPr>
        <p:sp>
          <p:nvSpPr>
            <p:cNvPr id="351245" name="Rectangle 351244"/>
            <p:cNvSpPr/>
            <p:nvPr/>
          </p:nvSpPr>
          <p:spPr>
            <a:xfrm>
              <a:off x="5024721" y="4975429"/>
              <a:ext cx="210751" cy="210751"/>
            </a:xfrm>
            <a:prstGeom prst="rect">
              <a:avLst/>
            </a:prstGeom>
            <a:noFill/>
            <a:ln>
              <a:solidFill>
                <a:srgbClr val="009BE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sp>
        <p:sp>
          <p:nvSpPr>
            <p:cNvPr id="351246" name="Freeform 351245"/>
            <p:cNvSpPr/>
            <p:nvPr/>
          </p:nvSpPr>
          <p:spPr>
            <a:xfrm>
              <a:off x="5225541" y="4835174"/>
              <a:ext cx="2668034" cy="491261"/>
            </a:xfrm>
            <a:custGeom>
              <a:avLst/>
              <a:gdLst>
                <a:gd name="connsiteX0" fmla="*/ 0 w 2668034"/>
                <a:gd name="connsiteY0" fmla="*/ 0 h 491261"/>
                <a:gd name="connsiteX1" fmla="*/ 2668034 w 2668034"/>
                <a:gd name="connsiteY1" fmla="*/ 0 h 491261"/>
                <a:gd name="connsiteX2" fmla="*/ 2668034 w 2668034"/>
                <a:gd name="connsiteY2" fmla="*/ 491261 h 491261"/>
                <a:gd name="connsiteX3" fmla="*/ 0 w 2668034"/>
                <a:gd name="connsiteY3" fmla="*/ 491261 h 491261"/>
                <a:gd name="connsiteX4" fmla="*/ 0 w 2668034"/>
                <a:gd name="connsiteY4" fmla="*/ 0 h 49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034" h="491261">
                  <a:moveTo>
                    <a:pt x="0" y="0"/>
                  </a:moveTo>
                  <a:lnTo>
                    <a:pt x="2668034" y="0"/>
                  </a:lnTo>
                  <a:lnTo>
                    <a:pt x="2668034" y="491261"/>
                  </a:lnTo>
                  <a:lnTo>
                    <a:pt x="0" y="4912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n-US" sz="1200" kern="1200" dirty="0" smtClean="0"/>
                <a:t>More mobile capabilities</a:t>
              </a:r>
              <a:endParaRPr lang="en-US" sz="1200" kern="1200" dirty="0"/>
            </a:p>
          </p:txBody>
        </p:sp>
      </p:grpSp>
      <p:sp>
        <p:nvSpPr>
          <p:cNvPr id="3" name="TextBox 2"/>
          <p:cNvSpPr txBox="1"/>
          <p:nvPr/>
        </p:nvSpPr>
        <p:spPr>
          <a:xfrm>
            <a:off x="2117799" y="2392578"/>
            <a:ext cx="2647648" cy="338554"/>
          </a:xfrm>
          <a:prstGeom prst="rect">
            <a:avLst/>
          </a:prstGeom>
          <a:noFill/>
        </p:spPr>
        <p:txBody>
          <a:bodyPr wrap="none" rtlCol="0">
            <a:spAutoFit/>
          </a:bodyPr>
          <a:lstStyle/>
          <a:p>
            <a:r>
              <a:rPr lang="en-US" sz="1600" b="1" dirty="0" smtClean="0">
                <a:solidFill>
                  <a:schemeClr val="bg1"/>
                </a:solidFill>
              </a:rPr>
              <a:t>CURRENT CAPABILITIES</a:t>
            </a:r>
            <a:endParaRPr lang="en-US" sz="1600" b="1" dirty="0">
              <a:solidFill>
                <a:schemeClr val="bg1"/>
              </a:solidFill>
            </a:endParaRPr>
          </a:p>
        </p:txBody>
      </p:sp>
      <p:sp>
        <p:nvSpPr>
          <p:cNvPr id="7" name="TextBox 6"/>
          <p:cNvSpPr txBox="1"/>
          <p:nvPr/>
        </p:nvSpPr>
        <p:spPr>
          <a:xfrm>
            <a:off x="4976082" y="2392578"/>
            <a:ext cx="2966132" cy="338554"/>
          </a:xfrm>
          <a:prstGeom prst="rect">
            <a:avLst/>
          </a:prstGeom>
          <a:noFill/>
        </p:spPr>
        <p:txBody>
          <a:bodyPr wrap="none" rtlCol="0">
            <a:spAutoFit/>
          </a:bodyPr>
          <a:lstStyle/>
          <a:p>
            <a:pPr algn="ctr"/>
            <a:r>
              <a:rPr lang="en-US" sz="1600" b="1" dirty="0" smtClean="0">
                <a:solidFill>
                  <a:schemeClr val="bg1"/>
                </a:solidFill>
              </a:rPr>
              <a:t>CAPABILITIES TO DEVELOP</a:t>
            </a:r>
            <a:endParaRPr lang="en-US" sz="1600" b="1" dirty="0">
              <a:solidFill>
                <a:schemeClr val="bg1"/>
              </a:solidFill>
            </a:endParaRPr>
          </a:p>
        </p:txBody>
      </p:sp>
      <p:pic>
        <p:nvPicPr>
          <p:cNvPr id="351240" name="Picture 8" descr="https://encrypted-tbn1.gstatic.com/images?q=tbn:ANd9GcRBF8RfvlXFEczhelNm6x5qAEQLw5ro02q70wc5zIcS1lQuIAsD6rwDrTA">
            <a:hlinkClick r:id="rId3"/>
          </p:cNvPr>
          <p:cNvPicPr>
            <a:picLocks noChangeAspect="1" noChangeArrowheads="1"/>
          </p:cNvPicPr>
          <p:nvPr/>
        </p:nvPicPr>
        <p:blipFill>
          <a:blip r:embed="rId4" cstate="email">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a:ext>
            </a:extLst>
          </a:blip>
          <a:srcRect/>
          <a:stretch>
            <a:fillRect/>
          </a:stretch>
        </p:blipFill>
        <p:spPr bwMode="auto">
          <a:xfrm>
            <a:off x="2007950" y="2855022"/>
            <a:ext cx="477936" cy="42483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https://encrypted-tbn1.gstatic.com/images?q=tbn:ANd9GcRBF8RfvlXFEczhelNm6x5qAEQLw5ro02q70wc5zIcS1lQuIAsD6rwDrTA">
            <a:hlinkClick r:id="rId3"/>
          </p:cNvPr>
          <p:cNvPicPr>
            <a:picLocks noChangeAspect="1" noChangeArrowheads="1"/>
          </p:cNvPicPr>
          <p:nvPr/>
        </p:nvPicPr>
        <p:blipFill>
          <a:blip r:embed="rId4" cstate="email">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a:ext>
            </a:extLst>
          </a:blip>
          <a:srcRect/>
          <a:stretch>
            <a:fillRect/>
          </a:stretch>
        </p:blipFill>
        <p:spPr bwMode="auto">
          <a:xfrm>
            <a:off x="1980370" y="3343852"/>
            <a:ext cx="477936" cy="4248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descr="https://encrypted-tbn1.gstatic.com/images?q=tbn:ANd9GcRBF8RfvlXFEczhelNm6x5qAEQLw5ro02q70wc5zIcS1lQuIAsD6rwDrTA">
            <a:hlinkClick r:id="rId3"/>
          </p:cNvPr>
          <p:cNvPicPr>
            <a:picLocks noChangeAspect="1" noChangeArrowheads="1"/>
          </p:cNvPicPr>
          <p:nvPr/>
        </p:nvPicPr>
        <p:blipFill>
          <a:blip r:embed="rId4" cstate="email">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a:ext>
            </a:extLst>
          </a:blip>
          <a:srcRect/>
          <a:stretch>
            <a:fillRect/>
          </a:stretch>
        </p:blipFill>
        <p:spPr bwMode="auto">
          <a:xfrm>
            <a:off x="1980370" y="3844184"/>
            <a:ext cx="477936" cy="42483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https://encrypted-tbn1.gstatic.com/images?q=tbn:ANd9GcRBF8RfvlXFEczhelNm6x5qAEQLw5ro02q70wc5zIcS1lQuIAsD6rwDrTA">
            <a:hlinkClick r:id="rId3"/>
          </p:cNvPr>
          <p:cNvPicPr>
            <a:picLocks noChangeAspect="1" noChangeArrowheads="1"/>
          </p:cNvPicPr>
          <p:nvPr/>
        </p:nvPicPr>
        <p:blipFill>
          <a:blip r:embed="rId4" cstate="email">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a:ext>
            </a:extLst>
          </a:blip>
          <a:srcRect/>
          <a:stretch>
            <a:fillRect/>
          </a:stretch>
        </p:blipFill>
        <p:spPr bwMode="auto">
          <a:xfrm>
            <a:off x="1980370" y="4335890"/>
            <a:ext cx="477936" cy="42483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https://encrypted-tbn1.gstatic.com/images?q=tbn:ANd9GcRBF8RfvlXFEczhelNm6x5qAEQLw5ro02q70wc5zIcS1lQuIAsD6rwDrTA">
            <a:hlinkClick r:id="rId3"/>
          </p:cNvPr>
          <p:cNvPicPr>
            <a:picLocks noChangeAspect="1" noChangeArrowheads="1"/>
          </p:cNvPicPr>
          <p:nvPr/>
        </p:nvPicPr>
        <p:blipFill>
          <a:blip r:embed="rId4" cstate="email">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a:ext>
            </a:extLst>
          </a:blip>
          <a:srcRect/>
          <a:stretch>
            <a:fillRect/>
          </a:stretch>
        </p:blipFill>
        <p:spPr bwMode="auto">
          <a:xfrm>
            <a:off x="1980370" y="4836222"/>
            <a:ext cx="477936" cy="42483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https://encrypted-tbn1.gstatic.com/images?q=tbn:ANd9GcRBF8RfvlXFEczhelNm6x5qAEQLw5ro02q70wc5zIcS1lQuIAsD6rwDrTA">
            <a:hlinkClick r:id="rId3"/>
          </p:cNvPr>
          <p:cNvPicPr>
            <a:picLocks noChangeAspect="1" noChangeArrowheads="1"/>
          </p:cNvPicPr>
          <p:nvPr/>
        </p:nvPicPr>
        <p:blipFill>
          <a:blip r:embed="rId4" cstate="email">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a:ext>
            </a:extLst>
          </a:blip>
          <a:srcRect/>
          <a:stretch>
            <a:fillRect/>
          </a:stretch>
        </p:blipFill>
        <p:spPr bwMode="auto">
          <a:xfrm>
            <a:off x="1980370" y="5327928"/>
            <a:ext cx="477936" cy="42483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https://encrypted-tbn1.gstatic.com/images?q=tbn:ANd9GcRBF8RfvlXFEczhelNm6x5qAEQLw5ro02q70wc5zIcS1lQuIAsD6rwDrTA">
            <a:hlinkClick r:id="rId3"/>
          </p:cNvPr>
          <p:cNvPicPr>
            <a:picLocks noChangeAspect="1" noChangeArrowheads="1"/>
          </p:cNvPicPr>
          <p:nvPr/>
        </p:nvPicPr>
        <p:blipFill>
          <a:blip r:embed="rId4" cstate="email">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a:ext>
            </a:extLst>
          </a:blip>
          <a:srcRect/>
          <a:stretch>
            <a:fillRect/>
          </a:stretch>
        </p:blipFill>
        <p:spPr bwMode="auto">
          <a:xfrm>
            <a:off x="1980370" y="5809074"/>
            <a:ext cx="477936" cy="424832"/>
          </a:xfrm>
          <a:prstGeom prst="rect">
            <a:avLst/>
          </a:prstGeom>
          <a:noFill/>
          <a:extLst>
            <a:ext uri="{909E8E84-426E-40DD-AFC4-6F175D3DCCD1}">
              <a14:hiddenFill xmlns:a14="http://schemas.microsoft.com/office/drawing/2010/main">
                <a:solidFill>
                  <a:srgbClr val="FFFFFF"/>
                </a:solidFill>
              </a14:hiddenFill>
            </a:ext>
          </a:extLst>
        </p:spPr>
      </p:pic>
      <p:grpSp>
        <p:nvGrpSpPr>
          <p:cNvPr id="55" name="Group 54"/>
          <p:cNvGrpSpPr/>
          <p:nvPr/>
        </p:nvGrpSpPr>
        <p:grpSpPr>
          <a:xfrm>
            <a:off x="5024721" y="5317813"/>
            <a:ext cx="2868854" cy="491261"/>
            <a:chOff x="5024721" y="4835174"/>
            <a:chExt cx="2868854" cy="491261"/>
          </a:xfrm>
        </p:grpSpPr>
        <p:sp>
          <p:nvSpPr>
            <p:cNvPr id="56" name="Rectangle 55"/>
            <p:cNvSpPr/>
            <p:nvPr/>
          </p:nvSpPr>
          <p:spPr>
            <a:xfrm>
              <a:off x="5024721" y="4975429"/>
              <a:ext cx="210751" cy="210751"/>
            </a:xfrm>
            <a:prstGeom prst="rect">
              <a:avLst/>
            </a:prstGeom>
            <a:noFill/>
            <a:ln>
              <a:solidFill>
                <a:srgbClr val="009BE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sp>
        <p:sp>
          <p:nvSpPr>
            <p:cNvPr id="57" name="Freeform 56"/>
            <p:cNvSpPr/>
            <p:nvPr/>
          </p:nvSpPr>
          <p:spPr>
            <a:xfrm>
              <a:off x="5225541" y="4835174"/>
              <a:ext cx="2668034" cy="491261"/>
            </a:xfrm>
            <a:custGeom>
              <a:avLst/>
              <a:gdLst>
                <a:gd name="connsiteX0" fmla="*/ 0 w 2668034"/>
                <a:gd name="connsiteY0" fmla="*/ 0 h 491261"/>
                <a:gd name="connsiteX1" fmla="*/ 2668034 w 2668034"/>
                <a:gd name="connsiteY1" fmla="*/ 0 h 491261"/>
                <a:gd name="connsiteX2" fmla="*/ 2668034 w 2668034"/>
                <a:gd name="connsiteY2" fmla="*/ 491261 h 491261"/>
                <a:gd name="connsiteX3" fmla="*/ 0 w 2668034"/>
                <a:gd name="connsiteY3" fmla="*/ 491261 h 491261"/>
                <a:gd name="connsiteX4" fmla="*/ 0 w 2668034"/>
                <a:gd name="connsiteY4" fmla="*/ 0 h 4912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8034" h="491261">
                  <a:moveTo>
                    <a:pt x="0" y="0"/>
                  </a:moveTo>
                  <a:lnTo>
                    <a:pt x="2668034" y="0"/>
                  </a:lnTo>
                  <a:lnTo>
                    <a:pt x="2668034" y="491261"/>
                  </a:lnTo>
                  <a:lnTo>
                    <a:pt x="0" y="49126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85344" tIns="85344" rIns="85344" bIns="85344" numCol="1" spcCol="1270" anchor="ctr" anchorCtr="0">
              <a:noAutofit/>
            </a:bodyPr>
            <a:lstStyle/>
            <a:p>
              <a:pPr lvl="0" algn="l" defTabSz="533400">
                <a:lnSpc>
                  <a:spcPct val="90000"/>
                </a:lnSpc>
                <a:spcBef>
                  <a:spcPct val="0"/>
                </a:spcBef>
                <a:spcAft>
                  <a:spcPct val="35000"/>
                </a:spcAft>
              </a:pPr>
              <a:r>
                <a:rPr lang="en-US" sz="1200" dirty="0" smtClean="0"/>
                <a:t>Appropriate </a:t>
              </a:r>
              <a:r>
                <a:rPr lang="en-US" sz="1200" kern="1200" dirty="0" smtClean="0"/>
                <a:t>organization</a:t>
              </a:r>
              <a:endParaRPr lang="en-US" sz="1200" kern="1200" dirty="0"/>
            </a:p>
          </p:txBody>
        </p:sp>
      </p:grpSp>
      <p:pic>
        <p:nvPicPr>
          <p:cNvPr id="351249" name="Picture 2"/>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2699138" y="1200259"/>
            <a:ext cx="1495425"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1252" name="Picture 5"/>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5703577" y="1162159"/>
            <a:ext cx="1457325" cy="1209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92716167"/>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17" y="335280"/>
            <a:ext cx="7969515" cy="567320"/>
          </a:xfrm>
        </p:spPr>
        <p:txBody>
          <a:bodyPr/>
          <a:lstStyle/>
          <a:p>
            <a:r>
              <a:rPr lang="en-US" dirty="0" smtClean="0"/>
              <a:t>AIRLINE RETAILING MATURITY LEVELS </a:t>
            </a:r>
            <a:br>
              <a:rPr lang="en-US" dirty="0" smtClean="0"/>
            </a:br>
            <a:r>
              <a:rPr lang="en-US" dirty="0" smtClean="0">
                <a:solidFill>
                  <a:srgbClr val="4AABFC"/>
                </a:solidFill>
              </a:rPr>
              <a:t>CURRENT STATUS WITHIN AIR FRANCE KLM</a:t>
            </a:r>
            <a:endParaRPr lang="en-US" dirty="0">
              <a:solidFill>
                <a:srgbClr val="4AABFC"/>
              </a:solidFill>
            </a:endParaRPr>
          </a:p>
        </p:txBody>
      </p:sp>
      <p:grpSp>
        <p:nvGrpSpPr>
          <p:cNvPr id="18" name="Group 17"/>
          <p:cNvGrpSpPr/>
          <p:nvPr/>
        </p:nvGrpSpPr>
        <p:grpSpPr>
          <a:xfrm>
            <a:off x="167641" y="1475586"/>
            <a:ext cx="1767841" cy="4972511"/>
            <a:chOff x="167641" y="1475586"/>
            <a:chExt cx="1767841" cy="4972511"/>
          </a:xfrm>
        </p:grpSpPr>
        <p:grpSp>
          <p:nvGrpSpPr>
            <p:cNvPr id="13" name="Group 12"/>
            <p:cNvGrpSpPr/>
            <p:nvPr/>
          </p:nvGrpSpPr>
          <p:grpSpPr>
            <a:xfrm>
              <a:off x="167641" y="1475586"/>
              <a:ext cx="1706881" cy="2551502"/>
              <a:chOff x="167641" y="1306770"/>
              <a:chExt cx="1706881" cy="2551502"/>
            </a:xfrm>
          </p:grpSpPr>
          <p:sp>
            <p:nvSpPr>
              <p:cNvPr id="27" name="Rounded Rectangle 26"/>
              <p:cNvSpPr/>
              <p:nvPr/>
            </p:nvSpPr>
            <p:spPr bwMode="auto">
              <a:xfrm>
                <a:off x="167641" y="3374423"/>
                <a:ext cx="1706881" cy="483849"/>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rPr>
                  <a:t>All-in </a:t>
                </a:r>
                <a:br>
                  <a:rPr kumimoji="0" lang="en-US" sz="1400" b="0" i="0" u="none" strike="noStrike" cap="none" normalizeH="0" baseline="0" dirty="0" smtClean="0">
                    <a:ln>
                      <a:noFill/>
                    </a:ln>
                    <a:solidFill>
                      <a:schemeClr val="tx1"/>
                    </a:solidFill>
                    <a:effectLst/>
                  </a:rPr>
                </a:br>
                <a:r>
                  <a:rPr kumimoji="0" lang="en-US" sz="1400" b="0" i="0" u="none" strike="noStrike" cap="none" normalizeH="0" baseline="0" dirty="0" smtClean="0">
                    <a:ln>
                      <a:noFill/>
                    </a:ln>
                    <a:solidFill>
                      <a:schemeClr val="tx1"/>
                    </a:solidFill>
                    <a:effectLst/>
                  </a:rPr>
                  <a:t>tickets</a:t>
                </a:r>
                <a:endParaRPr kumimoji="0" lang="en-US" sz="1400" b="0" i="1" u="none" strike="noStrike" cap="none" normalizeH="0" baseline="0" dirty="0" smtClean="0">
                  <a:ln>
                    <a:noFill/>
                  </a:ln>
                  <a:solidFill>
                    <a:schemeClr val="tx1"/>
                  </a:solidFill>
                  <a:effectLst/>
                </a:endParaRPr>
              </a:p>
            </p:txBody>
          </p:sp>
          <p:sp>
            <p:nvSpPr>
              <p:cNvPr id="28" name="TextBox 27"/>
              <p:cNvSpPr txBox="1"/>
              <p:nvPr/>
            </p:nvSpPr>
            <p:spPr>
              <a:xfrm>
                <a:off x="595323" y="1306770"/>
                <a:ext cx="851515" cy="369332"/>
              </a:xfrm>
              <a:prstGeom prst="rect">
                <a:avLst/>
              </a:prstGeom>
              <a:noFill/>
            </p:spPr>
            <p:txBody>
              <a:bodyPr wrap="none" rtlCol="0">
                <a:spAutoFit/>
              </a:bodyPr>
              <a:lstStyle/>
              <a:p>
                <a:r>
                  <a:rPr lang="en-US" sz="1800" dirty="0"/>
                  <a:t>l</a:t>
                </a:r>
                <a:r>
                  <a:rPr lang="en-US" sz="1800" dirty="0" smtClean="0"/>
                  <a:t>evel 1</a:t>
                </a:r>
                <a:endParaRPr lang="en-US" sz="1800" dirty="0"/>
              </a:p>
            </p:txBody>
          </p:sp>
          <p:pic>
            <p:nvPicPr>
              <p:cNvPr id="360450"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90016" y="2389017"/>
                <a:ext cx="1662129" cy="925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cxnSp>
          <p:nvCxnSpPr>
            <p:cNvPr id="11" name="Straight Connector 10"/>
            <p:cNvCxnSpPr/>
            <p:nvPr/>
          </p:nvCxnSpPr>
          <p:spPr bwMode="auto">
            <a:xfrm>
              <a:off x="1935482" y="1629772"/>
              <a:ext cx="0" cy="4818325"/>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9" name="Group 18"/>
          <p:cNvGrpSpPr/>
          <p:nvPr/>
        </p:nvGrpSpPr>
        <p:grpSpPr>
          <a:xfrm>
            <a:off x="2026922" y="1475586"/>
            <a:ext cx="1819506" cy="4972511"/>
            <a:chOff x="2026922" y="1475586"/>
            <a:chExt cx="1819506" cy="4972511"/>
          </a:xfrm>
        </p:grpSpPr>
        <p:grpSp>
          <p:nvGrpSpPr>
            <p:cNvPr id="14" name="Group 13"/>
            <p:cNvGrpSpPr/>
            <p:nvPr/>
          </p:nvGrpSpPr>
          <p:grpSpPr>
            <a:xfrm>
              <a:off x="2026922" y="1475586"/>
              <a:ext cx="1796925" cy="4880359"/>
              <a:chOff x="2026922" y="1306770"/>
              <a:chExt cx="1796925" cy="4880359"/>
            </a:xfrm>
          </p:grpSpPr>
          <p:sp>
            <p:nvSpPr>
              <p:cNvPr id="4" name="Rounded Rectangle 3"/>
              <p:cNvSpPr/>
              <p:nvPr/>
            </p:nvSpPr>
            <p:spPr bwMode="auto">
              <a:xfrm>
                <a:off x="2026922" y="3145824"/>
                <a:ext cx="1706881" cy="487680"/>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rPr>
                  <a:t>A la carte</a:t>
                </a:r>
                <a:endParaRPr kumimoji="0" lang="en-US" sz="1400" b="0" i="1" u="none" strike="noStrike" cap="none" normalizeH="0" baseline="0" dirty="0" smtClean="0">
                  <a:ln>
                    <a:noFill/>
                  </a:ln>
                  <a:solidFill>
                    <a:schemeClr val="tx1"/>
                  </a:solidFill>
                  <a:effectLst/>
                </a:endParaRPr>
              </a:p>
            </p:txBody>
          </p:sp>
          <p:sp>
            <p:nvSpPr>
              <p:cNvPr id="5" name="TextBox 4"/>
              <p:cNvSpPr txBox="1"/>
              <p:nvPr/>
            </p:nvSpPr>
            <p:spPr>
              <a:xfrm>
                <a:off x="2255831" y="1306770"/>
                <a:ext cx="1050288" cy="369332"/>
              </a:xfrm>
              <a:prstGeom prst="rect">
                <a:avLst/>
              </a:prstGeom>
              <a:noFill/>
            </p:spPr>
            <p:txBody>
              <a:bodyPr wrap="none" rtlCol="0">
                <a:spAutoFit/>
              </a:bodyPr>
              <a:lstStyle/>
              <a:p>
                <a:r>
                  <a:rPr lang="en-US" sz="1800" dirty="0" smtClean="0"/>
                  <a:t>+ level 2</a:t>
                </a:r>
                <a:endParaRPr lang="en-US" sz="1800" dirty="0"/>
              </a:p>
            </p:txBody>
          </p:sp>
          <p:sp>
            <p:nvSpPr>
              <p:cNvPr id="25" name="TextBox 24"/>
              <p:cNvSpPr txBox="1"/>
              <p:nvPr/>
            </p:nvSpPr>
            <p:spPr>
              <a:xfrm>
                <a:off x="2119213" y="3671056"/>
                <a:ext cx="1704634" cy="2516073"/>
              </a:xfrm>
              <a:prstGeom prst="rect">
                <a:avLst/>
              </a:prstGeom>
              <a:noFill/>
            </p:spPr>
            <p:txBody>
              <a:bodyPr wrap="none" rtlCol="0">
                <a:spAutoFit/>
              </a:bodyPr>
              <a:lstStyle/>
              <a:p>
                <a:pPr marL="171450" indent="-171450" algn="l">
                  <a:buFont typeface="Arial" pitchFamily="34" charset="0"/>
                  <a:buChar char="•"/>
                </a:pPr>
                <a:r>
                  <a:rPr lang="en-US" sz="1050" dirty="0" smtClean="0"/>
                  <a:t>Baggage fees</a:t>
                </a:r>
              </a:p>
              <a:p>
                <a:pPr algn="l"/>
                <a:endParaRPr lang="en-US" sz="1050" dirty="0" smtClean="0"/>
              </a:p>
              <a:p>
                <a:pPr marL="171450" indent="-171450" algn="l">
                  <a:buFont typeface="Arial" pitchFamily="34" charset="0"/>
                  <a:buChar char="•"/>
                </a:pPr>
                <a:r>
                  <a:rPr lang="en-US" sz="1050" dirty="0" smtClean="0"/>
                  <a:t>Value-added options</a:t>
                </a:r>
                <a:r>
                  <a:rPr lang="en-US" sz="1050" dirty="0"/>
                  <a:t>:</a:t>
                </a:r>
                <a:r>
                  <a:rPr lang="en-US" sz="1050" dirty="0" smtClean="0"/>
                  <a:t> </a:t>
                </a:r>
                <a:endParaRPr lang="en-US" sz="1050" dirty="0"/>
              </a:p>
              <a:p>
                <a:pPr marL="72000" algn="l"/>
                <a:r>
                  <a:rPr lang="en-US" sz="1050" dirty="0"/>
                  <a:t> </a:t>
                </a:r>
                <a:r>
                  <a:rPr lang="en-US" sz="1050" dirty="0" smtClean="0"/>
                  <a:t> Seat selection</a:t>
                </a:r>
              </a:p>
              <a:p>
                <a:pPr marL="72000" algn="l"/>
                <a:r>
                  <a:rPr lang="en-US" sz="1050" dirty="0" smtClean="0"/>
                  <a:t>  More legroom</a:t>
                </a:r>
              </a:p>
              <a:p>
                <a:pPr marL="72000" algn="l"/>
                <a:r>
                  <a:rPr lang="en-US" sz="1050" dirty="0" smtClean="0"/>
                  <a:t>  Paid meal</a:t>
                </a:r>
              </a:p>
              <a:p>
                <a:pPr marL="72000" algn="l"/>
                <a:r>
                  <a:rPr lang="en-US" sz="1050" dirty="0" smtClean="0"/>
                  <a:t>  Paid upgrades</a:t>
                </a:r>
              </a:p>
              <a:p>
                <a:pPr marL="72000" algn="l"/>
                <a:r>
                  <a:rPr lang="en-US" sz="1050" dirty="0" smtClean="0"/>
                  <a:t>  Lounge access</a:t>
                </a:r>
              </a:p>
              <a:p>
                <a:pPr marL="72000" algn="l"/>
                <a:r>
                  <a:rPr lang="en-US" sz="1050" dirty="0"/>
                  <a:t> </a:t>
                </a:r>
                <a:r>
                  <a:rPr lang="en-US" sz="1050" dirty="0" smtClean="0"/>
                  <a:t> Block empty seat</a:t>
                </a:r>
              </a:p>
              <a:p>
                <a:pPr marL="72000" algn="l"/>
                <a:r>
                  <a:rPr lang="en-US" sz="1050" dirty="0" smtClean="0"/>
                  <a:t>  Time-to-Think</a:t>
                </a:r>
              </a:p>
              <a:p>
                <a:pPr marL="72000" algn="l"/>
                <a:r>
                  <a:rPr lang="en-US" sz="1050" dirty="0" smtClean="0"/>
                  <a:t>  Flexibility</a:t>
                </a:r>
              </a:p>
              <a:p>
                <a:pPr marL="72000" algn="l"/>
                <a:r>
                  <a:rPr lang="en-US" sz="1050" dirty="0" smtClean="0"/>
                  <a:t>  Missed flight insurance</a:t>
                </a:r>
              </a:p>
              <a:p>
                <a:pPr marL="72000" algn="l"/>
                <a:r>
                  <a:rPr lang="en-US" sz="1050" dirty="0" smtClean="0"/>
                  <a:t>  </a:t>
                </a:r>
                <a:r>
                  <a:rPr lang="en-US" sz="1050" dirty="0" err="1" smtClean="0"/>
                  <a:t>Wifi</a:t>
                </a:r>
                <a:r>
                  <a:rPr lang="en-US" sz="1050" dirty="0" smtClean="0"/>
                  <a:t> onboard</a:t>
                </a:r>
              </a:p>
              <a:p>
                <a:pPr marL="72000" algn="l"/>
                <a:r>
                  <a:rPr lang="en-US" sz="1050" dirty="0" smtClean="0"/>
                  <a:t>  UM’s</a:t>
                </a:r>
              </a:p>
              <a:p>
                <a:pPr marL="72000" algn="l"/>
                <a:r>
                  <a:rPr lang="en-US" sz="1050" dirty="0" smtClean="0"/>
                  <a:t>   …</a:t>
                </a:r>
              </a:p>
            </p:txBody>
          </p:sp>
          <p:pic>
            <p:nvPicPr>
              <p:cNvPr id="360454" name="Picture 6"/>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2073921" y="2276847"/>
                <a:ext cx="1644642" cy="803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cxnSp>
          <p:nvCxnSpPr>
            <p:cNvPr id="31" name="Straight Connector 30"/>
            <p:cNvCxnSpPr/>
            <p:nvPr/>
          </p:nvCxnSpPr>
          <p:spPr bwMode="auto">
            <a:xfrm>
              <a:off x="3846428" y="1613657"/>
              <a:ext cx="0" cy="483444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1" name="Group 20"/>
          <p:cNvGrpSpPr/>
          <p:nvPr/>
        </p:nvGrpSpPr>
        <p:grpSpPr>
          <a:xfrm>
            <a:off x="3876907" y="1476636"/>
            <a:ext cx="1807620" cy="5286965"/>
            <a:chOff x="3876907" y="1476636"/>
            <a:chExt cx="1807620" cy="5286965"/>
          </a:xfrm>
        </p:grpSpPr>
        <p:cxnSp>
          <p:nvCxnSpPr>
            <p:cNvPr id="32" name="Straight Connector 31"/>
            <p:cNvCxnSpPr/>
            <p:nvPr/>
          </p:nvCxnSpPr>
          <p:spPr bwMode="auto">
            <a:xfrm>
              <a:off x="5684527" y="1613701"/>
              <a:ext cx="0" cy="4834396"/>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 name="Group 14"/>
            <p:cNvGrpSpPr/>
            <p:nvPr/>
          </p:nvGrpSpPr>
          <p:grpSpPr>
            <a:xfrm>
              <a:off x="3876907" y="1476636"/>
              <a:ext cx="1777140" cy="5286965"/>
              <a:chOff x="3876907" y="1307820"/>
              <a:chExt cx="1777140" cy="5286965"/>
            </a:xfrm>
          </p:grpSpPr>
          <p:sp>
            <p:nvSpPr>
              <p:cNvPr id="6" name="Rounded Rectangle 5"/>
              <p:cNvSpPr/>
              <p:nvPr/>
            </p:nvSpPr>
            <p:spPr bwMode="auto">
              <a:xfrm>
                <a:off x="3907386" y="2886744"/>
                <a:ext cx="1670453" cy="487680"/>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rPr>
                  <a:t>Travel related retailing</a:t>
                </a:r>
              </a:p>
            </p:txBody>
          </p:sp>
          <p:sp>
            <p:nvSpPr>
              <p:cNvPr id="20" name="TextBox 19"/>
              <p:cNvSpPr txBox="1"/>
              <p:nvPr/>
            </p:nvSpPr>
            <p:spPr>
              <a:xfrm>
                <a:off x="4057123" y="1307820"/>
                <a:ext cx="1050288" cy="369332"/>
              </a:xfrm>
              <a:prstGeom prst="rect">
                <a:avLst/>
              </a:prstGeom>
              <a:noFill/>
            </p:spPr>
            <p:txBody>
              <a:bodyPr wrap="none" rtlCol="0">
                <a:spAutoFit/>
              </a:bodyPr>
              <a:lstStyle/>
              <a:p>
                <a:r>
                  <a:rPr lang="en-US" sz="1800" dirty="0" smtClean="0"/>
                  <a:t>+ level 3</a:t>
                </a:r>
                <a:endParaRPr lang="en-US" sz="1800" dirty="0"/>
              </a:p>
            </p:txBody>
          </p:sp>
          <p:sp>
            <p:nvSpPr>
              <p:cNvPr id="29" name="TextBox 28"/>
              <p:cNvSpPr txBox="1"/>
              <p:nvPr/>
            </p:nvSpPr>
            <p:spPr>
              <a:xfrm>
                <a:off x="3876907" y="3432381"/>
                <a:ext cx="1777140" cy="3162404"/>
              </a:xfrm>
              <a:prstGeom prst="rect">
                <a:avLst/>
              </a:prstGeom>
              <a:noFill/>
            </p:spPr>
            <p:txBody>
              <a:bodyPr wrap="square" rtlCol="0">
                <a:spAutoFit/>
              </a:bodyPr>
              <a:lstStyle/>
              <a:p>
                <a:pPr marL="171450" indent="-171450" algn="l">
                  <a:buFont typeface="Arial" pitchFamily="34" charset="0"/>
                  <a:buChar char="•"/>
                </a:pPr>
                <a:r>
                  <a:rPr lang="en-US" sz="1050" dirty="0" smtClean="0"/>
                  <a:t>3</a:t>
                </a:r>
                <a:r>
                  <a:rPr lang="en-US" sz="1050" baseline="30000" dirty="0" smtClean="0"/>
                  <a:t>rd</a:t>
                </a:r>
                <a:r>
                  <a:rPr lang="en-US" sz="1050" dirty="0" smtClean="0"/>
                  <a:t> party commission based options:</a:t>
                </a:r>
              </a:p>
              <a:p>
                <a:pPr marL="180000" lvl="1" algn="l"/>
                <a:r>
                  <a:rPr lang="en-US" sz="1050" dirty="0" smtClean="0"/>
                  <a:t>Taxi </a:t>
                </a:r>
                <a:br>
                  <a:rPr lang="en-US" sz="1050" dirty="0" smtClean="0"/>
                </a:br>
                <a:r>
                  <a:rPr lang="en-US" sz="1050" dirty="0" smtClean="0"/>
                  <a:t>Hotel </a:t>
                </a:r>
                <a:br>
                  <a:rPr lang="en-US" sz="1050" dirty="0" smtClean="0"/>
                </a:br>
                <a:r>
                  <a:rPr lang="en-US" sz="1050" dirty="0" smtClean="0"/>
                  <a:t>Event tickets</a:t>
                </a:r>
                <a:r>
                  <a:rPr lang="en-US" sz="1050" dirty="0"/>
                  <a:t/>
                </a:r>
                <a:br>
                  <a:rPr lang="en-US" sz="1050" dirty="0"/>
                </a:br>
                <a:endParaRPr lang="en-US" sz="1050" dirty="0" smtClean="0"/>
              </a:p>
              <a:p>
                <a:pPr marL="171450" indent="-171450" algn="l">
                  <a:buFont typeface="Arial" pitchFamily="34" charset="0"/>
                  <a:buChar char="•"/>
                </a:pPr>
                <a:r>
                  <a:rPr lang="en-US" sz="1050" dirty="0" smtClean="0"/>
                  <a:t>Duty free:</a:t>
                </a:r>
              </a:p>
              <a:p>
                <a:pPr marL="180000" algn="l"/>
                <a:r>
                  <a:rPr lang="en-US" sz="1050" dirty="0" smtClean="0"/>
                  <a:t>Wellness, media </a:t>
                </a:r>
                <a:br>
                  <a:rPr lang="en-US" sz="1050" dirty="0" smtClean="0"/>
                </a:br>
                <a:r>
                  <a:rPr lang="en-US" sz="1050" dirty="0" smtClean="0"/>
                  <a:t>Luggage</a:t>
                </a:r>
              </a:p>
              <a:p>
                <a:pPr marL="180000" algn="l"/>
                <a:r>
                  <a:rPr lang="en-US" sz="1050" dirty="0" smtClean="0"/>
                  <a:t>Accessories</a:t>
                </a:r>
              </a:p>
              <a:p>
                <a:pPr marL="180000" algn="l"/>
                <a:r>
                  <a:rPr lang="en-US" sz="1050" dirty="0"/>
                  <a:t>F</a:t>
                </a:r>
                <a:r>
                  <a:rPr lang="en-US" sz="1050" dirty="0" smtClean="0"/>
                  <a:t>ashion, toys</a:t>
                </a:r>
              </a:p>
              <a:p>
                <a:pPr marL="180000" algn="l"/>
                <a:r>
                  <a:rPr lang="en-US" sz="1050" dirty="0"/>
                  <a:t>W</a:t>
                </a:r>
                <a:r>
                  <a:rPr lang="en-US" sz="1050" dirty="0" smtClean="0"/>
                  <a:t>atches</a:t>
                </a:r>
                <a:br>
                  <a:rPr lang="en-US" sz="1050" dirty="0" smtClean="0"/>
                </a:br>
                <a:r>
                  <a:rPr lang="en-US" sz="1050" dirty="0" smtClean="0"/>
                  <a:t>Cosmetics </a:t>
                </a:r>
                <a:br>
                  <a:rPr lang="en-US" sz="1050" dirty="0" smtClean="0"/>
                </a:br>
                <a:r>
                  <a:rPr lang="en-US" sz="1050" dirty="0" smtClean="0"/>
                  <a:t>Electronics</a:t>
                </a:r>
                <a:br>
                  <a:rPr lang="en-US" sz="1050" dirty="0" smtClean="0"/>
                </a:br>
                <a:r>
                  <a:rPr lang="en-US" sz="1050" dirty="0" smtClean="0"/>
                  <a:t>Liquor &amp; wine </a:t>
                </a:r>
                <a:br>
                  <a:rPr lang="en-US" sz="1050" dirty="0" smtClean="0"/>
                </a:br>
                <a:r>
                  <a:rPr lang="en-US" sz="1050" dirty="0" smtClean="0"/>
                  <a:t>Watches</a:t>
                </a:r>
                <a:br>
                  <a:rPr lang="en-US" sz="1050" dirty="0" smtClean="0"/>
                </a:br>
                <a:r>
                  <a:rPr lang="en-US" sz="1050" dirty="0"/>
                  <a:t>A</a:t>
                </a:r>
                <a:r>
                  <a:rPr lang="en-US" sz="1050" dirty="0" smtClean="0"/>
                  <a:t>ccessories</a:t>
                </a:r>
              </a:p>
              <a:p>
                <a:pPr algn="l"/>
                <a:endParaRPr lang="en-US" sz="1050" b="1" dirty="0"/>
              </a:p>
              <a:p>
                <a:pPr algn="l"/>
                <a:endParaRPr lang="en-US" sz="1050" dirty="0"/>
              </a:p>
            </p:txBody>
          </p:sp>
          <p:pic>
            <p:nvPicPr>
              <p:cNvPr id="360456" name="Picture 8"/>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3932435" y="2079516"/>
                <a:ext cx="1645404" cy="752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12" name="TextBox 11"/>
          <p:cNvSpPr txBox="1"/>
          <p:nvPr/>
        </p:nvSpPr>
        <p:spPr>
          <a:xfrm>
            <a:off x="5758266" y="1604349"/>
            <a:ext cx="3949613" cy="2800767"/>
          </a:xfrm>
          <a:prstGeom prst="rect">
            <a:avLst/>
          </a:prstGeom>
          <a:noFill/>
        </p:spPr>
        <p:txBody>
          <a:bodyPr wrap="square" rtlCol="0">
            <a:spAutoFit/>
          </a:bodyPr>
          <a:lstStyle/>
          <a:p>
            <a:pPr marL="342900" indent="-342900" algn="l">
              <a:buFont typeface="Wingdings" pitchFamily="2" charset="2"/>
              <a:buChar char="Ø"/>
            </a:pPr>
            <a:r>
              <a:rPr lang="en-US" sz="1600" dirty="0" smtClean="0"/>
              <a:t>The ancillaries assortment is currently essentially on par with competition and being expanded</a:t>
            </a:r>
            <a:br>
              <a:rPr lang="en-US" sz="1600" dirty="0" smtClean="0"/>
            </a:br>
            <a:endParaRPr lang="en-US" sz="1600" dirty="0" smtClean="0"/>
          </a:p>
          <a:p>
            <a:pPr marL="342900" indent="-342900" algn="l">
              <a:buFont typeface="Wingdings" pitchFamily="2" charset="2"/>
              <a:buChar char="Ø"/>
            </a:pPr>
            <a:r>
              <a:rPr lang="en-US" sz="1600" dirty="0" smtClean="0"/>
              <a:t>Selling being expanded to other </a:t>
            </a:r>
            <a:br>
              <a:rPr lang="en-US" sz="1600" dirty="0" smtClean="0"/>
            </a:br>
            <a:r>
              <a:rPr lang="en-US" sz="1600" dirty="0" smtClean="0"/>
              <a:t>Air France and KLM </a:t>
            </a:r>
            <a:r>
              <a:rPr lang="en-US" sz="1600" dirty="0" err="1" smtClean="0"/>
              <a:t>touchpoints</a:t>
            </a:r>
            <a:endParaRPr lang="en-US" sz="1600" dirty="0" smtClean="0"/>
          </a:p>
          <a:p>
            <a:pPr marL="342900" indent="-342900" algn="l">
              <a:buFont typeface="Wingdings" pitchFamily="2" charset="2"/>
              <a:buChar char="Ø"/>
            </a:pPr>
            <a:endParaRPr lang="en-US" sz="1600" dirty="0"/>
          </a:p>
          <a:p>
            <a:pPr marL="342900" indent="-342900" algn="l">
              <a:buFont typeface="Wingdings" pitchFamily="2" charset="2"/>
              <a:buChar char="Ø"/>
            </a:pPr>
            <a:r>
              <a:rPr lang="en-US" sz="1600" dirty="0" smtClean="0"/>
              <a:t>Medium term ambition: </a:t>
            </a:r>
            <a:endParaRPr lang="en-US" sz="1600" dirty="0"/>
          </a:p>
          <a:p>
            <a:pPr marL="800100" lvl="1" indent="-342900" algn="l">
              <a:buFont typeface="Wingdings" pitchFamily="2" charset="2"/>
              <a:buChar char="Ø"/>
            </a:pPr>
            <a:r>
              <a:rPr lang="en-US" sz="1600" dirty="0" smtClean="0"/>
              <a:t>O&amp;D pricing of options</a:t>
            </a:r>
            <a:endParaRPr lang="en-US" sz="1600" dirty="0"/>
          </a:p>
          <a:p>
            <a:pPr marL="800100" lvl="1" indent="-342900" algn="l">
              <a:buFont typeface="Wingdings" pitchFamily="2" charset="2"/>
              <a:buChar char="Ø"/>
            </a:pPr>
            <a:r>
              <a:rPr lang="en-US" sz="1600" dirty="0" smtClean="0"/>
              <a:t>Other carrier products v.v</a:t>
            </a:r>
            <a:r>
              <a:rPr lang="en-US" sz="1600" dirty="0"/>
              <a:t>.</a:t>
            </a:r>
            <a:endParaRPr lang="en-US" sz="1600" dirty="0" smtClean="0"/>
          </a:p>
          <a:p>
            <a:pPr algn="l"/>
            <a:endParaRPr lang="en-US" sz="1600" dirty="0"/>
          </a:p>
        </p:txBody>
      </p:sp>
      <p:sp>
        <p:nvSpPr>
          <p:cNvPr id="33" name="TextBox 32"/>
          <p:cNvSpPr txBox="1"/>
          <p:nvPr/>
        </p:nvSpPr>
        <p:spPr>
          <a:xfrm>
            <a:off x="5566872" y="6258161"/>
            <a:ext cx="2523448" cy="230832"/>
          </a:xfrm>
          <a:prstGeom prst="rect">
            <a:avLst/>
          </a:prstGeom>
          <a:noFill/>
        </p:spPr>
        <p:txBody>
          <a:bodyPr wrap="none" rtlCol="0">
            <a:spAutoFit/>
          </a:bodyPr>
          <a:lstStyle/>
          <a:p>
            <a:r>
              <a:rPr lang="en-US" sz="900" dirty="0" err="1" smtClean="0">
                <a:solidFill>
                  <a:schemeClr val="bg2"/>
                </a:solidFill>
              </a:rPr>
              <a:t>Source:GEC</a:t>
            </a:r>
            <a:r>
              <a:rPr lang="en-US" sz="900" dirty="0" smtClean="0">
                <a:solidFill>
                  <a:schemeClr val="bg2"/>
                </a:solidFill>
              </a:rPr>
              <a:t> Ancillary Action plan FEB 2014</a:t>
            </a:r>
            <a:endParaRPr lang="en-US" sz="900" dirty="0">
              <a:solidFill>
                <a:schemeClr val="bg2"/>
              </a:solidFill>
            </a:endParaRPr>
          </a:p>
        </p:txBody>
      </p:sp>
    </p:spTree>
    <p:extLst>
      <p:ext uri="{BB962C8B-B14F-4D97-AF65-F5344CB8AC3E}">
        <p14:creationId xmlns:p14="http://schemas.microsoft.com/office/powerpoint/2010/main" val="2090841950"/>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65"/>
          <p:cNvSpPr/>
          <p:nvPr/>
        </p:nvSpPr>
        <p:spPr bwMode="auto">
          <a:xfrm>
            <a:off x="4423496" y="1084565"/>
            <a:ext cx="1364593" cy="4627719"/>
          </a:xfrm>
          <a:prstGeom prst="rect">
            <a:avLst/>
          </a:prstGeom>
          <a:solidFill>
            <a:srgbClr val="B2E1F6">
              <a:alpha val="34000"/>
            </a:srgbClr>
          </a:solidFill>
          <a:ln w="9525" cap="flat" cmpd="sng" algn="ctr">
            <a:solidFill>
              <a:srgbClr val="B2E1F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smtClean="0">
              <a:ln>
                <a:noFill/>
              </a:ln>
              <a:solidFill>
                <a:schemeClr val="tx1"/>
              </a:solidFill>
              <a:effectLst/>
              <a:latin typeface="Arial" charset="0"/>
            </a:endParaRPr>
          </a:p>
        </p:txBody>
      </p:sp>
      <p:sp>
        <p:nvSpPr>
          <p:cNvPr id="3" name="Rectangle 2"/>
          <p:cNvSpPr/>
          <p:nvPr/>
        </p:nvSpPr>
        <p:spPr bwMode="auto">
          <a:xfrm>
            <a:off x="0" y="6274973"/>
            <a:ext cx="9906000" cy="524035"/>
          </a:xfrm>
          <a:prstGeom prst="rect">
            <a:avLst/>
          </a:prstGeom>
          <a:solidFill>
            <a:schemeClr val="bg1"/>
          </a:solid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p:txBody>
      </p:sp>
      <p:sp>
        <p:nvSpPr>
          <p:cNvPr id="2" name="Title 1"/>
          <p:cNvSpPr>
            <a:spLocks noGrp="1"/>
          </p:cNvSpPr>
          <p:nvPr>
            <p:ph type="title"/>
          </p:nvPr>
        </p:nvSpPr>
        <p:spPr>
          <a:xfrm>
            <a:off x="1443385" y="345913"/>
            <a:ext cx="7969515" cy="567320"/>
          </a:xfrm>
        </p:spPr>
        <p:txBody>
          <a:bodyPr/>
          <a:lstStyle/>
          <a:p>
            <a:r>
              <a:rPr lang="en-US" dirty="0" smtClean="0"/>
              <a:t>RETAILING MATURITY LEVELS </a:t>
            </a:r>
            <a:br>
              <a:rPr lang="en-US" dirty="0" smtClean="0"/>
            </a:br>
            <a:r>
              <a:rPr lang="en-US" dirty="0" smtClean="0">
                <a:solidFill>
                  <a:srgbClr val="4AABFC"/>
                </a:solidFill>
              </a:rPr>
              <a:t>WHAT COULD BE NEXT IN RETAILING FOR AIR FRANCE-KLM</a:t>
            </a:r>
            <a:endParaRPr lang="en-US" dirty="0">
              <a:solidFill>
                <a:srgbClr val="4AABFC"/>
              </a:solidFill>
            </a:endParaRPr>
          </a:p>
        </p:txBody>
      </p:sp>
      <p:sp>
        <p:nvSpPr>
          <p:cNvPr id="4" name="Rounded Rectangle 3"/>
          <p:cNvSpPr/>
          <p:nvPr/>
        </p:nvSpPr>
        <p:spPr bwMode="auto">
          <a:xfrm>
            <a:off x="1636052" y="4263399"/>
            <a:ext cx="1204694" cy="440044"/>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rPr>
              <a:t>A la carte</a:t>
            </a:r>
            <a:endParaRPr kumimoji="0" lang="en-US" sz="1400" b="0" i="1" u="none" strike="noStrike" cap="none" normalizeH="0" baseline="0" dirty="0" smtClean="0">
              <a:ln>
                <a:noFill/>
              </a:ln>
              <a:solidFill>
                <a:schemeClr val="tx1"/>
              </a:solidFill>
              <a:effectLst/>
            </a:endParaRPr>
          </a:p>
        </p:txBody>
      </p:sp>
      <p:sp>
        <p:nvSpPr>
          <p:cNvPr id="6" name="Rounded Rectangle 5"/>
          <p:cNvSpPr/>
          <p:nvPr/>
        </p:nvSpPr>
        <p:spPr bwMode="auto">
          <a:xfrm>
            <a:off x="2979893" y="4052641"/>
            <a:ext cx="1387391" cy="418786"/>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rPr>
              <a:t>Travel related retailing</a:t>
            </a:r>
          </a:p>
        </p:txBody>
      </p:sp>
      <p:sp>
        <p:nvSpPr>
          <p:cNvPr id="5" name="TextBox 4"/>
          <p:cNvSpPr txBox="1"/>
          <p:nvPr/>
        </p:nvSpPr>
        <p:spPr>
          <a:xfrm>
            <a:off x="1729204" y="1346874"/>
            <a:ext cx="1050288" cy="369332"/>
          </a:xfrm>
          <a:prstGeom prst="rect">
            <a:avLst/>
          </a:prstGeom>
          <a:noFill/>
        </p:spPr>
        <p:txBody>
          <a:bodyPr wrap="none" rtlCol="0">
            <a:spAutoFit/>
          </a:bodyPr>
          <a:lstStyle/>
          <a:p>
            <a:r>
              <a:rPr lang="en-US" sz="1800" dirty="0" smtClean="0"/>
              <a:t>+ level 2</a:t>
            </a:r>
            <a:endParaRPr lang="en-US" sz="1800" dirty="0"/>
          </a:p>
        </p:txBody>
      </p:sp>
      <p:sp>
        <p:nvSpPr>
          <p:cNvPr id="20" name="TextBox 19"/>
          <p:cNvSpPr txBox="1"/>
          <p:nvPr/>
        </p:nvSpPr>
        <p:spPr>
          <a:xfrm>
            <a:off x="3148444" y="1346874"/>
            <a:ext cx="1050288" cy="369332"/>
          </a:xfrm>
          <a:prstGeom prst="rect">
            <a:avLst/>
          </a:prstGeom>
          <a:noFill/>
        </p:spPr>
        <p:txBody>
          <a:bodyPr wrap="none" rtlCol="0">
            <a:spAutoFit/>
          </a:bodyPr>
          <a:lstStyle/>
          <a:p>
            <a:r>
              <a:rPr lang="en-US" sz="1800" dirty="0" smtClean="0"/>
              <a:t>+ level 3</a:t>
            </a:r>
            <a:endParaRPr lang="en-US" sz="1800" dirty="0"/>
          </a:p>
        </p:txBody>
      </p:sp>
      <p:sp>
        <p:nvSpPr>
          <p:cNvPr id="27" name="Rounded Rectangle 26"/>
          <p:cNvSpPr/>
          <p:nvPr/>
        </p:nvSpPr>
        <p:spPr bwMode="auto">
          <a:xfrm>
            <a:off x="145266" y="4427175"/>
            <a:ext cx="1361071" cy="440044"/>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rPr>
              <a:t>All-in </a:t>
            </a:r>
            <a:br>
              <a:rPr kumimoji="0" lang="en-US" sz="1400" b="0" i="0" u="none" strike="noStrike" cap="none" normalizeH="0" baseline="0" dirty="0" smtClean="0">
                <a:ln>
                  <a:noFill/>
                </a:ln>
                <a:solidFill>
                  <a:schemeClr val="tx1"/>
                </a:solidFill>
                <a:effectLst/>
              </a:rPr>
            </a:br>
            <a:r>
              <a:rPr kumimoji="0" lang="en-US" sz="1400" b="0" i="0" u="none" strike="noStrike" cap="none" normalizeH="0" baseline="0" dirty="0" smtClean="0">
                <a:ln>
                  <a:noFill/>
                </a:ln>
                <a:solidFill>
                  <a:schemeClr val="tx1"/>
                </a:solidFill>
                <a:effectLst/>
              </a:rPr>
              <a:t>tickets</a:t>
            </a:r>
            <a:endParaRPr kumimoji="0" lang="en-US" sz="1400" b="0" i="1" u="none" strike="noStrike" cap="none" normalizeH="0" baseline="0" dirty="0" smtClean="0">
              <a:ln>
                <a:noFill/>
              </a:ln>
              <a:solidFill>
                <a:schemeClr val="tx1"/>
              </a:solidFill>
              <a:effectLst/>
            </a:endParaRPr>
          </a:p>
        </p:txBody>
      </p:sp>
      <p:sp>
        <p:nvSpPr>
          <p:cNvPr id="28" name="TextBox 27"/>
          <p:cNvSpPr txBox="1"/>
          <p:nvPr/>
        </p:nvSpPr>
        <p:spPr>
          <a:xfrm>
            <a:off x="519793" y="1346874"/>
            <a:ext cx="851515" cy="369332"/>
          </a:xfrm>
          <a:prstGeom prst="rect">
            <a:avLst/>
          </a:prstGeom>
          <a:noFill/>
        </p:spPr>
        <p:txBody>
          <a:bodyPr wrap="none" rtlCol="0">
            <a:spAutoFit/>
          </a:bodyPr>
          <a:lstStyle/>
          <a:p>
            <a:r>
              <a:rPr lang="en-US" sz="1800" dirty="0"/>
              <a:t>l</a:t>
            </a:r>
            <a:r>
              <a:rPr lang="en-US" sz="1800" dirty="0" smtClean="0"/>
              <a:t>evel 1</a:t>
            </a:r>
            <a:endParaRPr lang="en-US" sz="1800" dirty="0"/>
          </a:p>
        </p:txBody>
      </p:sp>
      <p:pic>
        <p:nvPicPr>
          <p:cNvPr id="360450"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7642" y="3639888"/>
            <a:ext cx="1338696" cy="74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0454" name="Picture 6"/>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1657426" y="3515459"/>
            <a:ext cx="1231260" cy="60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Connector 10"/>
          <p:cNvCxnSpPr/>
          <p:nvPr/>
        </p:nvCxnSpPr>
        <p:spPr bwMode="auto">
          <a:xfrm>
            <a:off x="1566986" y="1902542"/>
            <a:ext cx="0" cy="374640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60456" name="Picture 8"/>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3046414" y="3241632"/>
            <a:ext cx="1279926" cy="585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5" name="Straight Connector 34"/>
          <p:cNvCxnSpPr/>
          <p:nvPr/>
        </p:nvCxnSpPr>
        <p:spPr bwMode="auto">
          <a:xfrm>
            <a:off x="2897955" y="1902542"/>
            <a:ext cx="0" cy="3777177"/>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35"/>
          <p:cNvCxnSpPr/>
          <p:nvPr/>
        </p:nvCxnSpPr>
        <p:spPr bwMode="auto">
          <a:xfrm>
            <a:off x="5788089" y="1902542"/>
            <a:ext cx="0" cy="3807955"/>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0448" name="Rectangle 360447"/>
          <p:cNvSpPr/>
          <p:nvPr/>
        </p:nvSpPr>
        <p:spPr bwMode="auto">
          <a:xfrm>
            <a:off x="145267" y="5187277"/>
            <a:ext cx="4278229" cy="523220"/>
          </a:xfrm>
          <a:prstGeom prst="rect">
            <a:avLst/>
          </a:prstGeom>
          <a:solidFill>
            <a:schemeClr val="accent6">
              <a:lumMod val="50000"/>
            </a:scheme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ndParaRPr>
          </a:p>
        </p:txBody>
      </p:sp>
      <p:sp>
        <p:nvSpPr>
          <p:cNvPr id="51" name="TextBox 50"/>
          <p:cNvSpPr txBox="1"/>
          <p:nvPr/>
        </p:nvSpPr>
        <p:spPr>
          <a:xfrm>
            <a:off x="240675" y="5187277"/>
            <a:ext cx="1157689" cy="461665"/>
          </a:xfrm>
          <a:prstGeom prst="rect">
            <a:avLst/>
          </a:prstGeom>
          <a:noFill/>
        </p:spPr>
        <p:txBody>
          <a:bodyPr wrap="none" rtlCol="0">
            <a:spAutoFit/>
          </a:bodyPr>
          <a:lstStyle/>
          <a:p>
            <a:pPr algn="ctr"/>
            <a:r>
              <a:rPr lang="en-US" sz="1200" dirty="0" smtClean="0">
                <a:solidFill>
                  <a:schemeClr val="bg1"/>
                </a:solidFill>
              </a:rPr>
              <a:t>Core product: </a:t>
            </a:r>
          </a:p>
          <a:p>
            <a:pPr algn="ctr"/>
            <a:r>
              <a:rPr lang="en-US" sz="1200" dirty="0" smtClean="0">
                <a:solidFill>
                  <a:schemeClr val="bg1"/>
                </a:solidFill>
              </a:rPr>
              <a:t>seat</a:t>
            </a:r>
            <a:endParaRPr lang="en-US" sz="1200" dirty="0">
              <a:solidFill>
                <a:schemeClr val="bg1"/>
              </a:solidFill>
            </a:endParaRPr>
          </a:p>
        </p:txBody>
      </p:sp>
      <p:sp>
        <p:nvSpPr>
          <p:cNvPr id="54" name="TextBox 53"/>
          <p:cNvSpPr txBox="1"/>
          <p:nvPr/>
        </p:nvSpPr>
        <p:spPr>
          <a:xfrm>
            <a:off x="1600480" y="5218054"/>
            <a:ext cx="1157689" cy="461665"/>
          </a:xfrm>
          <a:prstGeom prst="rect">
            <a:avLst/>
          </a:prstGeom>
          <a:noFill/>
        </p:spPr>
        <p:txBody>
          <a:bodyPr wrap="none" rtlCol="0">
            <a:spAutoFit/>
          </a:bodyPr>
          <a:lstStyle/>
          <a:p>
            <a:pPr algn="ctr"/>
            <a:r>
              <a:rPr lang="en-US" sz="1200" dirty="0" smtClean="0">
                <a:solidFill>
                  <a:schemeClr val="bg1"/>
                </a:solidFill>
              </a:rPr>
              <a:t>Core product: </a:t>
            </a:r>
          </a:p>
          <a:p>
            <a:pPr algn="ctr"/>
            <a:r>
              <a:rPr lang="en-US" sz="1200" dirty="0" smtClean="0">
                <a:solidFill>
                  <a:schemeClr val="bg1"/>
                </a:solidFill>
              </a:rPr>
              <a:t>seat</a:t>
            </a:r>
            <a:endParaRPr lang="en-US" sz="1200" dirty="0">
              <a:solidFill>
                <a:schemeClr val="bg1"/>
              </a:solidFill>
            </a:endParaRPr>
          </a:p>
        </p:txBody>
      </p:sp>
      <p:sp>
        <p:nvSpPr>
          <p:cNvPr id="55" name="TextBox 54"/>
          <p:cNvSpPr txBox="1"/>
          <p:nvPr/>
        </p:nvSpPr>
        <p:spPr>
          <a:xfrm>
            <a:off x="3105965" y="5215458"/>
            <a:ext cx="1114408" cy="461665"/>
          </a:xfrm>
          <a:prstGeom prst="rect">
            <a:avLst/>
          </a:prstGeom>
          <a:noFill/>
        </p:spPr>
        <p:txBody>
          <a:bodyPr wrap="none" rtlCol="0">
            <a:spAutoFit/>
          </a:bodyPr>
          <a:lstStyle/>
          <a:p>
            <a:pPr algn="ctr"/>
            <a:r>
              <a:rPr lang="en-US" sz="1200" dirty="0" smtClean="0">
                <a:solidFill>
                  <a:schemeClr val="bg1"/>
                </a:solidFill>
              </a:rPr>
              <a:t>Core product:</a:t>
            </a:r>
            <a:br>
              <a:rPr lang="en-US" sz="1200" dirty="0" smtClean="0">
                <a:solidFill>
                  <a:schemeClr val="bg1"/>
                </a:solidFill>
              </a:rPr>
            </a:br>
            <a:r>
              <a:rPr lang="en-US" sz="1200" dirty="0" smtClean="0">
                <a:solidFill>
                  <a:schemeClr val="bg1"/>
                </a:solidFill>
              </a:rPr>
              <a:t>seat</a:t>
            </a:r>
          </a:p>
        </p:txBody>
      </p:sp>
      <p:cxnSp>
        <p:nvCxnSpPr>
          <p:cNvPr id="47" name="Straight Arrow Connector 46"/>
          <p:cNvCxnSpPr/>
          <p:nvPr/>
        </p:nvCxnSpPr>
        <p:spPr bwMode="auto">
          <a:xfrm>
            <a:off x="212393" y="5911814"/>
            <a:ext cx="9486495"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TextBox 47"/>
          <p:cNvSpPr txBox="1"/>
          <p:nvPr/>
        </p:nvSpPr>
        <p:spPr>
          <a:xfrm>
            <a:off x="8529195" y="5935027"/>
            <a:ext cx="1309974" cy="430887"/>
          </a:xfrm>
          <a:prstGeom prst="rect">
            <a:avLst/>
          </a:prstGeom>
          <a:noFill/>
        </p:spPr>
        <p:txBody>
          <a:bodyPr wrap="none" rtlCol="0">
            <a:spAutoFit/>
          </a:bodyPr>
          <a:lstStyle/>
          <a:p>
            <a:r>
              <a:rPr lang="en-US" sz="1050" dirty="0" smtClean="0"/>
              <a:t>Personal solutions</a:t>
            </a:r>
            <a:br>
              <a:rPr lang="en-US" sz="1050" dirty="0" smtClean="0"/>
            </a:br>
            <a:r>
              <a:rPr lang="en-US" sz="1050" dirty="0" smtClean="0"/>
              <a:t>(customer centric)</a:t>
            </a:r>
            <a:endParaRPr lang="en-US" sz="1050" dirty="0"/>
          </a:p>
        </p:txBody>
      </p:sp>
      <p:sp>
        <p:nvSpPr>
          <p:cNvPr id="49" name="TextBox 48"/>
          <p:cNvSpPr txBox="1"/>
          <p:nvPr/>
        </p:nvSpPr>
        <p:spPr>
          <a:xfrm>
            <a:off x="212393" y="5946959"/>
            <a:ext cx="1200970" cy="430887"/>
          </a:xfrm>
          <a:prstGeom prst="rect">
            <a:avLst/>
          </a:prstGeom>
          <a:noFill/>
        </p:spPr>
        <p:txBody>
          <a:bodyPr wrap="none" rtlCol="0">
            <a:spAutoFit/>
          </a:bodyPr>
          <a:lstStyle/>
          <a:p>
            <a:pPr algn="l"/>
            <a:r>
              <a:rPr lang="en-US" sz="1050" dirty="0" smtClean="0"/>
              <a:t>Mass product</a:t>
            </a:r>
          </a:p>
          <a:p>
            <a:pPr algn="l"/>
            <a:r>
              <a:rPr lang="en-US" sz="1050" dirty="0" smtClean="0"/>
              <a:t>(product centric)</a:t>
            </a:r>
            <a:endParaRPr lang="en-US" sz="1050" dirty="0"/>
          </a:p>
        </p:txBody>
      </p:sp>
      <p:cxnSp>
        <p:nvCxnSpPr>
          <p:cNvPr id="61" name="Straight Connector 60"/>
          <p:cNvCxnSpPr/>
          <p:nvPr/>
        </p:nvCxnSpPr>
        <p:spPr bwMode="auto">
          <a:xfrm>
            <a:off x="4423496" y="1902542"/>
            <a:ext cx="0" cy="3807955"/>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2" name="Group 61"/>
          <p:cNvGrpSpPr/>
          <p:nvPr/>
        </p:nvGrpSpPr>
        <p:grpSpPr>
          <a:xfrm>
            <a:off x="4479114" y="1345547"/>
            <a:ext cx="1279197" cy="3809977"/>
            <a:chOff x="5745484" y="-95473"/>
            <a:chExt cx="1722117" cy="3809977"/>
          </a:xfrm>
        </p:grpSpPr>
        <p:sp>
          <p:nvSpPr>
            <p:cNvPr id="63" name="Rounded Rectangle 62"/>
            <p:cNvSpPr/>
            <p:nvPr/>
          </p:nvSpPr>
          <p:spPr bwMode="auto">
            <a:xfrm>
              <a:off x="5745484" y="2246184"/>
              <a:ext cx="1722114" cy="456846"/>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400" dirty="0" smtClean="0"/>
                <a:t>Personalized offers</a:t>
              </a:r>
              <a:endParaRPr kumimoji="0" lang="en-US" sz="1400" b="0" i="0" u="none" strike="noStrike" cap="none" normalizeH="0" baseline="0" dirty="0" smtClean="0">
                <a:ln>
                  <a:noFill/>
                </a:ln>
                <a:solidFill>
                  <a:schemeClr val="tx1"/>
                </a:solidFill>
                <a:effectLst/>
                <a:latin typeface="Arial" charset="0"/>
              </a:endParaRPr>
            </a:p>
          </p:txBody>
        </p:sp>
        <p:sp>
          <p:nvSpPr>
            <p:cNvPr id="64" name="TextBox 63"/>
            <p:cNvSpPr txBox="1"/>
            <p:nvPr/>
          </p:nvSpPr>
          <p:spPr>
            <a:xfrm>
              <a:off x="5882174" y="-95473"/>
              <a:ext cx="1413949" cy="369332"/>
            </a:xfrm>
            <a:prstGeom prst="rect">
              <a:avLst/>
            </a:prstGeom>
            <a:noFill/>
          </p:spPr>
          <p:txBody>
            <a:bodyPr wrap="none" rtlCol="0">
              <a:spAutoFit/>
            </a:bodyPr>
            <a:lstStyle/>
            <a:p>
              <a:r>
                <a:rPr lang="en-US" sz="1800" dirty="0" smtClean="0"/>
                <a:t>+ level 4</a:t>
              </a:r>
              <a:endParaRPr lang="en-US" sz="1800" dirty="0"/>
            </a:p>
          </p:txBody>
        </p:sp>
        <p:sp>
          <p:nvSpPr>
            <p:cNvPr id="65" name="TextBox 64"/>
            <p:cNvSpPr txBox="1"/>
            <p:nvPr/>
          </p:nvSpPr>
          <p:spPr>
            <a:xfrm>
              <a:off x="5773849" y="3460588"/>
              <a:ext cx="1693752" cy="253916"/>
            </a:xfrm>
            <a:prstGeom prst="rect">
              <a:avLst/>
            </a:prstGeom>
            <a:noFill/>
          </p:spPr>
          <p:txBody>
            <a:bodyPr wrap="square" rtlCol="0">
              <a:spAutoFit/>
            </a:bodyPr>
            <a:lstStyle/>
            <a:p>
              <a:pPr algn="l"/>
              <a:endParaRPr lang="en-US" sz="1050" dirty="0"/>
            </a:p>
          </p:txBody>
        </p:sp>
      </p:grpSp>
      <p:pic>
        <p:nvPicPr>
          <p:cNvPr id="71" name="Picture 5"/>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4505766" y="2924211"/>
            <a:ext cx="1204917" cy="654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0" name="Group 29"/>
          <p:cNvGrpSpPr/>
          <p:nvPr/>
        </p:nvGrpSpPr>
        <p:grpSpPr>
          <a:xfrm>
            <a:off x="5970424" y="3687204"/>
            <a:ext cx="3643944" cy="2072141"/>
            <a:chOff x="5970424" y="3826475"/>
            <a:chExt cx="3643944" cy="1932870"/>
          </a:xfrm>
        </p:grpSpPr>
        <p:sp>
          <p:nvSpPr>
            <p:cNvPr id="87" name="Rectangle 86"/>
            <p:cNvSpPr/>
            <p:nvPr/>
          </p:nvSpPr>
          <p:spPr bwMode="auto">
            <a:xfrm>
              <a:off x="5970424" y="3841459"/>
              <a:ext cx="3643944" cy="1917886"/>
            </a:xfrm>
            <a:prstGeom prst="rect">
              <a:avLst/>
            </a:prstGeom>
            <a:solidFill>
              <a:srgbClr val="009BE1">
                <a:alpha val="34000"/>
              </a:srgbClr>
            </a:solidFill>
            <a:ln w="9525" cap="flat" cmpd="sng" algn="ctr">
              <a:solidFill>
                <a:srgbClr val="B2E1F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smtClean="0">
                <a:ln>
                  <a:noFill/>
                </a:ln>
                <a:solidFill>
                  <a:schemeClr val="tx1"/>
                </a:solidFill>
                <a:effectLst/>
                <a:latin typeface="Arial" charset="0"/>
              </a:endParaRPr>
            </a:p>
          </p:txBody>
        </p:sp>
        <p:grpSp>
          <p:nvGrpSpPr>
            <p:cNvPr id="15" name="Group 14"/>
            <p:cNvGrpSpPr/>
            <p:nvPr/>
          </p:nvGrpSpPr>
          <p:grpSpPr>
            <a:xfrm>
              <a:off x="7151399" y="3826475"/>
              <a:ext cx="1273105" cy="1903400"/>
              <a:chOff x="7340726" y="3751313"/>
              <a:chExt cx="1273105" cy="1903400"/>
            </a:xfrm>
          </p:grpSpPr>
          <p:grpSp>
            <p:nvGrpSpPr>
              <p:cNvPr id="360451" name="Group 360450"/>
              <p:cNvGrpSpPr/>
              <p:nvPr/>
            </p:nvGrpSpPr>
            <p:grpSpPr>
              <a:xfrm>
                <a:off x="7340726" y="5131493"/>
                <a:ext cx="1273105" cy="523220"/>
                <a:chOff x="7608198" y="5875593"/>
                <a:chExt cx="1733439" cy="523220"/>
              </a:xfrm>
            </p:grpSpPr>
            <p:sp>
              <p:nvSpPr>
                <p:cNvPr id="58" name="Rectangle 57"/>
                <p:cNvSpPr/>
                <p:nvPr/>
              </p:nvSpPr>
              <p:spPr bwMode="auto">
                <a:xfrm>
                  <a:off x="7621927" y="5875593"/>
                  <a:ext cx="1718089" cy="523220"/>
                </a:xfrm>
                <a:prstGeom prst="rect">
                  <a:avLst/>
                </a:prstGeom>
                <a:solidFill>
                  <a:srgbClr val="B2E1F6"/>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ndParaRPr>
                </a:p>
              </p:txBody>
            </p:sp>
            <p:sp>
              <p:nvSpPr>
                <p:cNvPr id="53" name="TextBox 52"/>
                <p:cNvSpPr txBox="1"/>
                <p:nvPr/>
              </p:nvSpPr>
              <p:spPr>
                <a:xfrm>
                  <a:off x="7608198" y="5883961"/>
                  <a:ext cx="1733439" cy="461665"/>
                </a:xfrm>
                <a:prstGeom prst="rect">
                  <a:avLst/>
                </a:prstGeom>
                <a:noFill/>
              </p:spPr>
              <p:txBody>
                <a:bodyPr wrap="none" rtlCol="0">
                  <a:spAutoFit/>
                </a:bodyPr>
                <a:lstStyle/>
                <a:p>
                  <a:pPr algn="ctr"/>
                  <a:r>
                    <a:rPr lang="en-US" sz="1200" dirty="0" smtClean="0"/>
                    <a:t>Core product: </a:t>
                  </a:r>
                </a:p>
                <a:p>
                  <a:pPr algn="ctr"/>
                  <a:r>
                    <a:rPr lang="en-US" sz="1200" dirty="0"/>
                    <a:t>g</a:t>
                  </a:r>
                  <a:r>
                    <a:rPr lang="en-US" sz="1200" dirty="0" smtClean="0"/>
                    <a:t>eneral retailing</a:t>
                  </a:r>
                </a:p>
              </p:txBody>
            </p:sp>
          </p:grpSp>
          <p:sp>
            <p:nvSpPr>
              <p:cNvPr id="67" name="TextBox 66"/>
              <p:cNvSpPr txBox="1"/>
              <p:nvPr/>
            </p:nvSpPr>
            <p:spPr>
              <a:xfrm>
                <a:off x="7357192" y="3751313"/>
                <a:ext cx="1050288" cy="369332"/>
              </a:xfrm>
              <a:prstGeom prst="rect">
                <a:avLst/>
              </a:prstGeom>
              <a:noFill/>
            </p:spPr>
            <p:txBody>
              <a:bodyPr wrap="none" rtlCol="0">
                <a:spAutoFit/>
              </a:bodyPr>
              <a:lstStyle/>
              <a:p>
                <a:r>
                  <a:rPr lang="en-US" sz="1800" dirty="0" smtClean="0"/>
                  <a:t>+ level 7</a:t>
                </a:r>
                <a:endParaRPr lang="en-US" sz="1800" dirty="0"/>
              </a:p>
            </p:txBody>
          </p:sp>
          <p:sp>
            <p:nvSpPr>
              <p:cNvPr id="69" name="Rounded Rectangle 68"/>
              <p:cNvSpPr/>
              <p:nvPr/>
            </p:nvSpPr>
            <p:spPr bwMode="auto">
              <a:xfrm>
                <a:off x="7385203" y="4599695"/>
                <a:ext cx="1193038" cy="454297"/>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rPr>
                  <a:t>General</a:t>
                </a:r>
                <a:br>
                  <a:rPr kumimoji="0" lang="en-US" sz="1400" b="0" i="0" u="none" strike="noStrike" cap="none" normalizeH="0" baseline="0" dirty="0" smtClean="0">
                    <a:ln>
                      <a:noFill/>
                    </a:ln>
                    <a:solidFill>
                      <a:schemeClr val="tx1"/>
                    </a:solidFill>
                    <a:effectLst/>
                    <a:latin typeface="Arial" charset="0"/>
                  </a:rPr>
                </a:br>
                <a:r>
                  <a:rPr kumimoji="0" lang="en-US" sz="1400" b="0" i="0" u="none" strike="noStrike" cap="none" normalizeH="0" baseline="0" dirty="0" smtClean="0">
                    <a:ln>
                      <a:noFill/>
                    </a:ln>
                    <a:solidFill>
                      <a:schemeClr val="tx1"/>
                    </a:solidFill>
                    <a:effectLst/>
                    <a:latin typeface="Arial" charset="0"/>
                  </a:rPr>
                  <a:t>retailer</a:t>
                </a:r>
              </a:p>
            </p:txBody>
          </p:sp>
          <p:pic>
            <p:nvPicPr>
              <p:cNvPr id="72" name="Picture 2"/>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7472788" y="4111682"/>
                <a:ext cx="1008977" cy="458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10" name="AutoShape 2" descr="data:image/jpeg;base64,/9j/4AAQSkZJRgABAQAAAQABAAD/2wCEAAkGBxMHBhUUExQWFhIXGB4ZGBgYFx4cFhwiHxsbHiEgGyAdHiogGh8xHB4bJDIlJSkrLi4uGCAzODMtNygtLjcBCgoKDg0OGxAQGzImHyYsLCwvNDc3Mi8vLDItNCw3LC43Nzc1LC8tLzcsLC8sLDIsLCwsLCwsNzQvLywsLCwsLf/AABEIAHsBmgMBEQACEQEDEQH/xAAcAAEAAgIDAQAAAAAAAAAAAAAABgcEBQEDCAL/xABDEAABAwIEAwUEBgkDAwUAAAABAAIDBBEFBhIhBzFBEyJRYXEUMoGRCEJSk6GxFRYjM3KCksHRF1NiQ6LhVGOy0vD/xAAbAQEAAwEBAQEAAAAAAAAAAAAAAgMEBQEGB//EADYRAQACAQIEAwcDAwIHAAAAAAABAgMEERIhMVEFQZETFGFxgbHwFSIyocHhktEGJDNSYnLx/9oADAMBAAIRAxEAPwC8UBAQEBAQEBAQEGvx7GYcAwt89Q/REwbnqfAAdSTyCCgc08b6zEJS2kApouhsHykeZILW+gG3igizq7GsVGvXiEgPItMxb8LbD4IPgZgxfAJA509bF4CR0mk/yv7p+SCe5N45ywStjxBgkZy7aNoDx5uaO64fw2PkUF7UNZHiFG2WJ4fG8amuabgg+CDvQEBAQEBAQEBAQEEdzfnWjyhTg1MlnO9yNo1SO9B0HS5sPNBVWJ8f3mQ+z0bQ3oZZCSfUNAt8ygycv8fBJVBtZTBjD/1InE6fVjtyPQ38iguehrI8Qo2yxPD43jU1zTcEHwQd6AgICAgICAgICAgICAgICAgICAgICAgICAgICAgICCjPpK1zw6jgv3DrkI8SLNHyBd/Ug3XA/JtG3LMdY5rJqiQu7zgHCOxI0tB9023J57+CC2RsEHXUU7KmIte1r2nm1wBB9QdkHnzjbw8iy8xtXSt0QvfpkjHutcbkFvg02It0Nrc0G4+jfjz5G1FG512tAmjH2bnS8DyuWG3iT4oLvQEBAQEBAQEBAQdFdVNoqJ8jvdY1z3ejQSfwCDyhBHVcTs9WLv2kziSTctiYN9vIN5DqfMoL4wng/hVBS6XwmZ1rF8j3XPoGkBvwCCn+MOQGZNr45IC4001wA43LHDm2/Mgg3F99igmX0b8cfLBUUjjdrLSxjwuSHj0vpPqT4oLsQEHDnBo3NkexEz0co8EBAQEBAQEBAQEBAQEBAQEBAQEBAQEBAQEBAQV5xiyG/OOFxvgt7TDfS0mwe11rtvyBuAQTtzG17oK24W5axjBs4xgRTQQB/wC313ELm9eul5tsLXIJCC3M9cRKXJU0bJmyPkkGoNjAJDb2udTgOdwPQoJDgWLxY9hMdRCbxSC7bix8CCOhBBHwQVr9IjGo6bK7KW4M0sgdp6hrbm5/msPn4II39GzC3OxepqbHQ2MRA9CXODjb0DB/UEF+oPmSQRMu4gDxJsEGHT4xT1M+hk8Ln/ZbI0u+QN0GcgX3QEBBEuI2eYsk4SHuGud9xFHe17c3O8Gja/qAgow8Z8W9u19rHp/2+yb2f/3/AO5BffD3NrM5ZdbOG6HglkjOYa4WO3iCCCPXyQbjG6H9J4LNCDYyxPjv4amlt/xQVZwf4c1eVMySzVIYG9kY2Fr9VyXNN/IWb1QXAgqD6SbwMuUw6mckegY6/wCYQQjgdicWX66srJyRDFThrrC5JfIzSAOpJbYILh4f8R4M71ErI4pI3xgOs+x1NJtcEcje1x5jmgmqCruLDJnYnHcOMGju2B06rm9+l7WWzTbbT3fW/wDD04oxW2/nvz77eX0S/IDJo8rxibVqudId7wbfu3vv6eVlRmmOOdnF8YtinV2nF05b7dN/P87pEqnMEBAQEBAQEBAQEBAQEBAQEBAQEBAQEBAQEBAQYmLVv6NwqWbSXdlG+TSOZ0tLrDzNkHkLN2aKjN2LdvUadYaGAMbZrWgkgDcnmSdyeaDZ4BxIxHL2EingmDYm30gxscW3JJsS3xJ53QYOFtdnHNLBWVegyus6aW59AOg8ADZo8kHqrAMGp8oZebFHZkMTS5z3EXO13PefHqenhYBB57zvxXrcUxqX2WofFS3tGGAMcQPrE21XPPntdBB6ivqcWlDXyzTOJsA57nknpYEkkoFfh9RglYGyxyQyiz2hzSx3k4X359R4IPSGUs+34U+3VJ1SQtcx3i97TZvxddt/MlBTuRczVWIcUKaaWZ7nyzBru8dNn7aQL2Dd9hyFggtrjHxFdlOBsFMR7XINRcQCI28gbHYuJva9xsfJB18D87VWa4KiOqIe6HQWyaQ1xD9Wzg0Abadjbrugpzipjzsw54ndclkbzFGOlmEt29Tc/FBIOKmXqTKWWaKlY1prt5Jn/XIIsbn7Ou4aPBnqUE9+jpSugydNI4WbJOS3zDWNBPzuP5UFrA6htyQcoCDzXx+zC3Fs2tgYQWUrS0n/AJuIL/kA0erSg1xwkYVwdMz7iSrqmaB/xiEm/pcv/wC1BH8o5tqso1jpKZzQXjS4OaHAgG/Xcb+BCD0Dwi4hvzrBKydjWzxWN2XDHNdcXsSdJBG++90GZn3iXS5MrGRSMfLK4ai1lu62+xNzzO9h5dNkEtwnEGYthkc8ZJjlYHtuLGzhcXHQoK14x8SX5Yc2mpHNFUe9I4tDuzaRtYHbUee4NgOW4QV1l3jPiOHVwNQ8VMJPeY5rWut10OaBY+twg9HYRiUeMYZHPEdUcjQ5p8j4+B6EeIQZiAgICAgICAgICAgICAgICAgICAgICAgICDgi4QeU+MlLDQ8QJ44I2RsaGXawWbcsDjsNhzQXbkXJOH1eSKV0lJA98kDHPcWAuJc0G9+d90Hn/iHgkeXc5VFPESY2OGm5uQHNDrE9bXt8EFgcSM1yUnDXDqLWe2np45JjfvdmGjSD17x5/wAB8UGl4JZQps14tP7U0vZFGCGhxaLuJFyWkHYA9eqCJmP9DZ50xE2hq7MPXuS2B/AILK+kqR+laPx7N9/6m2/ugrU47LV5Yhw9jTpE7pCBcukc4Na0WHhvt1LkHTlrEP1fzRDNIxx7CUOcwbO7p3G/IoOMz4zLmTGZaqUG8jvMtaOjQfJv5ILf+joxtJglfO42ALAT4BjXuP8A8kFHPmL6gv8ArF2r43ugl2XMoYjxAxbtD2ha83kqZb6bctiffNtg1vlyG6Cb8ZMajy1gUGD0btLWtBmsd9PMNd5uJL3fDoUGPlTiAcgZAijcDNUzOdLFG51mxRmzQXHnYua5waOhvtdBj0nHquZUXkgp3s+y0Pa74OLj+SCU4pxzppMsPdAx7K091kbxdoJ+vqGzgOdjYk22tugp3J2Xpc5ZmZCC4l7tcshNy1t+84k8zv15khBZHHfBaj2uigpqeR1LFFojEbC4aibFvdHPS1nrv5oNNxKy3DlHI1BTmNntr3OklkAGv3Rdt+rQXNA/gv4oN3wLniy7lavxCY2jaWsHidILtI83F7APNBU2YsZkzBjctTKe/I7UfADkGjyAsB6IPT+WcWjy/wAKaaolNmR0rHHzOkWA8ySAPMoPN0DpM552Z2rjrqqhocR9UPeBt5BvLyCCaca8i0mUo6Z9KC0Samua5xdctDSHbm45m/TlyQWN9H6qNRw+DTyjmkY30Ol/5vKCykBAQEBAQEBAQEBAQEBAQEBAQEBAQEBAQEBB5I4rT+0cRKw/+7p/paG/2QenclRdhk6jb4U0Q+UbUHlniLVGsz3WuP8A6iRvwY4sH4NCDpqDV5yxCWXQZHRxan6RZrI42gbDoAANhzJQduTM51OTamR9P2ZMjNDg9pcOdwRYjcfLfkUGw4XYG/M+e4b3LWP7eV3k06t/V1h/Mglf0kpL5npm+FPf5yO/wgxuAGWP0pmQ1T23ipvdvyMh5fIXPrpQV3jkZOYJ2gEu7Z4sNyTrOwQWlxGyqMq8I6OKw7X2gPmP/N0T7i/UDZo/hQVrSZmqKLLklHG7TBK/XJb33bAaSfs7DZBgOjkw6qaXNcx40vAc0g72c02PQixQX1iHHalGX9UMUntZbbs3D9mx1uZdfvNvytufJBVGUcv1HELNtnOc7U7XUTH6oJ3Phc8mj+wKDay0lE3ivPFiRMdIyRzGgXA0sAbECW94N0Bu48uSDWcQmYTHXgYYZiB75cSYv5NQ1k+Z28EERQWDwp4hMyTLI2SAPjlILpGfvm26b7Ob1ttuTuUF60vEvCqmnDxWRAHo4lrh6gi4QVD9Iao9sx6lkY4PgfT3je03a673EkEc9tP4IKyGJTDDPZ+0d2GvtOzv3dVrareNtkDEsMlwqcMmY6N5aH6XCzrOFwSOm3QoJFmPPc2OZWpaLQI4adrQbOv2haNLSdhaw6b7m/gg0uGVcuW8chm0WlicyVrXggEbOFxzsW2+BQbjiBnebPOIxvexsbY26WMaSeZuTc8ydvkEHovhZgDst5IgikFpSDJIPAvN7HzDbD4INzgONNxuKR7GkMbIWNceT7fWHkp3pw8pa9XpLaaa1tPOYiZjtv5GGY03EsTniY02gIaX/VLje4HpZLU4Yie5n0lsOKmS0/y3nbtH+W0UGQQEBAQEBAQEBAQEBAQEBAQEBAQEBAQEFQ5r4K/p3Nj6htSGQyv1yM0XeCfe0m9t/PlfqgtmlgbS0zWN2axoaB5AWH4IKzzVwVpsext9Qyd8JkcXvaGhzSTuS3cFtzv13KCX5NyZS5Pw0xQNJL/3j32L3+u1rbmwG258Sgh2McDaGvxB0kcksDXG5jbpLB/BcXaPK58ttkE0yfk+lyfQGOmabu997jeR9uWo2HyAAQQbi/w2qs341DPTOj2j7N7ZHFtrOc4OFgbjvG/oOd0E4yJldmUMuMp2nU4XdI+1tTjzPpyA8gEGsZwxw9mavbuzd2uvtNGr9lrvfVpte99+dr9EG7zZlyHNWCPpp9Wh1iC02c0jkRcWv/koIjlfg3QYFViV+uoeDdva20Dz0gbn1JHkg2PELhxT51iDiTFUMFmytANx9l4+s3w3BHjzCCvMN4ASe2ft6tnZA/8ATYdZH82zT/UguLLWXKbLGHCGmjDGcyebnHxcebigiHEfhVDnCq7eOTsKmwDnadTHgctQ2INttQ6dDsgg9BwAndUftquJrL/9NjnOI/msAfmgs/LnDbDsAoyxsDZS4Fr3zAPe4HmNxYDyaAggWduBzZ3mXDnhhO5gkJ0fyO5j0dfnzCCAQcJMXlqgw0unfdzpI9A8yQ43+Fygvan4c0s+SoKGqHa9iNpB3XBxJLiw9Bc2segF0HVljhRh2Xa0StY+WQG7XTODtPm0ABt/MglBGeNvDyozFVx1VIztJGs0SR3AcQCS1zb2B5kEXvytdBGOHPB+pqcXbLiEXZ07Dq7NxBfIRyBAvZvjfc8gN7gLPz9w0pc5ua9xdDO0aRIwA3HQOafeA6WIKDVZN4NUmXsQbNLI6plYbs1NDYweh03NyOlzbyQS3PGKHC8vPLf3kn7KPxu7b8Bc/BW4q8Vubo+FaaM+pji/jH7p+UI1g+KyZWp6ine6N7KeEPaWi1nuPuE9SXHmrbVjJMWjzl1dTpqa62PNWJib2mOfnEefpBhcs+GRU9JC5rKmdpqZpZBe2q/IdXbW+CWiLb2npHKDUVw55yanJEzSkxSsR8P7c3bS5uqKuiiiaY/aZZnxCUj9npZa7wOp35cl5OKsTM+WyGTwvBS98k78Faxbbz3nybfJWJ1GKSTmV7Xxxv7Njms06i0m7ufUaVDLWtdtmPxTT4MEY4xxMWmOKYmd9t+kfdKFS5AgICAgICAgICAgICAgICAgICAgICAgICAgICAgICAgICAgICAgICAgICAgICAgwMWwaDGGtE7A8NJIBJHMW6FSrea9GnT6vNp5mcVtt2HHlOkjwx0AiAjcQXDU65I5Xde+3qpe1vvvuut4nqrZYyzb90dOn26OuXJtFLRsjMI0Mvp7zri5ud73O/ivfbX333Sr4tq63m8X5z16eSvsZqv0hhNminZGyUxQU4aTPcm1zvsTz9VppG0+fTnL6XTY/ZZt7TaZmvFa2/7Vg5NwebBMN7KV7HNG7Q1tiL3LtRv3tz+CzZbxad4fNeJ6rFqcvtKRMT57z17fJv1U5wgICAgICAgICAgICAgICAgICAgICAgICAgICAgICAgICAgICAgICAgICAgICAgICAgwW4PTsr+2EMfanfXpGr1v4+alx22235NE6rNOP2U3nh7b8mcos4gICAgICAgICAgICAg1GZMxRZdpGvkEjtTgxrY2Fzi4gkDwGwPPwQYNBnWnnjjMzZKZ0shjjZUM0OcQGm/k3vAXNt9kElQEBAQEBAQEBAQEBAQEBAQEBAQEBAQEBAQEBAQEBAQEBAQEBAQEBAQEBAQEBAQEBAQEEQyThsjcXrqme3ayzljQHtcBGwDR7pIabOtY77DxQZ+faCCvynOJwezYwvu0AvaWi92XIF+nMXvbqgzst1IrMv08jTIWuiYQZLdoQWjd+nu6jzNtt0GyQEBAQEBAQEBAQEBAQEBAQEBAQEBAQEBAQEBAQEBAQEBAQEBAQEBAQEBAQEBAQEBAQQnCIhlLNdQyWSJkFbLrp2l3fMhHfFrWAuQLk89A5uQc5oxKPMWJnC2B79YJqJInAdiBYi5IIJ1AAt8wgmNNA2lp2sYLMa0NaPAAWA+SDsQEEAzbxIbheIGnpYvaJxs7noaRzADRd5HUCwHje9g0dLxTq6SQGqo7RXsS1r2Eemu7SfK49UFn4RicWM4cyaF2qN4uD+BBHQg3BHiEGYgICAgII5nDN0WWIBqBfM/3IwbE+bj9Vv59BzVuLFOT5J0pNkX/AFxxcSajh50c9PZyaret+fw+Cu9ji/7lnBTuleUc1w5npSWAskb78ZO4vyIP1m+f5KnLimk81d6TVIFUgICAgx66sZQUxe82aLX2vzNuinSk3tw1VZs1MNJvfpDmpq2UtKZHGzAL3/x4rytJtbhjq9yZaY6Te08kdOYairdeCnJZ4kE3+Vh+a2e7Y6/ztzcn9Q1GSd8OPl+fnmysMzF21UIp2GKQ7C97H57jy5qGTTbV4qTvC/T+I8V/Z5a8Nm4rKtlFTl7zZotc2vzIHTzKzUpN52hvy5aYq8d+jv5qKwQEBAQdFbVsoaV0jzZreZ/x4lQyZK46za3RZixWy3ilI5yibs11NY69PTEx9CWudf4tsAfLdcz3/Nfnjpy+s/4dmPDNPjjbNk5/OI+7OwbNXtNWIp4zFKdhcEAnwsd2nw8Vdg13FbgyRwyz6nw3gp7TFbir+eqSroOUICAgIOCdIueSEztzlFK/N/7fTAwO3sHOvv6AbqcV7vntR45+/hwV3+M+fygoc3kVGmdgbvYlt+76g7pw9nmDxyePhz128t48vnCVtcHNuNweRUH0MTExvDlHogICAgICCnsazFVS4zIRNIzQ9zWta4hrdJIsQNnHbe997+i1VrG3R9rpdBp64KxwRO8RMzPOZ3+30TOTOXsGEUz5KeolfMzUewi1AWtud9r3uPis9o2mYfJ6zFXFnvSvSJfVVnGUUsTocPqpDK0u0lugts4ts/npJtceRCizNdmLAq7OlPCyVsNNTlrXyNI7Sdkl3AtafdtptuLe8QfBB2PwGvy5IDh5glYWtErZwe2lcL3e6QWubWABIAty5oMrEM6PwecNqKKp9xpdJCztItRaC4A7bAki/WyDsxTPtPhla6J0VS57bX0Qlw3aHc777H5oPqvze1lbPTshnEsbJCHmP9iS2Mv2dffw9UFfcNsunFMKkk7Sdkk7jF20VgYwzRI7U4m4L3WGwPunxQSuTIhpKd7X1VZUsmb2LmOcHtbrc20lnOAGggOuN7A87oNLwixE4WyqhfqcwVEbG6Reznl7C4+De42/ggl9HnqCsxRsAhqQ5z9Ac6Ehl72uTfl5oOMMz5BiOINibDUtc4kAvhIaLAnc325IPil4hUtUx5EdSNDNZvCRtrYzbxN3jbwB8FKtZtO0PYjednz/AKjUv+3U/cn/ACrfd7fD1T9lJ/qNS/7dT9yf8p7vb4ep7KVc5uqnVPEVxd9WaNo8mgst/c/ErVjjbF9JX0j9iZxZCpo8fFb7Q6/tRdbQPf7U92/P3+7dUTqLcPBt5Kpy224fgheQaw0ee2EHZxla4Dq3Q91vm0H+VaM0b4vRbeN6LGHEalI/d1P3BWT3e3w9VHspc/6jUv8At1P3J/ynu9vh6nspbGDNkM0IcGTWIvvGb/HdS91v3j1c7Jr8eO80mJ3jl0dn6zw/Zl/oT3W/ePVD9SxdrejFq5H5keI2MeyAG73uFibdGhWViuD90zvbyUZbX1sxSsTFPOZ8/k1eYBNS4TFFJvpc4AjkQ0DT+BPyV+Dgtktev53YtdGXHgpiyeUz9Yjp927wjDG1GFQntJLBh9x7mDck72N7jl8Fly5Zre3KOvzdHTaWt8NJ4p6eUzHX5NJnCnFNPEA8uIZbc3fsTYk9ef4LVpLcUTy83O8UxxjtSItvO23x5ee7a1sM+OU7Y7aI9DXOefrOLQQAPC53/wDFlnpbHhmbdZ32bs1M2rrFNtq7RMz3nbp6u6lx32aAMnjlbI0WNmEg26gjmo20/FO9JjZPHruCsVzVmLR8N9/i7f1ki+zL92VH3W/ePVZ+pYu1vSXxLmmGJty2X7srPqf+Xpx36b7cuf50bNDkjWZJx4+UxG/PlHlH93V+uEH2JvuysXv+PtPpLq/pebvX1P1wg+xN92U9/wAfafST9Lzd6+rR50xUYjh0JYHBhc64cLG7QLbfzFYtfnjJSvD03n+joeF6acWS8W232j+v/wAfbcJq6unj7GRgjEUYDS7cExtJuNJsSTf0svYwai1a+ztG20faPhLydTpcdre0rPFxW8vjO3m1uZqaWlpYO2eHSgvF2uvYAtIF7CxFys+rpkrWnHPPn/bZq0OTHe9/ZxtXl/fdLDmiOmY1sjZC/Q0u0suLuaDz+K6nvtKxEWid9o8nF/Tr3mZpMbbzHXtLj9cIPsTfdlPf8fafSXv6Xm719XLM3QOdbRN92VPFq6ZLcMRPoy63TW0mGc2TaYjbpznny6Oz9aIfsy/dla9nD/V8Ha3+mT9aIfsy/dlNj9Xwdrf6ZYmNY02twOXsw8EaQdTbbOcAbf8A7qvYjmza7X1zaTJ7OJjpE7xtymdmly7gz6qoZK7uRNcCCfrEHYN+PVSmXL8O0F8t65bcqxMTv32npD6zJgz6epfK3vxucSSObSTuHfHqkS98S0F8d7Zq86zMz8vn+fNJcoSmXAWX6FwHoCbf4+Cjbq7ng95tpK7+W8ekt0ouoIPmSQRMJcQANyTsAiNrRWN7TtDSPzF27yKeF81vrDus+ZUuHu5c+Kcc8Omxzf49I9XbTVNZJO3VDG1hI1d+7gOvVeclmLLrrWjjxxEefPeVdZkzDUyY7JaWSMRvc1rWuLQA02uQPeva+9+fgtFaxs/RdFodPGnrvWJ3iJmZjfr9vo3NPniq9nbeDUbDvWPe257bb89lCccd2G/g+m4p/ft8O3wSyuyxSV9Z2skIL+puQD/EAbO+IVcXtEbQ4+LxHU4qezpfl9OXy84+jbtaGNAAsBsAOSixzMzO8uUeCAgICDhzQ9pB3B5oKax7DK/JFNURUwkdRzOa5kkZcXw2dcizfcJFml3IgDe+wDS5YzDiklc4Qmepc9jo9LnPc1pdazr3swi2xJHMoLayBlk5ZwXTI4OnkdrlcNxc9ATuQB16kk7XsgkyAgICAgrXiRkt9biAqoWOkBsJo2G0hA21M2Nzp25E7AgHda8GaIjhn6L8eTaNpa7/AFAmfP2XskxBGnsu1N7Wtb9zrvbre91L3eOvF+er32Ud214a5NfhtW6qmaWOsRDG4gvaD9Z9vrW2t5m/OwhnzRaOGEcuTeNoWMsqkQEBAQazMGF/pWg0jZ4N2k8r+B8ir8GX2dt/Jj12l94x8MdY5wjJxB2GRiN0MzLdO2cGnzBt4+Bstvs4yTxRaJ+jke8WwRwTS0bf+U7fb7cnbFQOzBVNcY3sYPee95JcPBoIAHw23UZyRgrMRMTPaEq4Lay8WmsxHnMz1jtHT+nJM2jSLDkua+hiNnKAgICAg1GZsH/TOHaRYSNOphPK/gfIj+yy6vT+2x7R1jo26HV+75eKek8pRObH6vCoWRdmI3MaGuLm31W2BB5e6ANieS5k6vPiiKcO23Lp1/Pq7NdDps9pycW8TO/Xpv8A5+TIjpZ81zxGSPs4mDvutbWTa+na+4AHlY79FOKZNXNeONqx1+Pf88lVsmHQ1tFLb2npHbtv8v6p0BpFhyXafPb7uUBAQEGPX0ra6jdG7k4W9PP5pCnPhrmx2x26Sgc9PNhFY0ysdI1n7s3d2dxyO3L+HZWcpfI5MWfS5InLWbRX+PXh5dJ/xyfLY5cUq3OjaYmv/eHURFcncknxv7u6coRimbU5Jtjrwxb+XOeHn1n69uae4fRtoKJsbeTRa/j4n53KrmX2GnwVwYq469IZKLhBG9JzJiLrk+yxG1ht2jh/b/x47S6OHtPiGaYn/pVnb/2n/b8+UhijEMYa0ANHIAWAUXapStIitY2h9ok1GI5apcSq+0kiBf1ILhf+INIDvipRe0RtDZh8Q1GGnBS20fSfTt9G1jjEUYa0ANAsABYADoFFkm02neer6R4ICAgICAgICAgICAgICAgICAgICAgICAgICAgICAgICAgICAgICAgICAgxsQomYhSljxdp+YPiPNInZRqNPTPjnHeOUtLHWT4ENMzXSwj3ZWi7gP8AmP7/AJqW0T0cuufUaH9ueJtTytHWPn/v922o8WgrW9yRp8r2PyO68mJh0cOt0+aP2Xifu+MeqvZMHleOYbt6nYfmkRzR1+b2WmveO33c4HSCiwmNn/EE+p3P4pM7y90GCMOnpSO39Z6s9eNYgICAgICAgICAgICAgICAgICAgICAgICAgICAgICAgICAgICAgICAgICAgICAgICDW1uB09UCXRNv4jun5ttdexMsOfw7S5d5vSN/T7bIrW4dHFLpAIaeY1Ot+alEy4GfSYqzwxHL5z/unbRZqg+thygICAg//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31" name="Group 30"/>
          <p:cNvGrpSpPr/>
          <p:nvPr/>
        </p:nvGrpSpPr>
        <p:grpSpPr>
          <a:xfrm>
            <a:off x="4410669" y="5187277"/>
            <a:ext cx="1400190" cy="542598"/>
            <a:chOff x="4410669" y="5187277"/>
            <a:chExt cx="1400190" cy="542598"/>
          </a:xfrm>
        </p:grpSpPr>
        <p:sp>
          <p:nvSpPr>
            <p:cNvPr id="85" name="Rectangle 84"/>
            <p:cNvSpPr/>
            <p:nvPr/>
          </p:nvSpPr>
          <p:spPr bwMode="auto">
            <a:xfrm>
              <a:off x="4455550" y="5187277"/>
              <a:ext cx="1302761" cy="542598"/>
            </a:xfrm>
            <a:prstGeom prst="rect">
              <a:avLst/>
            </a:prstGeom>
            <a:solidFill>
              <a:srgbClr val="009BE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ndParaRPr>
            </a:p>
          </p:txBody>
        </p:sp>
        <p:sp>
          <p:nvSpPr>
            <p:cNvPr id="70" name="TextBox 69"/>
            <p:cNvSpPr txBox="1"/>
            <p:nvPr/>
          </p:nvSpPr>
          <p:spPr>
            <a:xfrm>
              <a:off x="4410669" y="5218054"/>
              <a:ext cx="1400190" cy="461665"/>
            </a:xfrm>
            <a:prstGeom prst="rect">
              <a:avLst/>
            </a:prstGeom>
            <a:noFill/>
          </p:spPr>
          <p:txBody>
            <a:bodyPr wrap="none" rtlCol="0">
              <a:spAutoFit/>
            </a:bodyPr>
            <a:lstStyle/>
            <a:p>
              <a:pPr algn="ctr"/>
              <a:r>
                <a:rPr lang="en-US" sz="1200" dirty="0" smtClean="0">
                  <a:solidFill>
                    <a:schemeClr val="bg1"/>
                  </a:solidFill>
                </a:rPr>
                <a:t>Core product:</a:t>
              </a:r>
              <a:br>
                <a:rPr lang="en-US" sz="1200" dirty="0" smtClean="0">
                  <a:solidFill>
                    <a:schemeClr val="bg1"/>
                  </a:solidFill>
                </a:rPr>
              </a:br>
              <a:r>
                <a:rPr lang="en-US" sz="1200" dirty="0" smtClean="0">
                  <a:solidFill>
                    <a:schemeClr val="bg1"/>
                  </a:solidFill>
                </a:rPr>
                <a:t>personalized offer</a:t>
              </a:r>
            </a:p>
          </p:txBody>
        </p:sp>
      </p:grpSp>
      <p:grpSp>
        <p:nvGrpSpPr>
          <p:cNvPr id="29" name="Group 28"/>
          <p:cNvGrpSpPr/>
          <p:nvPr/>
        </p:nvGrpSpPr>
        <p:grpSpPr>
          <a:xfrm>
            <a:off x="5788089" y="1121355"/>
            <a:ext cx="4230554" cy="2565849"/>
            <a:chOff x="5788089" y="1121355"/>
            <a:chExt cx="4230554" cy="2565849"/>
          </a:xfrm>
        </p:grpSpPr>
        <p:sp>
          <p:nvSpPr>
            <p:cNvPr id="86" name="Rectangle 85"/>
            <p:cNvSpPr/>
            <p:nvPr/>
          </p:nvSpPr>
          <p:spPr bwMode="auto">
            <a:xfrm>
              <a:off x="5970423" y="1121355"/>
              <a:ext cx="3643944" cy="2565849"/>
            </a:xfrm>
            <a:prstGeom prst="rect">
              <a:avLst/>
            </a:prstGeom>
            <a:solidFill>
              <a:srgbClr val="009BE1">
                <a:alpha val="34000"/>
              </a:srgbClr>
            </a:solidFill>
            <a:ln w="9525" cap="flat" cmpd="sng" algn="ctr">
              <a:solidFill>
                <a:srgbClr val="B2E1F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smtClean="0">
                <a:ln>
                  <a:noFill/>
                </a:ln>
                <a:solidFill>
                  <a:schemeClr val="tx1"/>
                </a:solidFill>
                <a:effectLst/>
                <a:latin typeface="Arial" charset="0"/>
              </a:endParaRPr>
            </a:p>
          </p:txBody>
        </p:sp>
        <p:grpSp>
          <p:nvGrpSpPr>
            <p:cNvPr id="14" name="Group 13"/>
            <p:cNvGrpSpPr/>
            <p:nvPr/>
          </p:nvGrpSpPr>
          <p:grpSpPr>
            <a:xfrm>
              <a:off x="6354359" y="1392254"/>
              <a:ext cx="3086234" cy="2186265"/>
              <a:chOff x="6467051" y="1332764"/>
              <a:chExt cx="3086234" cy="2186265"/>
            </a:xfrm>
          </p:grpSpPr>
          <p:grpSp>
            <p:nvGrpSpPr>
              <p:cNvPr id="360449" name="Group 360448"/>
              <p:cNvGrpSpPr/>
              <p:nvPr/>
            </p:nvGrpSpPr>
            <p:grpSpPr>
              <a:xfrm>
                <a:off x="6518468" y="2995809"/>
                <a:ext cx="1240829" cy="523220"/>
                <a:chOff x="5743807" y="5823487"/>
                <a:chExt cx="1718089" cy="523220"/>
              </a:xfrm>
            </p:grpSpPr>
            <p:sp>
              <p:nvSpPr>
                <p:cNvPr id="57" name="Rectangle 56"/>
                <p:cNvSpPr/>
                <p:nvPr/>
              </p:nvSpPr>
              <p:spPr bwMode="auto">
                <a:xfrm>
                  <a:off x="5743807" y="5823487"/>
                  <a:ext cx="1718089" cy="523220"/>
                </a:xfrm>
                <a:prstGeom prst="rect">
                  <a:avLst/>
                </a:prstGeom>
                <a:solidFill>
                  <a:srgbClr val="B2E1F6"/>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ndParaRPr>
                </a:p>
              </p:txBody>
            </p:sp>
            <p:sp>
              <p:nvSpPr>
                <p:cNvPr id="52" name="TextBox 51"/>
                <p:cNvSpPr txBox="1"/>
                <p:nvPr/>
              </p:nvSpPr>
              <p:spPr>
                <a:xfrm>
                  <a:off x="5764332" y="5882977"/>
                  <a:ext cx="1602972" cy="461665"/>
                </a:xfrm>
                <a:prstGeom prst="rect">
                  <a:avLst/>
                </a:prstGeom>
                <a:noFill/>
              </p:spPr>
              <p:txBody>
                <a:bodyPr wrap="none" rtlCol="0">
                  <a:spAutoFit/>
                </a:bodyPr>
                <a:lstStyle/>
                <a:p>
                  <a:pPr algn="ctr"/>
                  <a:r>
                    <a:rPr lang="en-US" sz="1200" dirty="0" smtClean="0"/>
                    <a:t>Core product: </a:t>
                  </a:r>
                </a:p>
                <a:p>
                  <a:pPr algn="ctr"/>
                  <a:r>
                    <a:rPr lang="en-US" sz="1200" dirty="0" smtClean="0"/>
                    <a:t>trip</a:t>
                  </a:r>
                  <a:endParaRPr lang="en-US" sz="1200" dirty="0"/>
                </a:p>
              </p:txBody>
            </p:sp>
          </p:grpSp>
          <p:grpSp>
            <p:nvGrpSpPr>
              <p:cNvPr id="50" name="Group 49"/>
              <p:cNvGrpSpPr/>
              <p:nvPr/>
            </p:nvGrpSpPr>
            <p:grpSpPr>
              <a:xfrm>
                <a:off x="8192852" y="2995809"/>
                <a:ext cx="1360433" cy="523220"/>
                <a:chOff x="5694251" y="5823487"/>
                <a:chExt cx="1718089" cy="523220"/>
              </a:xfrm>
            </p:grpSpPr>
            <p:sp>
              <p:nvSpPr>
                <p:cNvPr id="56" name="Rectangle 55"/>
                <p:cNvSpPr/>
                <p:nvPr/>
              </p:nvSpPr>
              <p:spPr bwMode="auto">
                <a:xfrm>
                  <a:off x="5694251" y="5823487"/>
                  <a:ext cx="1718089" cy="523220"/>
                </a:xfrm>
                <a:prstGeom prst="rect">
                  <a:avLst/>
                </a:prstGeom>
                <a:solidFill>
                  <a:srgbClr val="B2E1F6"/>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ndParaRPr>
                </a:p>
              </p:txBody>
            </p:sp>
            <p:sp>
              <p:nvSpPr>
                <p:cNvPr id="59" name="TextBox 58"/>
                <p:cNvSpPr txBox="1"/>
                <p:nvPr/>
              </p:nvSpPr>
              <p:spPr>
                <a:xfrm>
                  <a:off x="5834799" y="5882977"/>
                  <a:ext cx="1462044" cy="461665"/>
                </a:xfrm>
                <a:prstGeom prst="rect">
                  <a:avLst/>
                </a:prstGeom>
                <a:noFill/>
              </p:spPr>
              <p:txBody>
                <a:bodyPr wrap="none" rtlCol="0">
                  <a:spAutoFit/>
                </a:bodyPr>
                <a:lstStyle/>
                <a:p>
                  <a:pPr algn="ctr"/>
                  <a:r>
                    <a:rPr lang="en-US" sz="1200" dirty="0" smtClean="0"/>
                    <a:t>Core product: </a:t>
                  </a:r>
                </a:p>
                <a:p>
                  <a:pPr algn="ctr"/>
                  <a:r>
                    <a:rPr lang="en-US" sz="1200" dirty="0"/>
                    <a:t>t</a:t>
                  </a:r>
                  <a:r>
                    <a:rPr lang="en-US" sz="1200" dirty="0" smtClean="0"/>
                    <a:t>rip</a:t>
                  </a:r>
                  <a:endParaRPr lang="en-US" sz="1200" dirty="0"/>
                </a:p>
              </p:txBody>
            </p:sp>
          </p:grpSp>
          <p:sp>
            <p:nvSpPr>
              <p:cNvPr id="7" name="Rounded Rectangle 6"/>
              <p:cNvSpPr/>
              <p:nvPr/>
            </p:nvSpPr>
            <p:spPr bwMode="auto">
              <a:xfrm>
                <a:off x="6504965" y="2436001"/>
                <a:ext cx="1214783" cy="487680"/>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rPr>
                  <a:t>Smart travel</a:t>
                </a:r>
                <a:br>
                  <a:rPr kumimoji="0" lang="en-US" sz="1400" b="0" i="0" u="none" strike="noStrike" cap="none" normalizeH="0" baseline="0" dirty="0" smtClean="0">
                    <a:ln>
                      <a:noFill/>
                    </a:ln>
                    <a:solidFill>
                      <a:schemeClr val="tx1"/>
                    </a:solidFill>
                    <a:effectLst/>
                    <a:latin typeface="Arial" charset="0"/>
                  </a:rPr>
                </a:br>
                <a:r>
                  <a:rPr kumimoji="0" lang="en-US" sz="1400" b="0" i="0" u="none" strike="noStrike" cap="none" normalizeH="0" dirty="0" smtClean="0">
                    <a:ln>
                      <a:noFill/>
                    </a:ln>
                    <a:solidFill>
                      <a:schemeClr val="tx1"/>
                    </a:solidFill>
                    <a:effectLst/>
                    <a:latin typeface="Arial" charset="0"/>
                  </a:rPr>
                  <a:t>Assistant</a:t>
                </a:r>
                <a:endParaRPr kumimoji="0" lang="en-US" sz="1400" b="0" i="0" u="none" strike="noStrike" cap="none" normalizeH="0" baseline="0" dirty="0" smtClean="0">
                  <a:ln>
                    <a:noFill/>
                  </a:ln>
                  <a:solidFill>
                    <a:schemeClr val="tx1"/>
                  </a:solidFill>
                  <a:effectLst/>
                  <a:latin typeface="Arial" charset="0"/>
                </a:endParaRPr>
              </a:p>
            </p:txBody>
          </p:sp>
          <p:sp>
            <p:nvSpPr>
              <p:cNvPr id="8" name="Rounded Rectangle 7"/>
              <p:cNvSpPr/>
              <p:nvPr/>
            </p:nvSpPr>
            <p:spPr bwMode="auto">
              <a:xfrm>
                <a:off x="8228997" y="2469384"/>
                <a:ext cx="1307978" cy="454297"/>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rPr>
                  <a:t>Trip initiator</a:t>
                </a:r>
              </a:p>
            </p:txBody>
          </p:sp>
          <p:sp>
            <p:nvSpPr>
              <p:cNvPr id="21" name="TextBox 20"/>
              <p:cNvSpPr txBox="1"/>
              <p:nvPr/>
            </p:nvSpPr>
            <p:spPr>
              <a:xfrm>
                <a:off x="6582390" y="1332764"/>
                <a:ext cx="1050288" cy="369332"/>
              </a:xfrm>
              <a:prstGeom prst="rect">
                <a:avLst/>
              </a:prstGeom>
              <a:noFill/>
            </p:spPr>
            <p:txBody>
              <a:bodyPr wrap="none" rtlCol="0">
                <a:spAutoFit/>
              </a:bodyPr>
              <a:lstStyle/>
              <a:p>
                <a:r>
                  <a:rPr lang="en-US" sz="1800" dirty="0" smtClean="0"/>
                  <a:t>+ level 5</a:t>
                </a:r>
                <a:endParaRPr lang="en-US" sz="1800" dirty="0"/>
              </a:p>
            </p:txBody>
          </p:sp>
          <p:sp>
            <p:nvSpPr>
              <p:cNvPr id="22" name="TextBox 21"/>
              <p:cNvSpPr txBox="1"/>
              <p:nvPr/>
            </p:nvSpPr>
            <p:spPr>
              <a:xfrm>
                <a:off x="8352180" y="1347706"/>
                <a:ext cx="1050288" cy="369332"/>
              </a:xfrm>
              <a:prstGeom prst="rect">
                <a:avLst/>
              </a:prstGeom>
              <a:noFill/>
            </p:spPr>
            <p:txBody>
              <a:bodyPr wrap="none" rtlCol="0">
                <a:spAutoFit/>
              </a:bodyPr>
              <a:lstStyle/>
              <a:p>
                <a:r>
                  <a:rPr lang="en-US" sz="1800" dirty="0" smtClean="0"/>
                  <a:t>+ level 6</a:t>
                </a:r>
                <a:endParaRPr lang="en-US" sz="1800" dirty="0"/>
              </a:p>
            </p:txBody>
          </p:sp>
          <p:pic>
            <p:nvPicPr>
              <p:cNvPr id="60" name="Picture 3"/>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8552258" y="1718630"/>
                <a:ext cx="661456" cy="667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0452" name="Picture 4"/>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6467051" y="1798670"/>
                <a:ext cx="1280207" cy="564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8" name="TextBox 17"/>
            <p:cNvSpPr txBox="1"/>
            <p:nvPr/>
          </p:nvSpPr>
          <p:spPr>
            <a:xfrm>
              <a:off x="5788089" y="1121355"/>
              <a:ext cx="4230554" cy="307777"/>
            </a:xfrm>
            <a:prstGeom prst="rect">
              <a:avLst/>
            </a:prstGeom>
            <a:noFill/>
          </p:spPr>
          <p:txBody>
            <a:bodyPr wrap="square" rtlCol="0">
              <a:spAutoFit/>
            </a:bodyPr>
            <a:lstStyle/>
            <a:p>
              <a:pPr algn="ctr"/>
              <a:r>
                <a:rPr lang="en-US" sz="1400" dirty="0" smtClean="0"/>
                <a:t>New business models</a:t>
              </a:r>
              <a:endParaRPr lang="en-US" sz="1400" dirty="0"/>
            </a:p>
          </p:txBody>
        </p:sp>
      </p:grpSp>
      <p:cxnSp>
        <p:nvCxnSpPr>
          <p:cNvPr id="360455" name="Straight Arrow Connector 360454"/>
          <p:cNvCxnSpPr/>
          <p:nvPr/>
        </p:nvCxnSpPr>
        <p:spPr bwMode="auto">
          <a:xfrm flipV="1">
            <a:off x="5879804" y="3097949"/>
            <a:ext cx="372139" cy="495343"/>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0458" name="Straight Arrow Connector 360457"/>
          <p:cNvCxnSpPr/>
          <p:nvPr/>
        </p:nvCxnSpPr>
        <p:spPr bwMode="auto">
          <a:xfrm>
            <a:off x="5879805" y="3915627"/>
            <a:ext cx="372139" cy="469573"/>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724781712"/>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6902509" y="3001989"/>
            <a:ext cx="2736112" cy="862343"/>
            <a:chOff x="6902509" y="3001989"/>
            <a:chExt cx="2736112" cy="862343"/>
          </a:xfrm>
        </p:grpSpPr>
        <p:pic>
          <p:nvPicPr>
            <p:cNvPr id="361474" name="Picture 2"/>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6902509" y="3001989"/>
              <a:ext cx="2736112" cy="6987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bwMode="auto">
            <a:xfrm>
              <a:off x="7354957" y="3645024"/>
              <a:ext cx="381662" cy="219308"/>
            </a:xfrm>
            <a:prstGeom prst="rect">
              <a:avLst/>
            </a:prstGeom>
            <a:solidFill>
              <a:schemeClr val="bg1"/>
            </a:solid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p:txBody>
        </p:sp>
      </p:grpSp>
      <p:sp>
        <p:nvSpPr>
          <p:cNvPr id="6" name="Rectangle 5"/>
          <p:cNvSpPr/>
          <p:nvPr/>
        </p:nvSpPr>
        <p:spPr>
          <a:xfrm>
            <a:off x="4200745" y="1563233"/>
            <a:ext cx="2658140" cy="2492990"/>
          </a:xfrm>
          <a:prstGeom prst="rect">
            <a:avLst/>
          </a:prstGeom>
        </p:spPr>
        <p:txBody>
          <a:bodyPr wrap="square">
            <a:spAutoFit/>
          </a:bodyPr>
          <a:lstStyle/>
          <a:p>
            <a:pPr algn="l"/>
            <a:endParaRPr lang="en-US" sz="1200" dirty="0" smtClean="0"/>
          </a:p>
          <a:p>
            <a:pPr marL="171450" indent="-171450" algn="l">
              <a:buFont typeface="Wingdings" panose="05000000000000000000" pitchFamily="2" charset="2"/>
              <a:buChar char="Ø"/>
            </a:pPr>
            <a:r>
              <a:rPr lang="en-US" sz="1200" dirty="0"/>
              <a:t>More </a:t>
            </a:r>
            <a:r>
              <a:rPr lang="en-US" sz="1200" b="1" dirty="0"/>
              <a:t>relevant</a:t>
            </a:r>
            <a:r>
              <a:rPr lang="en-US" sz="1200" dirty="0"/>
              <a:t> &amp; </a:t>
            </a:r>
            <a:r>
              <a:rPr lang="en-US" sz="1200" b="1" dirty="0"/>
              <a:t>simple</a:t>
            </a:r>
            <a:r>
              <a:rPr lang="en-US" sz="1200" dirty="0"/>
              <a:t> choices to the customer </a:t>
            </a:r>
            <a:endParaRPr lang="en-US" sz="1200" dirty="0" smtClean="0"/>
          </a:p>
          <a:p>
            <a:pPr algn="ctr"/>
            <a:endParaRPr lang="en-US" sz="1200" b="1" dirty="0"/>
          </a:p>
          <a:p>
            <a:pPr algn="ctr"/>
            <a:r>
              <a:rPr lang="en-US" sz="1200" b="1" dirty="0" smtClean="0"/>
              <a:t>AFKL benefits</a:t>
            </a:r>
          </a:p>
          <a:p>
            <a:pPr marL="171450" indent="-171450" algn="l">
              <a:buFont typeface="Wingdings" panose="05000000000000000000" pitchFamily="2" charset="2"/>
              <a:buChar char="Ø"/>
            </a:pPr>
            <a:r>
              <a:rPr lang="en-US" sz="1200" dirty="0" smtClean="0"/>
              <a:t>Increased </a:t>
            </a:r>
            <a:r>
              <a:rPr lang="en-US" sz="1200" dirty="0"/>
              <a:t>conversion &amp; repeat purchase</a:t>
            </a:r>
          </a:p>
          <a:p>
            <a:pPr marL="171450" indent="-171450" algn="l">
              <a:buFont typeface="Wingdings" panose="05000000000000000000" pitchFamily="2" charset="2"/>
              <a:buChar char="Ø"/>
            </a:pPr>
            <a:endParaRPr lang="en-US" sz="1200" dirty="0" smtClean="0"/>
          </a:p>
          <a:p>
            <a:pPr marL="171450" indent="-171450" algn="l">
              <a:buFont typeface="Wingdings" panose="05000000000000000000" pitchFamily="2" charset="2"/>
              <a:buChar char="Ø"/>
            </a:pPr>
            <a:r>
              <a:rPr lang="en-US" sz="1200" dirty="0" smtClean="0"/>
              <a:t>Greater </a:t>
            </a:r>
            <a:r>
              <a:rPr lang="en-US" sz="1200" dirty="0"/>
              <a:t>insight into customer preferences, facilitating future marketing and merchandising </a:t>
            </a:r>
            <a:r>
              <a:rPr lang="en-US" sz="1200" dirty="0" smtClean="0"/>
              <a:t>efforts</a:t>
            </a:r>
            <a:br>
              <a:rPr lang="en-US" sz="1200" dirty="0" smtClean="0"/>
            </a:br>
            <a:endParaRPr lang="en-US" sz="1200" dirty="0" smtClean="0"/>
          </a:p>
        </p:txBody>
      </p:sp>
      <p:sp>
        <p:nvSpPr>
          <p:cNvPr id="2" name="Title 1"/>
          <p:cNvSpPr>
            <a:spLocks noGrp="1"/>
          </p:cNvSpPr>
          <p:nvPr>
            <p:ph type="title"/>
          </p:nvPr>
        </p:nvSpPr>
        <p:spPr>
          <a:xfrm>
            <a:off x="1400853" y="335280"/>
            <a:ext cx="9114743" cy="567320"/>
          </a:xfrm>
        </p:spPr>
        <p:txBody>
          <a:bodyPr/>
          <a:lstStyle/>
          <a:p>
            <a:r>
              <a:rPr lang="en-US" dirty="0" smtClean="0"/>
              <a:t>RETAILING MATURITY LEVELS</a:t>
            </a:r>
            <a:br>
              <a:rPr lang="en-US" dirty="0" smtClean="0"/>
            </a:br>
            <a:r>
              <a:rPr lang="en-US" dirty="0" smtClean="0">
                <a:solidFill>
                  <a:srgbClr val="4AABFC"/>
                </a:solidFill>
              </a:rPr>
              <a:t>LEVEL 4: PERSONALIZED OFFERS USING BIG DATA TECHNOLOGY</a:t>
            </a:r>
            <a:endParaRPr lang="en-US" dirty="0">
              <a:solidFill>
                <a:srgbClr val="4AABFC"/>
              </a:solidFill>
            </a:endParaRPr>
          </a:p>
        </p:txBody>
      </p:sp>
      <p:cxnSp>
        <p:nvCxnSpPr>
          <p:cNvPr id="21" name="Straight Connector 20"/>
          <p:cNvCxnSpPr/>
          <p:nvPr/>
        </p:nvCxnSpPr>
        <p:spPr bwMode="auto">
          <a:xfrm>
            <a:off x="1492517" y="1470902"/>
            <a:ext cx="0" cy="4236931"/>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p:nvPr/>
        </p:nvCxnSpPr>
        <p:spPr bwMode="auto">
          <a:xfrm>
            <a:off x="4169942" y="1470902"/>
            <a:ext cx="0" cy="4236931"/>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p:nvPr/>
        </p:nvCxnSpPr>
        <p:spPr bwMode="auto">
          <a:xfrm>
            <a:off x="6902509" y="1470902"/>
            <a:ext cx="0" cy="4236931"/>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p:nvPr/>
        </p:nvCxnSpPr>
        <p:spPr bwMode="auto">
          <a:xfrm>
            <a:off x="9676771" y="1470900"/>
            <a:ext cx="0" cy="4236931"/>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p:nvPr/>
        </p:nvCxnSpPr>
        <p:spPr bwMode="auto">
          <a:xfrm flipH="1">
            <a:off x="1626781" y="3953517"/>
            <a:ext cx="2371060" cy="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Straight Connector 29"/>
          <p:cNvCxnSpPr/>
          <p:nvPr/>
        </p:nvCxnSpPr>
        <p:spPr bwMode="auto">
          <a:xfrm flipH="1">
            <a:off x="4320362" y="3953517"/>
            <a:ext cx="2371060" cy="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Straight Connector 30"/>
          <p:cNvCxnSpPr/>
          <p:nvPr/>
        </p:nvCxnSpPr>
        <p:spPr bwMode="auto">
          <a:xfrm flipH="1">
            <a:off x="7040253" y="3953517"/>
            <a:ext cx="2371060" cy="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TextBox 32"/>
          <p:cNvSpPr txBox="1"/>
          <p:nvPr/>
        </p:nvSpPr>
        <p:spPr>
          <a:xfrm>
            <a:off x="1722474" y="1470900"/>
            <a:ext cx="2179674" cy="276999"/>
          </a:xfrm>
          <a:prstGeom prst="rect">
            <a:avLst/>
          </a:prstGeom>
          <a:noFill/>
        </p:spPr>
        <p:txBody>
          <a:bodyPr wrap="square" rtlCol="0">
            <a:spAutoFit/>
          </a:bodyPr>
          <a:lstStyle/>
          <a:p>
            <a:pPr algn="ctr"/>
            <a:r>
              <a:rPr lang="en-US" sz="1200" b="1" dirty="0" smtClean="0"/>
              <a:t>Selling process</a:t>
            </a:r>
            <a:endParaRPr lang="en-US" sz="1200" b="1" dirty="0"/>
          </a:p>
        </p:txBody>
      </p:sp>
      <p:sp>
        <p:nvSpPr>
          <p:cNvPr id="34" name="TextBox 33"/>
          <p:cNvSpPr txBox="1"/>
          <p:nvPr/>
        </p:nvSpPr>
        <p:spPr>
          <a:xfrm>
            <a:off x="4416055" y="1492495"/>
            <a:ext cx="2179674" cy="276999"/>
          </a:xfrm>
          <a:prstGeom prst="rect">
            <a:avLst/>
          </a:prstGeom>
          <a:noFill/>
        </p:spPr>
        <p:txBody>
          <a:bodyPr wrap="square" rtlCol="0">
            <a:spAutoFit/>
          </a:bodyPr>
          <a:lstStyle/>
          <a:p>
            <a:pPr algn="ctr"/>
            <a:r>
              <a:rPr lang="en-US" sz="1200" b="1" dirty="0" smtClean="0"/>
              <a:t>Customer benefits</a:t>
            </a:r>
            <a:endParaRPr lang="en-US" sz="1200" b="1" dirty="0"/>
          </a:p>
        </p:txBody>
      </p:sp>
      <p:sp>
        <p:nvSpPr>
          <p:cNvPr id="35" name="TextBox 34"/>
          <p:cNvSpPr txBox="1"/>
          <p:nvPr/>
        </p:nvSpPr>
        <p:spPr>
          <a:xfrm>
            <a:off x="7169888" y="1492495"/>
            <a:ext cx="2179674" cy="276999"/>
          </a:xfrm>
          <a:prstGeom prst="rect">
            <a:avLst/>
          </a:prstGeom>
          <a:noFill/>
        </p:spPr>
        <p:txBody>
          <a:bodyPr wrap="square" rtlCol="0">
            <a:spAutoFit/>
          </a:bodyPr>
          <a:lstStyle/>
          <a:p>
            <a:pPr algn="ctr"/>
            <a:r>
              <a:rPr lang="en-US" sz="1200" b="1" dirty="0" smtClean="0"/>
              <a:t>Capabilities needed</a:t>
            </a:r>
            <a:endParaRPr lang="en-US" sz="1200" b="1" dirty="0"/>
          </a:p>
        </p:txBody>
      </p:sp>
      <p:sp>
        <p:nvSpPr>
          <p:cNvPr id="36" name="TextBox 35"/>
          <p:cNvSpPr txBox="1"/>
          <p:nvPr/>
        </p:nvSpPr>
        <p:spPr>
          <a:xfrm>
            <a:off x="4416055" y="4003479"/>
            <a:ext cx="2179674" cy="276999"/>
          </a:xfrm>
          <a:prstGeom prst="rect">
            <a:avLst/>
          </a:prstGeom>
          <a:noFill/>
        </p:spPr>
        <p:txBody>
          <a:bodyPr wrap="square" rtlCol="0">
            <a:spAutoFit/>
          </a:bodyPr>
          <a:lstStyle/>
          <a:p>
            <a:pPr algn="ctr"/>
            <a:r>
              <a:rPr lang="en-US" sz="1200" b="1" dirty="0" smtClean="0"/>
              <a:t>Competitors</a:t>
            </a:r>
            <a:endParaRPr lang="en-US" sz="1200" b="1" dirty="0"/>
          </a:p>
        </p:txBody>
      </p:sp>
      <p:sp>
        <p:nvSpPr>
          <p:cNvPr id="40" name="TextBox 39"/>
          <p:cNvSpPr txBox="1"/>
          <p:nvPr/>
        </p:nvSpPr>
        <p:spPr>
          <a:xfrm>
            <a:off x="1626781" y="1747899"/>
            <a:ext cx="2371060" cy="2123658"/>
          </a:xfrm>
          <a:prstGeom prst="rect">
            <a:avLst/>
          </a:prstGeom>
          <a:noFill/>
        </p:spPr>
        <p:txBody>
          <a:bodyPr wrap="square" rtlCol="0">
            <a:spAutoFit/>
          </a:bodyPr>
          <a:lstStyle/>
          <a:p>
            <a:pPr marL="171450" indent="-171450" algn="l">
              <a:buFont typeface="Wingdings" panose="05000000000000000000" pitchFamily="2" charset="2"/>
              <a:buChar char="Ø"/>
            </a:pPr>
            <a:r>
              <a:rPr lang="en-US" sz="1200" dirty="0" smtClean="0"/>
              <a:t>Offers based on </a:t>
            </a:r>
            <a:r>
              <a:rPr lang="en-US" sz="1200" dirty="0"/>
              <a:t>travel behavior of different groups of </a:t>
            </a:r>
            <a:r>
              <a:rPr lang="en-US" sz="1200" dirty="0" smtClean="0"/>
              <a:t>customers with the aim of providing solutions</a:t>
            </a:r>
          </a:p>
          <a:p>
            <a:pPr marL="628650" lvl="2" indent="-171450" algn="l">
              <a:buFont typeface="Wingdings" panose="05000000000000000000" pitchFamily="2" charset="2"/>
              <a:buChar char="Ø"/>
            </a:pPr>
            <a:r>
              <a:rPr lang="en-US" sz="1200" dirty="0" smtClean="0"/>
              <a:t>Personalized fares</a:t>
            </a:r>
            <a:endParaRPr lang="en-US" sz="1200" dirty="0"/>
          </a:p>
          <a:p>
            <a:pPr marL="628650" lvl="1" indent="-171450" algn="l">
              <a:buFont typeface="Wingdings" panose="05000000000000000000" pitchFamily="2" charset="2"/>
              <a:buChar char="Ø"/>
            </a:pPr>
            <a:r>
              <a:rPr lang="en-US" sz="1200" dirty="0" smtClean="0"/>
              <a:t>Personalized packs</a:t>
            </a:r>
          </a:p>
          <a:p>
            <a:pPr marL="628650" lvl="1" indent="-171450" algn="l">
              <a:buFont typeface="Wingdings" panose="05000000000000000000" pitchFamily="2" charset="2"/>
              <a:buChar char="Ø"/>
            </a:pPr>
            <a:endParaRPr lang="en-US" sz="1200" dirty="0"/>
          </a:p>
          <a:p>
            <a:pPr marL="171450" indent="-171450" algn="l">
              <a:buFont typeface="Wingdings" panose="05000000000000000000" pitchFamily="2" charset="2"/>
              <a:buChar char="Ø"/>
            </a:pPr>
            <a:r>
              <a:rPr lang="en-US" sz="1200" dirty="0" smtClean="0"/>
              <a:t>Optimize price based on  customer lifetime value</a:t>
            </a:r>
            <a:endParaRPr lang="en-US" sz="1200" dirty="0"/>
          </a:p>
          <a:p>
            <a:pPr marL="171450" indent="-171450" algn="l">
              <a:buFont typeface="Wingdings" panose="05000000000000000000" pitchFamily="2" charset="2"/>
              <a:buChar char="Ø"/>
            </a:pPr>
            <a:endParaRPr lang="en-US" sz="1200" dirty="0"/>
          </a:p>
          <a:p>
            <a:pPr marL="171450" indent="-171450" algn="l">
              <a:buFont typeface="Wingdings" panose="05000000000000000000" pitchFamily="2" charset="2"/>
              <a:buChar char="Ø"/>
            </a:pPr>
            <a:endParaRPr lang="en-US" sz="1200" dirty="0" smtClean="0"/>
          </a:p>
        </p:txBody>
      </p:sp>
      <p:sp>
        <p:nvSpPr>
          <p:cNvPr id="43" name="TextBox 42"/>
          <p:cNvSpPr txBox="1"/>
          <p:nvPr/>
        </p:nvSpPr>
        <p:spPr>
          <a:xfrm>
            <a:off x="4200745" y="4295240"/>
            <a:ext cx="2227520" cy="276999"/>
          </a:xfrm>
          <a:prstGeom prst="rect">
            <a:avLst/>
          </a:prstGeom>
          <a:noFill/>
        </p:spPr>
        <p:txBody>
          <a:bodyPr wrap="square" rtlCol="0">
            <a:spAutoFit/>
          </a:bodyPr>
          <a:lstStyle/>
          <a:p>
            <a:pPr marL="171450" indent="-171450" algn="l">
              <a:buFont typeface="Wingdings" panose="05000000000000000000" pitchFamily="2" charset="2"/>
              <a:buChar char="Ø"/>
            </a:pPr>
            <a:r>
              <a:rPr lang="en-US" sz="1200" dirty="0" smtClean="0"/>
              <a:t>Airlines</a:t>
            </a:r>
          </a:p>
        </p:txBody>
      </p:sp>
      <p:sp>
        <p:nvSpPr>
          <p:cNvPr id="4" name="TextBox 3"/>
          <p:cNvSpPr txBox="1"/>
          <p:nvPr/>
        </p:nvSpPr>
        <p:spPr>
          <a:xfrm>
            <a:off x="7122041" y="1562195"/>
            <a:ext cx="2323214" cy="1569660"/>
          </a:xfrm>
          <a:prstGeom prst="rect">
            <a:avLst/>
          </a:prstGeom>
          <a:noFill/>
        </p:spPr>
        <p:txBody>
          <a:bodyPr wrap="square" rtlCol="0">
            <a:spAutoFit/>
          </a:bodyPr>
          <a:lstStyle/>
          <a:p>
            <a:pPr algn="l"/>
            <a:endParaRPr lang="en-US" sz="1200" dirty="0" smtClean="0"/>
          </a:p>
          <a:p>
            <a:pPr marL="171450" indent="-171450" algn="l">
              <a:buFont typeface="Wingdings" panose="05000000000000000000" pitchFamily="2" charset="2"/>
              <a:buChar char="Ø"/>
            </a:pPr>
            <a:r>
              <a:rPr lang="en-US" sz="1200" dirty="0" smtClean="0"/>
              <a:t>Integration of data</a:t>
            </a:r>
            <a:endParaRPr lang="en-US" sz="1200" dirty="0"/>
          </a:p>
          <a:p>
            <a:pPr marL="171450" indent="-171450" algn="l">
              <a:buFont typeface="Wingdings" panose="05000000000000000000" pitchFamily="2" charset="2"/>
              <a:buChar char="Ø"/>
            </a:pPr>
            <a:r>
              <a:rPr lang="en-US" sz="1200" dirty="0"/>
              <a:t>Big </a:t>
            </a:r>
            <a:r>
              <a:rPr lang="en-US" sz="1200" dirty="0" smtClean="0"/>
              <a:t>Data analytics</a:t>
            </a:r>
            <a:endParaRPr lang="en-US" sz="1200" dirty="0"/>
          </a:p>
          <a:p>
            <a:pPr marL="171450" indent="-171450" algn="l">
              <a:buFont typeface="Wingdings" panose="05000000000000000000" pitchFamily="2" charset="2"/>
              <a:buChar char="Ø"/>
            </a:pPr>
            <a:r>
              <a:rPr lang="en-US" sz="1200" dirty="0" smtClean="0"/>
              <a:t>Dynamic pricing</a:t>
            </a:r>
          </a:p>
          <a:p>
            <a:pPr marL="171450" indent="-171450" algn="l">
              <a:buFont typeface="Wingdings" panose="05000000000000000000" pitchFamily="2" charset="2"/>
              <a:buChar char="Ø"/>
            </a:pPr>
            <a:r>
              <a:rPr lang="en-US" sz="1200" dirty="0" smtClean="0"/>
              <a:t>Retailing</a:t>
            </a:r>
          </a:p>
          <a:p>
            <a:pPr marL="171450" indent="-171450" algn="l">
              <a:buFont typeface="Wingdings" panose="05000000000000000000" pitchFamily="2" charset="2"/>
              <a:buChar char="Ø"/>
            </a:pPr>
            <a:r>
              <a:rPr lang="en-US" sz="1200" dirty="0" smtClean="0"/>
              <a:t>Unified retailing approach towards customers</a:t>
            </a:r>
          </a:p>
          <a:p>
            <a:pPr marL="171450" indent="-171450" algn="l">
              <a:buFont typeface="Wingdings" panose="05000000000000000000" pitchFamily="2" charset="2"/>
              <a:buChar char="Ø"/>
            </a:pPr>
            <a:endParaRPr lang="en-US" sz="1200" dirty="0"/>
          </a:p>
        </p:txBody>
      </p:sp>
      <p:sp>
        <p:nvSpPr>
          <p:cNvPr id="5" name="TextBox 4"/>
          <p:cNvSpPr txBox="1"/>
          <p:nvPr/>
        </p:nvSpPr>
        <p:spPr>
          <a:xfrm>
            <a:off x="2282693" y="3989981"/>
            <a:ext cx="1037463" cy="276999"/>
          </a:xfrm>
          <a:prstGeom prst="rect">
            <a:avLst/>
          </a:prstGeom>
          <a:noFill/>
        </p:spPr>
        <p:txBody>
          <a:bodyPr wrap="none" rtlCol="0">
            <a:spAutoFit/>
          </a:bodyPr>
          <a:lstStyle/>
          <a:p>
            <a:r>
              <a:rPr lang="en-US" sz="1200" b="1" dirty="0" smtClean="0"/>
              <a:t>Assortment</a:t>
            </a:r>
            <a:endParaRPr lang="en-US" sz="1200" b="1" dirty="0"/>
          </a:p>
        </p:txBody>
      </p:sp>
      <p:sp>
        <p:nvSpPr>
          <p:cNvPr id="22" name="TextBox 21"/>
          <p:cNvSpPr txBox="1"/>
          <p:nvPr/>
        </p:nvSpPr>
        <p:spPr>
          <a:xfrm>
            <a:off x="1626780" y="4245750"/>
            <a:ext cx="2371060" cy="369332"/>
          </a:xfrm>
          <a:prstGeom prst="rect">
            <a:avLst/>
          </a:prstGeom>
          <a:noFill/>
        </p:spPr>
        <p:txBody>
          <a:bodyPr wrap="square" rtlCol="0">
            <a:spAutoFit/>
          </a:bodyPr>
          <a:lstStyle/>
          <a:p>
            <a:pPr marL="171450" indent="-171450" algn="l">
              <a:lnSpc>
                <a:spcPct val="150000"/>
              </a:lnSpc>
              <a:buFont typeface="Wingdings" pitchFamily="2" charset="2"/>
              <a:buChar char="Ø"/>
            </a:pPr>
            <a:r>
              <a:rPr lang="en-US" sz="1200" dirty="0" smtClean="0"/>
              <a:t>Same as level 3 </a:t>
            </a:r>
          </a:p>
        </p:txBody>
      </p:sp>
      <p:pic>
        <p:nvPicPr>
          <p:cNvPr id="363522" name="Picture 2"/>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6966181" y="4258300"/>
            <a:ext cx="2672440" cy="1428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TextBox 27"/>
          <p:cNvSpPr txBox="1"/>
          <p:nvPr/>
        </p:nvSpPr>
        <p:spPr>
          <a:xfrm>
            <a:off x="7231639" y="4003479"/>
            <a:ext cx="2179674" cy="276999"/>
          </a:xfrm>
          <a:prstGeom prst="rect">
            <a:avLst/>
          </a:prstGeom>
          <a:noFill/>
        </p:spPr>
        <p:txBody>
          <a:bodyPr wrap="square" rtlCol="0">
            <a:spAutoFit/>
          </a:bodyPr>
          <a:lstStyle/>
          <a:p>
            <a:pPr algn="ctr"/>
            <a:r>
              <a:rPr lang="en-US" sz="1200" b="1" dirty="0" smtClean="0"/>
              <a:t>Example</a:t>
            </a:r>
            <a:endParaRPr lang="en-US" sz="1200" b="1" dirty="0"/>
          </a:p>
        </p:txBody>
      </p:sp>
    </p:spTree>
    <p:extLst>
      <p:ext uri="{BB962C8B-B14F-4D97-AF65-F5344CB8AC3E}">
        <p14:creationId xmlns:p14="http://schemas.microsoft.com/office/powerpoint/2010/main" val="3846272597"/>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17" y="335280"/>
            <a:ext cx="8420083" cy="567320"/>
          </a:xfrm>
        </p:spPr>
        <p:txBody>
          <a:bodyPr/>
          <a:lstStyle/>
          <a:p>
            <a:r>
              <a:rPr lang="en-US" dirty="0" smtClean="0"/>
              <a:t>RETAILING MATURITY LEVELS</a:t>
            </a:r>
            <a:br>
              <a:rPr lang="en-US" dirty="0" smtClean="0"/>
            </a:br>
            <a:r>
              <a:rPr lang="en-US" dirty="0" smtClean="0">
                <a:solidFill>
                  <a:srgbClr val="4AABFC"/>
                </a:solidFill>
              </a:rPr>
              <a:t>LEVEL 5: SMART TRAVEL ASSISTANT</a:t>
            </a:r>
            <a:endParaRPr lang="en-US" dirty="0">
              <a:solidFill>
                <a:srgbClr val="4AABFC"/>
              </a:solidFill>
            </a:endParaRPr>
          </a:p>
        </p:txBody>
      </p:sp>
      <p:cxnSp>
        <p:nvCxnSpPr>
          <p:cNvPr id="21" name="Straight Connector 20"/>
          <p:cNvCxnSpPr/>
          <p:nvPr/>
        </p:nvCxnSpPr>
        <p:spPr bwMode="auto">
          <a:xfrm>
            <a:off x="1492517" y="1385838"/>
            <a:ext cx="0" cy="4939433"/>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p:nvPr/>
        </p:nvCxnSpPr>
        <p:spPr bwMode="auto">
          <a:xfrm>
            <a:off x="4138769" y="1385838"/>
            <a:ext cx="0" cy="4939433"/>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p:nvPr/>
        </p:nvCxnSpPr>
        <p:spPr bwMode="auto">
          <a:xfrm>
            <a:off x="6923291" y="1385838"/>
            <a:ext cx="0" cy="4939433"/>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p:nvPr/>
        </p:nvCxnSpPr>
        <p:spPr bwMode="auto">
          <a:xfrm>
            <a:off x="9676771" y="1385836"/>
            <a:ext cx="0" cy="4939435"/>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p:nvPr/>
        </p:nvCxnSpPr>
        <p:spPr bwMode="auto">
          <a:xfrm flipH="1">
            <a:off x="1626781" y="4295521"/>
            <a:ext cx="2371060" cy="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Straight Connector 29"/>
          <p:cNvCxnSpPr/>
          <p:nvPr/>
        </p:nvCxnSpPr>
        <p:spPr bwMode="auto">
          <a:xfrm flipH="1">
            <a:off x="4320362" y="4295521"/>
            <a:ext cx="2371060" cy="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Straight Connector 30"/>
          <p:cNvCxnSpPr/>
          <p:nvPr/>
        </p:nvCxnSpPr>
        <p:spPr bwMode="auto">
          <a:xfrm flipH="1">
            <a:off x="7074195" y="4295521"/>
            <a:ext cx="2371060" cy="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TextBox 32"/>
          <p:cNvSpPr txBox="1"/>
          <p:nvPr/>
        </p:nvSpPr>
        <p:spPr>
          <a:xfrm>
            <a:off x="1722474" y="1385836"/>
            <a:ext cx="2179674" cy="276999"/>
          </a:xfrm>
          <a:prstGeom prst="rect">
            <a:avLst/>
          </a:prstGeom>
          <a:noFill/>
        </p:spPr>
        <p:txBody>
          <a:bodyPr wrap="square" rtlCol="0">
            <a:spAutoFit/>
          </a:bodyPr>
          <a:lstStyle/>
          <a:p>
            <a:pPr algn="ctr"/>
            <a:r>
              <a:rPr lang="en-US" sz="1200" b="1" dirty="0" smtClean="0"/>
              <a:t>Selling process</a:t>
            </a:r>
            <a:endParaRPr lang="en-US" sz="1200" b="1" dirty="0"/>
          </a:p>
        </p:txBody>
      </p:sp>
      <p:sp>
        <p:nvSpPr>
          <p:cNvPr id="34" name="TextBox 33"/>
          <p:cNvSpPr txBox="1"/>
          <p:nvPr/>
        </p:nvSpPr>
        <p:spPr>
          <a:xfrm>
            <a:off x="4416055" y="1396798"/>
            <a:ext cx="2179674" cy="276999"/>
          </a:xfrm>
          <a:prstGeom prst="rect">
            <a:avLst/>
          </a:prstGeom>
          <a:noFill/>
        </p:spPr>
        <p:txBody>
          <a:bodyPr wrap="square" rtlCol="0">
            <a:spAutoFit/>
          </a:bodyPr>
          <a:lstStyle/>
          <a:p>
            <a:pPr algn="ctr"/>
            <a:r>
              <a:rPr lang="en-US" sz="1200" b="1" dirty="0" smtClean="0"/>
              <a:t>Customer benefits</a:t>
            </a:r>
            <a:endParaRPr lang="en-US" sz="1200" b="1" dirty="0"/>
          </a:p>
        </p:txBody>
      </p:sp>
      <p:sp>
        <p:nvSpPr>
          <p:cNvPr id="35" name="TextBox 34"/>
          <p:cNvSpPr txBox="1"/>
          <p:nvPr/>
        </p:nvSpPr>
        <p:spPr>
          <a:xfrm>
            <a:off x="7169888" y="1407431"/>
            <a:ext cx="2179674" cy="276999"/>
          </a:xfrm>
          <a:prstGeom prst="rect">
            <a:avLst/>
          </a:prstGeom>
          <a:noFill/>
        </p:spPr>
        <p:txBody>
          <a:bodyPr wrap="square" rtlCol="0">
            <a:spAutoFit/>
          </a:bodyPr>
          <a:lstStyle/>
          <a:p>
            <a:pPr algn="ctr"/>
            <a:r>
              <a:rPr lang="en-US" sz="1200" b="1" dirty="0" smtClean="0"/>
              <a:t>Capabilities needed</a:t>
            </a:r>
            <a:endParaRPr lang="en-US" sz="1200" b="1" dirty="0"/>
          </a:p>
        </p:txBody>
      </p:sp>
      <p:sp>
        <p:nvSpPr>
          <p:cNvPr id="36" name="TextBox 35"/>
          <p:cNvSpPr txBox="1"/>
          <p:nvPr/>
        </p:nvSpPr>
        <p:spPr>
          <a:xfrm>
            <a:off x="4416055" y="4299924"/>
            <a:ext cx="2179674" cy="276999"/>
          </a:xfrm>
          <a:prstGeom prst="rect">
            <a:avLst/>
          </a:prstGeom>
          <a:noFill/>
        </p:spPr>
        <p:txBody>
          <a:bodyPr wrap="square" rtlCol="0">
            <a:spAutoFit/>
          </a:bodyPr>
          <a:lstStyle/>
          <a:p>
            <a:pPr algn="ctr"/>
            <a:r>
              <a:rPr lang="en-US" sz="1200" b="1" dirty="0" smtClean="0"/>
              <a:t>Competitors</a:t>
            </a:r>
            <a:endParaRPr lang="en-US" sz="1200" b="1" dirty="0"/>
          </a:p>
        </p:txBody>
      </p:sp>
      <p:sp>
        <p:nvSpPr>
          <p:cNvPr id="40" name="TextBox 39"/>
          <p:cNvSpPr txBox="1"/>
          <p:nvPr/>
        </p:nvSpPr>
        <p:spPr>
          <a:xfrm>
            <a:off x="1626781" y="1662835"/>
            <a:ext cx="2371060" cy="1754326"/>
          </a:xfrm>
          <a:prstGeom prst="rect">
            <a:avLst/>
          </a:prstGeom>
          <a:noFill/>
        </p:spPr>
        <p:txBody>
          <a:bodyPr wrap="square" rtlCol="0">
            <a:spAutoFit/>
          </a:bodyPr>
          <a:lstStyle/>
          <a:p>
            <a:pPr marL="171450" indent="-171450" algn="l">
              <a:lnSpc>
                <a:spcPct val="150000"/>
              </a:lnSpc>
              <a:buFont typeface="Wingdings" pitchFamily="2" charset="2"/>
              <a:buChar char="Ø"/>
            </a:pPr>
            <a:r>
              <a:rPr lang="en-US" sz="1200" dirty="0" smtClean="0"/>
              <a:t>Organize the entire journey by a digital journey manager, including all tickets, personal details and travel information with instant recognition on all touch points </a:t>
            </a:r>
            <a:endParaRPr lang="en-US" sz="1200" dirty="0"/>
          </a:p>
        </p:txBody>
      </p:sp>
      <p:sp>
        <p:nvSpPr>
          <p:cNvPr id="42" name="TextBox 41"/>
          <p:cNvSpPr txBox="1"/>
          <p:nvPr/>
        </p:nvSpPr>
        <p:spPr>
          <a:xfrm>
            <a:off x="4140462" y="1599036"/>
            <a:ext cx="2838408" cy="2677656"/>
          </a:xfrm>
          <a:prstGeom prst="rect">
            <a:avLst/>
          </a:prstGeom>
          <a:noFill/>
        </p:spPr>
        <p:txBody>
          <a:bodyPr wrap="square" rtlCol="0">
            <a:spAutoFit/>
          </a:bodyPr>
          <a:lstStyle/>
          <a:p>
            <a:pPr marL="171450" indent="-171450" algn="l">
              <a:buFont typeface="Wingdings" panose="05000000000000000000" pitchFamily="2" charset="2"/>
              <a:buChar char="Ø"/>
            </a:pPr>
            <a:r>
              <a:rPr lang="en-US" sz="1200" dirty="0" smtClean="0"/>
              <a:t>Seamless travel</a:t>
            </a:r>
          </a:p>
          <a:p>
            <a:pPr marL="171450" indent="-171450" algn="l">
              <a:buFont typeface="Wingdings" panose="05000000000000000000" pitchFamily="2" charset="2"/>
              <a:buChar char="Ø"/>
            </a:pPr>
            <a:r>
              <a:rPr lang="en-US" sz="1200" dirty="0" smtClean="0"/>
              <a:t>Real time: which means in case of disruptions Air France-KLM takes care of all the rebookings</a:t>
            </a:r>
          </a:p>
          <a:p>
            <a:pPr marL="171450" indent="-171450" algn="l">
              <a:buFont typeface="Wingdings" panose="05000000000000000000" pitchFamily="2" charset="2"/>
              <a:buChar char="Ø"/>
            </a:pPr>
            <a:r>
              <a:rPr lang="en-US" sz="1200" dirty="0" smtClean="0"/>
              <a:t>‘On-the-go’ (mobile)</a:t>
            </a:r>
            <a:br>
              <a:rPr lang="en-US" sz="1200" dirty="0" smtClean="0"/>
            </a:br>
            <a:endParaRPr lang="en-US" sz="1200" dirty="0" smtClean="0"/>
          </a:p>
          <a:p>
            <a:pPr algn="ctr"/>
            <a:r>
              <a:rPr lang="en-US" sz="1200" b="1" dirty="0" smtClean="0"/>
              <a:t>AFKL benefits</a:t>
            </a:r>
          </a:p>
          <a:p>
            <a:pPr marL="171450" indent="-171450" algn="l">
              <a:buFont typeface="Wingdings" panose="05000000000000000000" pitchFamily="2" charset="2"/>
              <a:buChar char="Ø"/>
            </a:pPr>
            <a:r>
              <a:rPr lang="en-US" sz="1200" dirty="0" smtClean="0"/>
              <a:t>Differentiated higher margin product that reinforces the airline core </a:t>
            </a:r>
          </a:p>
          <a:p>
            <a:pPr marL="171450" indent="-171450" algn="l">
              <a:buFont typeface="Wingdings" panose="05000000000000000000" pitchFamily="2" charset="2"/>
              <a:buChar char="Ø"/>
            </a:pPr>
            <a:r>
              <a:rPr lang="en-US" sz="1200" dirty="0" smtClean="0"/>
              <a:t>Increased power in the value chain by owning the customer relationship (switching cost)</a:t>
            </a:r>
          </a:p>
          <a:p>
            <a:pPr marL="171450" indent="-171450" algn="l">
              <a:buFont typeface="Wingdings" panose="05000000000000000000" pitchFamily="2" charset="2"/>
              <a:buChar char="Ø"/>
            </a:pPr>
            <a:r>
              <a:rPr lang="en-US" sz="1200" dirty="0" smtClean="0"/>
              <a:t>More insight in customer behavior allowing future cross sell</a:t>
            </a:r>
          </a:p>
        </p:txBody>
      </p:sp>
      <p:sp>
        <p:nvSpPr>
          <p:cNvPr id="43" name="TextBox 42"/>
          <p:cNvSpPr txBox="1"/>
          <p:nvPr/>
        </p:nvSpPr>
        <p:spPr>
          <a:xfrm>
            <a:off x="4244373" y="4586220"/>
            <a:ext cx="2227520" cy="1754326"/>
          </a:xfrm>
          <a:prstGeom prst="rect">
            <a:avLst/>
          </a:prstGeom>
          <a:noFill/>
        </p:spPr>
        <p:txBody>
          <a:bodyPr wrap="square" rtlCol="0">
            <a:spAutoFit/>
          </a:bodyPr>
          <a:lstStyle/>
          <a:p>
            <a:pPr marL="171450" indent="-171450" algn="l">
              <a:buFont typeface="Wingdings" panose="05000000000000000000" pitchFamily="2" charset="2"/>
              <a:buChar char="Ø"/>
            </a:pPr>
            <a:r>
              <a:rPr lang="en-US" sz="1200" dirty="0" smtClean="0"/>
              <a:t>Google Now</a:t>
            </a:r>
          </a:p>
          <a:p>
            <a:pPr marL="171450" indent="-171450" algn="l">
              <a:buFont typeface="Wingdings" panose="05000000000000000000" pitchFamily="2" charset="2"/>
              <a:buChar char="Ø"/>
            </a:pPr>
            <a:r>
              <a:rPr lang="en-US" sz="1200" dirty="0" smtClean="0"/>
              <a:t>Future OTA’s, like Expedia </a:t>
            </a:r>
          </a:p>
          <a:p>
            <a:pPr marL="171450" indent="-171450" algn="l">
              <a:buFont typeface="Wingdings" panose="05000000000000000000" pitchFamily="2" charset="2"/>
              <a:buChar char="Ø"/>
            </a:pPr>
            <a:r>
              <a:rPr lang="en-US" sz="1200" dirty="0"/>
              <a:t>Future Airbnb</a:t>
            </a:r>
          </a:p>
          <a:p>
            <a:pPr marL="171450" indent="-171450" algn="l">
              <a:buFont typeface="Wingdings" panose="05000000000000000000" pitchFamily="2" charset="2"/>
              <a:buChar char="Ø"/>
            </a:pPr>
            <a:r>
              <a:rPr lang="en-US" sz="1200" dirty="0" smtClean="0"/>
              <a:t>Other airlines moving to that level</a:t>
            </a:r>
          </a:p>
          <a:p>
            <a:pPr marL="171450" indent="-171450" algn="l">
              <a:buFont typeface="Wingdings" panose="05000000000000000000" pitchFamily="2" charset="2"/>
              <a:buChar char="Ø"/>
            </a:pPr>
            <a:r>
              <a:rPr lang="en-US" sz="1200" dirty="0" smtClean="0"/>
              <a:t>New startups</a:t>
            </a:r>
          </a:p>
          <a:p>
            <a:pPr algn="l"/>
            <a:endParaRPr lang="en-US" sz="1200" dirty="0" smtClean="0"/>
          </a:p>
          <a:p>
            <a:pPr algn="l"/>
            <a:r>
              <a:rPr lang="en-US" sz="1200" dirty="0" smtClean="0"/>
              <a:t>Leaders in travel and tech have begun taking position</a:t>
            </a:r>
            <a:endParaRPr lang="en-US" sz="1200" dirty="0"/>
          </a:p>
        </p:txBody>
      </p:sp>
      <p:sp>
        <p:nvSpPr>
          <p:cNvPr id="5" name="TextBox 4"/>
          <p:cNvSpPr txBox="1"/>
          <p:nvPr/>
        </p:nvSpPr>
        <p:spPr>
          <a:xfrm>
            <a:off x="2282693" y="4368370"/>
            <a:ext cx="1037463" cy="276999"/>
          </a:xfrm>
          <a:prstGeom prst="rect">
            <a:avLst/>
          </a:prstGeom>
          <a:noFill/>
        </p:spPr>
        <p:txBody>
          <a:bodyPr wrap="none" rtlCol="0">
            <a:spAutoFit/>
          </a:bodyPr>
          <a:lstStyle/>
          <a:p>
            <a:r>
              <a:rPr lang="en-US" sz="1200" b="1" dirty="0" smtClean="0"/>
              <a:t>Assortment</a:t>
            </a:r>
            <a:endParaRPr lang="en-US" sz="1200" b="1" dirty="0"/>
          </a:p>
        </p:txBody>
      </p:sp>
      <p:sp>
        <p:nvSpPr>
          <p:cNvPr id="22" name="TextBox 21"/>
          <p:cNvSpPr txBox="1"/>
          <p:nvPr/>
        </p:nvSpPr>
        <p:spPr>
          <a:xfrm>
            <a:off x="1615894" y="4624139"/>
            <a:ext cx="2371060" cy="1477328"/>
          </a:xfrm>
          <a:prstGeom prst="rect">
            <a:avLst/>
          </a:prstGeom>
          <a:noFill/>
        </p:spPr>
        <p:txBody>
          <a:bodyPr wrap="square" rtlCol="0">
            <a:spAutoFit/>
          </a:bodyPr>
          <a:lstStyle/>
          <a:p>
            <a:pPr marL="171450" indent="-171450" algn="l">
              <a:lnSpc>
                <a:spcPct val="150000"/>
              </a:lnSpc>
              <a:buFont typeface="Wingdings" pitchFamily="2" charset="2"/>
              <a:buChar char="Ø"/>
            </a:pPr>
            <a:r>
              <a:rPr lang="en-US" sz="1200" dirty="0" smtClean="0"/>
              <a:t>Flights, public transport, taxi’s, rental/ car sharing, accommodation, events/experiences, restaurants/points of interests </a:t>
            </a:r>
          </a:p>
        </p:txBody>
      </p:sp>
      <p:sp>
        <p:nvSpPr>
          <p:cNvPr id="6" name="Rectangle 5"/>
          <p:cNvSpPr/>
          <p:nvPr/>
        </p:nvSpPr>
        <p:spPr>
          <a:xfrm>
            <a:off x="6970284" y="1600066"/>
            <a:ext cx="2650604" cy="1384995"/>
          </a:xfrm>
          <a:prstGeom prst="rect">
            <a:avLst/>
          </a:prstGeom>
        </p:spPr>
        <p:txBody>
          <a:bodyPr wrap="square">
            <a:spAutoFit/>
          </a:bodyPr>
          <a:lstStyle/>
          <a:p>
            <a:pPr marL="171450" indent="-171450" algn="l">
              <a:buFont typeface="Wingdings" pitchFamily="2" charset="2"/>
              <a:buChar char="Ø"/>
            </a:pPr>
            <a:r>
              <a:rPr lang="en-US" sz="1200" dirty="0" smtClean="0"/>
              <a:t>Data standards &amp; integrating </a:t>
            </a:r>
            <a:r>
              <a:rPr lang="en-US" sz="1200" dirty="0"/>
              <a:t>the technology </a:t>
            </a:r>
            <a:endParaRPr lang="en-US" sz="1200" dirty="0" smtClean="0"/>
          </a:p>
          <a:p>
            <a:pPr marL="171450" indent="-171450" algn="l">
              <a:buFont typeface="Wingdings" pitchFamily="2" charset="2"/>
              <a:buChar char="Ø"/>
            </a:pPr>
            <a:r>
              <a:rPr lang="en-US" sz="1200" dirty="0" smtClean="0"/>
              <a:t>Bringing </a:t>
            </a:r>
            <a:r>
              <a:rPr lang="en-US" sz="1200" dirty="0"/>
              <a:t>together a variety of </a:t>
            </a:r>
            <a:r>
              <a:rPr lang="en-US" sz="1200" dirty="0" smtClean="0"/>
              <a:t>stakeholders, like travelers, mobility providers and service </a:t>
            </a:r>
            <a:r>
              <a:rPr lang="en-US" sz="1200" dirty="0"/>
              <a:t>providers </a:t>
            </a:r>
            <a:endParaRPr lang="en-US" sz="1200" dirty="0" smtClean="0"/>
          </a:p>
          <a:p>
            <a:pPr marL="171450" indent="-171450" algn="l">
              <a:buFont typeface="Wingdings" pitchFamily="2" charset="2"/>
              <a:buChar char="Ø"/>
            </a:pPr>
            <a:r>
              <a:rPr lang="en-US" sz="1200" dirty="0" smtClean="0"/>
              <a:t>Constructing the revenue model</a:t>
            </a:r>
          </a:p>
        </p:txBody>
      </p:sp>
      <p:sp>
        <p:nvSpPr>
          <p:cNvPr id="28" name="TextBox 27"/>
          <p:cNvSpPr txBox="1"/>
          <p:nvPr/>
        </p:nvSpPr>
        <p:spPr>
          <a:xfrm>
            <a:off x="7231639" y="4319880"/>
            <a:ext cx="2179674" cy="646331"/>
          </a:xfrm>
          <a:prstGeom prst="rect">
            <a:avLst/>
          </a:prstGeom>
          <a:noFill/>
        </p:spPr>
        <p:txBody>
          <a:bodyPr wrap="square" rtlCol="0">
            <a:spAutoFit/>
          </a:bodyPr>
          <a:lstStyle/>
          <a:p>
            <a:pPr algn="ctr"/>
            <a:r>
              <a:rPr lang="en-US" sz="1200" b="1" dirty="0" smtClean="0"/>
              <a:t>Examples</a:t>
            </a:r>
          </a:p>
          <a:p>
            <a:pPr algn="ctr"/>
            <a:endParaRPr lang="en-US" sz="1200" b="1" dirty="0"/>
          </a:p>
          <a:p>
            <a:pPr algn="ctr"/>
            <a:endParaRPr lang="en-US" sz="1200" b="1" dirty="0" smtClean="0"/>
          </a:p>
        </p:txBody>
      </p:sp>
      <p:sp>
        <p:nvSpPr>
          <p:cNvPr id="3" name="Rectangle 2"/>
          <p:cNvSpPr/>
          <p:nvPr/>
        </p:nvSpPr>
        <p:spPr>
          <a:xfrm>
            <a:off x="6970284" y="4594847"/>
            <a:ext cx="1542410" cy="276999"/>
          </a:xfrm>
          <a:prstGeom prst="rect">
            <a:avLst/>
          </a:prstGeom>
        </p:spPr>
        <p:txBody>
          <a:bodyPr wrap="none">
            <a:spAutoFit/>
          </a:bodyPr>
          <a:lstStyle/>
          <a:p>
            <a:pPr marL="171450" indent="-171450" algn="ctr">
              <a:buFont typeface="Wingdings" pitchFamily="2" charset="2"/>
              <a:buChar char="Ø"/>
            </a:pPr>
            <a:r>
              <a:rPr lang="en-US" sz="1200" dirty="0"/>
              <a:t>See slides </a:t>
            </a:r>
            <a:r>
              <a:rPr lang="en-US" sz="1200" dirty="0" smtClean="0"/>
              <a:t>12-15 </a:t>
            </a:r>
            <a:endParaRPr lang="en-US" sz="1200" dirty="0"/>
          </a:p>
        </p:txBody>
      </p:sp>
    </p:spTree>
    <p:extLst>
      <p:ext uri="{BB962C8B-B14F-4D97-AF65-F5344CB8AC3E}">
        <p14:creationId xmlns:p14="http://schemas.microsoft.com/office/powerpoint/2010/main" val="2264019251"/>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17" y="335280"/>
            <a:ext cx="7969515" cy="552080"/>
          </a:xfrm>
        </p:spPr>
        <p:txBody>
          <a:bodyPr/>
          <a:lstStyle/>
          <a:p>
            <a:r>
              <a:rPr lang="en-US" dirty="0" smtClean="0"/>
              <a:t>GOOGLE WANTS TO BECOME THE ULTIMATE TRAVEL AGGREGATOR AND ONE-STOP-SHOP</a:t>
            </a:r>
            <a:endParaRPr lang="en-US" dirty="0"/>
          </a:p>
        </p:txBody>
      </p:sp>
      <p:pic>
        <p:nvPicPr>
          <p:cNvPr id="351234" name="Picture 2" descr="image001"/>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67447" y="1433107"/>
            <a:ext cx="1912832" cy="1363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1238" name="Picture 6" descr="http://blog.wellesleytoyota.com/Portals/195542/images/uber-logo.jp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480279" y="2544867"/>
            <a:ext cx="1006683" cy="1006683"/>
          </a:xfrm>
          <a:prstGeom prst="rect">
            <a:avLst/>
          </a:prstGeom>
          <a:noFill/>
          <a:extLst>
            <a:ext uri="{909E8E84-426E-40DD-AFC4-6F175D3DCCD1}">
              <a14:hiddenFill xmlns:a14="http://schemas.microsoft.com/office/drawing/2010/main">
                <a:solidFill>
                  <a:srgbClr val="FFFFFF"/>
                </a:solidFill>
              </a14:hiddenFill>
            </a:ext>
          </a:extLst>
        </p:spPr>
      </p:pic>
      <p:pic>
        <p:nvPicPr>
          <p:cNvPr id="351240" name="Picture 8" descr="http://scm-l3.technorati.com/13/02/28/75249/blog-googles-hotel-finder-launched-new-feature.jpg?t=20130228125512"/>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2620947" y="1433107"/>
            <a:ext cx="2079625" cy="1120808"/>
          </a:xfrm>
          <a:prstGeom prst="rect">
            <a:avLst/>
          </a:prstGeom>
          <a:noFill/>
          <a:extLst>
            <a:ext uri="{909E8E84-426E-40DD-AFC4-6F175D3DCCD1}">
              <a14:hiddenFill xmlns:a14="http://schemas.microsoft.com/office/drawing/2010/main">
                <a:solidFill>
                  <a:srgbClr val="FFFFFF"/>
                </a:solidFill>
              </a14:hiddenFill>
            </a:ext>
          </a:extLst>
        </p:spPr>
      </p:pic>
      <p:pic>
        <p:nvPicPr>
          <p:cNvPr id="351242" name="Picture 10" descr="http://cdn1.tnwcdn.com/wp-content/blogs.dir/1/files/2012/12/google_now_update.png"/>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335998" y="3985242"/>
            <a:ext cx="4124961" cy="2018530"/>
          </a:xfrm>
          <a:prstGeom prst="rect">
            <a:avLst/>
          </a:prstGeom>
          <a:noFill/>
          <a:extLst>
            <a:ext uri="{909E8E84-426E-40DD-AFC4-6F175D3DCCD1}">
              <a14:hiddenFill xmlns:a14="http://schemas.microsoft.com/office/drawing/2010/main">
                <a:solidFill>
                  <a:srgbClr val="FFFFFF"/>
                </a:solidFill>
              </a14:hiddenFill>
            </a:ext>
          </a:extLst>
        </p:spPr>
      </p:pic>
      <p:pic>
        <p:nvPicPr>
          <p:cNvPr id="351244" name="Picture 12" descr="http://assets.sbnation.com/assets/766968/google-wallet-review-1.jpg"/>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457383" y="1452535"/>
            <a:ext cx="2333386" cy="1866709"/>
          </a:xfrm>
          <a:prstGeom prst="rect">
            <a:avLst/>
          </a:prstGeom>
          <a:noFill/>
          <a:extLst>
            <a:ext uri="{909E8E84-426E-40DD-AFC4-6F175D3DCCD1}">
              <a14:hiddenFill xmlns:a14="http://schemas.microsoft.com/office/drawing/2010/main">
                <a:solidFill>
                  <a:srgbClr val="FFFFFF"/>
                </a:solidFill>
              </a14:hiddenFill>
            </a:ext>
          </a:extLst>
        </p:spPr>
      </p:pic>
      <p:pic>
        <p:nvPicPr>
          <p:cNvPr id="351246" name="Picture 14" descr="https://lh4.ggpht.com/RHFXP0-xVJGrrnBoyuulxfbR2XKZD1dJiI4H-w8xJLyRihjFrZn5rPRdlYlkUfcPiIU=w300"/>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5480248" y="1279136"/>
            <a:ext cx="1428750" cy="1428750"/>
          </a:xfrm>
          <a:prstGeom prst="rect">
            <a:avLst/>
          </a:prstGeom>
          <a:noFill/>
          <a:extLst>
            <a:ext uri="{909E8E84-426E-40DD-AFC4-6F175D3DCCD1}">
              <a14:hiddenFill xmlns:a14="http://schemas.microsoft.com/office/drawing/2010/main">
                <a:solidFill>
                  <a:srgbClr val="FFFFFF"/>
                </a:solidFill>
              </a14:hiddenFill>
            </a:ext>
          </a:extLst>
        </p:spPr>
      </p:pic>
      <p:pic>
        <p:nvPicPr>
          <p:cNvPr id="351247" name="Picture 15"/>
          <p:cNvPicPr>
            <a:picLocks noChangeAspect="1" noChangeArrowheads="1"/>
          </p:cNvPicPr>
          <p:nvPr/>
        </p:nvPicPr>
        <p:blipFill rotWithShape="1">
          <a:blip r:embed="rId9" cstate="email">
            <a:extLst>
              <a:ext uri="{28A0092B-C50C-407E-A947-70E740481C1C}">
                <a14:useLocalDpi xmlns:a14="http://schemas.microsoft.com/office/drawing/2010/main"/>
              </a:ext>
            </a:extLst>
          </a:blip>
          <a:srcRect/>
          <a:stretch/>
        </p:blipFill>
        <p:spPr bwMode="auto">
          <a:xfrm>
            <a:off x="4730680" y="2626600"/>
            <a:ext cx="2927886" cy="16722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1248" name="Picture 16"/>
          <p:cNvPicPr>
            <a:picLocks noChangeAspect="1" noChangeArrowheads="1"/>
          </p:cNvPicPr>
          <p:nvPr/>
        </p:nvPicPr>
        <p:blipFill rotWithShape="1">
          <a:blip r:embed="rId10" cstate="email">
            <a:extLst>
              <a:ext uri="{28A0092B-C50C-407E-A947-70E740481C1C}">
                <a14:useLocalDpi xmlns:a14="http://schemas.microsoft.com/office/drawing/2010/main"/>
              </a:ext>
            </a:extLst>
          </a:blip>
          <a:srcRect/>
          <a:stretch/>
        </p:blipFill>
        <p:spPr bwMode="auto">
          <a:xfrm>
            <a:off x="5724042" y="4518938"/>
            <a:ext cx="3466682" cy="1924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8548577" y="0"/>
            <a:ext cx="1357423" cy="276999"/>
          </a:xfrm>
          <a:prstGeom prst="rect">
            <a:avLst/>
          </a:prstGeom>
          <a:solidFill>
            <a:srgbClr val="FFFF00"/>
          </a:solidFill>
          <a:ln>
            <a:noFill/>
          </a:ln>
        </p:spPr>
        <p:txBody>
          <a:bodyPr wrap="square" rtlCol="0">
            <a:spAutoFit/>
          </a:bodyPr>
          <a:lstStyle/>
          <a:p>
            <a:pPr algn="ctr"/>
            <a:r>
              <a:rPr lang="en-US" sz="1200" dirty="0" smtClean="0">
                <a:solidFill>
                  <a:srgbClr val="001132"/>
                </a:solidFill>
              </a:rPr>
              <a:t>Example level 5</a:t>
            </a:r>
          </a:p>
        </p:txBody>
      </p:sp>
    </p:spTree>
    <p:extLst>
      <p:ext uri="{BB962C8B-B14F-4D97-AF65-F5344CB8AC3E}">
        <p14:creationId xmlns:p14="http://schemas.microsoft.com/office/powerpoint/2010/main" val="490514164"/>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17" y="430160"/>
            <a:ext cx="8420083" cy="457200"/>
          </a:xfrm>
        </p:spPr>
        <p:txBody>
          <a:bodyPr/>
          <a:lstStyle/>
          <a:p>
            <a:r>
              <a:rPr lang="en-US" dirty="0" smtClean="0"/>
              <a:t>GOOGLE OFFERS ONE OF THE MOST ADVANCED SMART </a:t>
            </a:r>
            <a:br>
              <a:rPr lang="en-US" dirty="0" smtClean="0"/>
            </a:br>
            <a:r>
              <a:rPr lang="en-US" dirty="0" smtClean="0"/>
              <a:t>TRAVEL ASSISTANT PRODUCTSUITES (GOOGLE MAPS+NOW)</a:t>
            </a:r>
            <a:endParaRPr lang="en-US" dirty="0"/>
          </a:p>
        </p:txBody>
      </p:sp>
      <p:pic>
        <p:nvPicPr>
          <p:cNvPr id="353282"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943" y="1118312"/>
            <a:ext cx="2163708" cy="4139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3284" name="Picture 4" descr="http://2.bp.blogspot.com/-OVYK68BPu6k/U2E6Jdhpp2I/AAAAAAAAC9g/t1NfzZ_Igpc/s1600/Uber.png"/>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1022766" y="751112"/>
            <a:ext cx="3205407" cy="470262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7787" y="5220204"/>
            <a:ext cx="9301843" cy="1323439"/>
          </a:xfrm>
          <a:prstGeom prst="rect">
            <a:avLst/>
          </a:prstGeom>
        </p:spPr>
        <p:txBody>
          <a:bodyPr wrap="square">
            <a:spAutoFit/>
          </a:bodyPr>
          <a:lstStyle/>
          <a:p>
            <a:pPr marL="285750" indent="-285750" algn="l">
              <a:buFont typeface="Arial" pitchFamily="34" charset="0"/>
              <a:buChar char="•"/>
            </a:pPr>
            <a:r>
              <a:rPr lang="en-US" sz="1600" b="1" u="sng" dirty="0" smtClean="0"/>
              <a:t>NOW: </a:t>
            </a:r>
            <a:r>
              <a:rPr lang="en-US" sz="1600" b="1" u="sng" dirty="0" err="1" smtClean="0"/>
              <a:t>Personalisation</a:t>
            </a:r>
            <a:r>
              <a:rPr lang="en-US" sz="1600" b="1" u="sng" dirty="0" smtClean="0"/>
              <a:t>, relevancy</a:t>
            </a:r>
            <a:r>
              <a:rPr lang="en-US" sz="1600" b="1" dirty="0" smtClean="0"/>
              <a:t>: </a:t>
            </a:r>
            <a:r>
              <a:rPr lang="en-US" sz="1600" dirty="0" smtClean="0"/>
              <a:t>Artificial </a:t>
            </a:r>
            <a:r>
              <a:rPr lang="en-US" sz="1600" dirty="0"/>
              <a:t>intelligence service that brings up information on a smartphone without a user even having to enter a </a:t>
            </a:r>
            <a:r>
              <a:rPr lang="en-US" sz="1600" dirty="0" smtClean="0"/>
              <a:t>query; considers </a:t>
            </a:r>
            <a:r>
              <a:rPr lang="en-US" sz="1600" dirty="0"/>
              <a:t>contextual cues like physical location or the time of day to pull up relevant content like maps or restaurant </a:t>
            </a:r>
            <a:r>
              <a:rPr lang="en-US" sz="1600" dirty="0" smtClean="0"/>
              <a:t>listings</a:t>
            </a:r>
            <a:endParaRPr lang="en-US" sz="1600" dirty="0"/>
          </a:p>
          <a:p>
            <a:pPr marL="285750" indent="-285750" algn="l">
              <a:buFont typeface="Arial" pitchFamily="34" charset="0"/>
              <a:buChar char="•"/>
            </a:pPr>
            <a:r>
              <a:rPr lang="en-US" sz="1600" dirty="0" smtClean="0"/>
              <a:t>Cross-selling of other Google owned services throughout the journey</a:t>
            </a:r>
            <a:endParaRPr lang="en-US" sz="1600" dirty="0"/>
          </a:p>
          <a:p>
            <a:pPr marL="285750" indent="-285750" algn="l">
              <a:buFont typeface="Arial" pitchFamily="34" charset="0"/>
              <a:buChar char="•"/>
            </a:pPr>
            <a:r>
              <a:rPr lang="en-US" sz="1600" dirty="0" smtClean="0"/>
              <a:t>Similar: Yahoo </a:t>
            </a:r>
            <a:r>
              <a:rPr lang="en-US" sz="1600" dirty="0"/>
              <a:t>acquired </a:t>
            </a:r>
            <a:r>
              <a:rPr lang="en-US" sz="1600" dirty="0" smtClean="0"/>
              <a:t>Aviate, Twitter bought Cover, Apple with Spotlight (powered by Microsoft)</a:t>
            </a:r>
            <a:endParaRPr lang="en-US" sz="1600" dirty="0"/>
          </a:p>
        </p:txBody>
      </p:sp>
      <p:cxnSp>
        <p:nvCxnSpPr>
          <p:cNvPr id="5" name="Straight Arrow Connector 4"/>
          <p:cNvCxnSpPr/>
          <p:nvPr/>
        </p:nvCxnSpPr>
        <p:spPr bwMode="auto">
          <a:xfrm flipH="1" flipV="1">
            <a:off x="3145963" y="4416717"/>
            <a:ext cx="593280" cy="620484"/>
          </a:xfrm>
          <a:prstGeom prst="straightConnector1">
            <a:avLst/>
          </a:prstGeom>
          <a:solidFill>
            <a:schemeClr val="accent1"/>
          </a:solidFill>
          <a:ln w="44450"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57379" name="Picture 3"/>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4242701" y="1853117"/>
            <a:ext cx="5554436" cy="3203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4344919" y="1419175"/>
            <a:ext cx="5219698" cy="338554"/>
          </a:xfrm>
          <a:prstGeom prst="rect">
            <a:avLst/>
          </a:prstGeom>
          <a:solidFill>
            <a:schemeClr val="bg1"/>
          </a:solidFill>
          <a:effectLst>
            <a:outerShdw dist="25400" dir="5400000" algn="t" rotWithShape="0">
              <a:srgbClr val="001236"/>
            </a:outerShdw>
          </a:effectLst>
        </p:spPr>
        <p:txBody>
          <a:bodyPr wrap="none" rtlCol="0">
            <a:spAutoFit/>
          </a:bodyPr>
          <a:lstStyle/>
          <a:p>
            <a:r>
              <a:rPr lang="en-US" sz="1600" b="1" dirty="0" smtClean="0">
                <a:solidFill>
                  <a:srgbClr val="001236"/>
                </a:solidFill>
              </a:rPr>
              <a:t>MAPS: Multi-modal travel planning including flights</a:t>
            </a:r>
            <a:endParaRPr lang="en-US" sz="1600" b="1" dirty="0">
              <a:solidFill>
                <a:srgbClr val="001236"/>
              </a:solidFill>
            </a:endParaRPr>
          </a:p>
        </p:txBody>
      </p:sp>
      <p:sp>
        <p:nvSpPr>
          <p:cNvPr id="10" name="TextBox 9"/>
          <p:cNvSpPr txBox="1"/>
          <p:nvPr/>
        </p:nvSpPr>
        <p:spPr>
          <a:xfrm>
            <a:off x="8548577" y="0"/>
            <a:ext cx="1357423" cy="276999"/>
          </a:xfrm>
          <a:prstGeom prst="rect">
            <a:avLst/>
          </a:prstGeom>
          <a:solidFill>
            <a:srgbClr val="FFFF00"/>
          </a:solidFill>
          <a:ln>
            <a:noFill/>
          </a:ln>
        </p:spPr>
        <p:txBody>
          <a:bodyPr wrap="square" rtlCol="0">
            <a:spAutoFit/>
          </a:bodyPr>
          <a:lstStyle/>
          <a:p>
            <a:pPr algn="ctr"/>
            <a:r>
              <a:rPr lang="en-US" sz="1200" dirty="0" smtClean="0">
                <a:solidFill>
                  <a:srgbClr val="001132"/>
                </a:solidFill>
              </a:rPr>
              <a:t>Example level 5</a:t>
            </a:r>
          </a:p>
        </p:txBody>
      </p:sp>
    </p:spTree>
    <p:extLst>
      <p:ext uri="{BB962C8B-B14F-4D97-AF65-F5344CB8AC3E}">
        <p14:creationId xmlns:p14="http://schemas.microsoft.com/office/powerpoint/2010/main" val="3580257648"/>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06" name="Picture 6"/>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1" y="3076804"/>
            <a:ext cx="5307724" cy="3781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smtClean="0"/>
              <a:t>LUFTHANSA STARTED EXPERIMENTING </a:t>
            </a:r>
            <a:r>
              <a:rPr lang="en-US" dirty="0"/>
              <a:t>(ROME2RIO</a:t>
            </a:r>
            <a:r>
              <a:rPr lang="en-US" dirty="0" smtClean="0"/>
              <a:t>)</a:t>
            </a:r>
            <a:br>
              <a:rPr lang="en-US" dirty="0" smtClean="0"/>
            </a:br>
            <a:r>
              <a:rPr lang="en-US" dirty="0" smtClean="0"/>
              <a:t>WITH LEVEL 5, BUT STILL FAR FROM FULL POTENTIAL</a:t>
            </a:r>
            <a:endParaRPr lang="en-US" dirty="0"/>
          </a:p>
        </p:txBody>
      </p:sp>
      <p:grpSp>
        <p:nvGrpSpPr>
          <p:cNvPr id="7" name="Group 6"/>
          <p:cNvGrpSpPr/>
          <p:nvPr/>
        </p:nvGrpSpPr>
        <p:grpSpPr>
          <a:xfrm>
            <a:off x="3710162" y="893384"/>
            <a:ext cx="6174818" cy="4210487"/>
            <a:chOff x="3710162" y="1093074"/>
            <a:chExt cx="6174818" cy="4210487"/>
          </a:xfrm>
        </p:grpSpPr>
        <p:pic>
          <p:nvPicPr>
            <p:cNvPr id="358404" name="Picture 4"/>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3710162" y="1307076"/>
              <a:ext cx="5696607" cy="3996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8405" name="Picture 5"/>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8379842" y="1093074"/>
              <a:ext cx="1505138" cy="20390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Straight Arrow Connector 4"/>
            <p:cNvCxnSpPr/>
            <p:nvPr/>
          </p:nvCxnSpPr>
          <p:spPr bwMode="auto">
            <a:xfrm flipH="1" flipV="1">
              <a:off x="9301670" y="3058512"/>
              <a:ext cx="210196" cy="409904"/>
            </a:xfrm>
            <a:prstGeom prst="straightConnector1">
              <a:avLst/>
            </a:prstGeom>
            <a:solidFill>
              <a:schemeClr val="accent1"/>
            </a:solidFill>
            <a:ln w="28575" cap="flat" cmpd="sng" algn="ctr">
              <a:solidFill>
                <a:srgbClr val="FF0000"/>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 name="TextBox 7"/>
          <p:cNvSpPr txBox="1"/>
          <p:nvPr/>
        </p:nvSpPr>
        <p:spPr>
          <a:xfrm>
            <a:off x="154394" y="1229711"/>
            <a:ext cx="3471675" cy="1815882"/>
          </a:xfrm>
          <a:prstGeom prst="rect">
            <a:avLst/>
          </a:prstGeom>
          <a:noFill/>
        </p:spPr>
        <p:txBody>
          <a:bodyPr wrap="square" rtlCol="0">
            <a:spAutoFit/>
          </a:bodyPr>
          <a:lstStyle/>
          <a:p>
            <a:pPr marL="457200" indent="-457200" algn="l">
              <a:buFont typeface="Arial" pitchFamily="34" charset="0"/>
              <a:buChar char="•"/>
            </a:pPr>
            <a:r>
              <a:rPr lang="en-US" sz="1600" dirty="0" smtClean="0"/>
              <a:t>Multi-modal travel search</a:t>
            </a:r>
            <a:br>
              <a:rPr lang="en-US" sz="1600" dirty="0" smtClean="0"/>
            </a:br>
            <a:r>
              <a:rPr lang="en-US" sz="1600" dirty="0" smtClean="0"/>
              <a:t>including fares</a:t>
            </a:r>
          </a:p>
          <a:p>
            <a:pPr marL="457200" indent="-457200" algn="l">
              <a:buFont typeface="Arial" pitchFamily="34" charset="0"/>
              <a:buChar char="•"/>
            </a:pPr>
            <a:r>
              <a:rPr lang="en-US" sz="1600" dirty="0" smtClean="0"/>
              <a:t>Neutral own label, as well as (biased) white-label</a:t>
            </a:r>
          </a:p>
          <a:p>
            <a:pPr marL="457200" indent="-457200" algn="l">
              <a:buFont typeface="Arial" pitchFamily="34" charset="0"/>
              <a:buChar char="•"/>
            </a:pPr>
            <a:r>
              <a:rPr lang="en-US" sz="1600" dirty="0" smtClean="0"/>
              <a:t>Integration of hotels, cars and ridesharing</a:t>
            </a:r>
          </a:p>
          <a:p>
            <a:pPr marL="457200" indent="-457200" algn="l">
              <a:buFont typeface="Arial" pitchFamily="34" charset="0"/>
              <a:buChar char="•"/>
            </a:pPr>
            <a:endParaRPr lang="en-US" sz="1600" dirty="0"/>
          </a:p>
        </p:txBody>
      </p:sp>
      <p:sp>
        <p:nvSpPr>
          <p:cNvPr id="9" name="Oval 8"/>
          <p:cNvSpPr/>
          <p:nvPr/>
        </p:nvSpPr>
        <p:spPr bwMode="auto">
          <a:xfrm>
            <a:off x="1166648" y="4540469"/>
            <a:ext cx="536028" cy="1040524"/>
          </a:xfrm>
          <a:prstGeom prst="ellipse">
            <a:avLst/>
          </a:prstGeom>
          <a:noFill/>
          <a:ln w="25400" cap="flat" cmpd="sng" algn="ctr">
            <a:solidFill>
              <a:srgbClr val="FF0000"/>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p:txBody>
      </p:sp>
      <p:sp>
        <p:nvSpPr>
          <p:cNvPr id="11" name="TextBox 10"/>
          <p:cNvSpPr txBox="1"/>
          <p:nvPr/>
        </p:nvSpPr>
        <p:spPr>
          <a:xfrm>
            <a:off x="8548577" y="0"/>
            <a:ext cx="1357423" cy="276999"/>
          </a:xfrm>
          <a:prstGeom prst="rect">
            <a:avLst/>
          </a:prstGeom>
          <a:solidFill>
            <a:srgbClr val="FFFF00"/>
          </a:solidFill>
          <a:ln>
            <a:noFill/>
          </a:ln>
        </p:spPr>
        <p:txBody>
          <a:bodyPr wrap="square" rtlCol="0">
            <a:spAutoFit/>
          </a:bodyPr>
          <a:lstStyle/>
          <a:p>
            <a:pPr algn="ctr"/>
            <a:r>
              <a:rPr lang="en-US" sz="1200" dirty="0" smtClean="0">
                <a:solidFill>
                  <a:srgbClr val="001132"/>
                </a:solidFill>
              </a:rPr>
              <a:t>Example level 5</a:t>
            </a:r>
          </a:p>
        </p:txBody>
      </p:sp>
    </p:spTree>
    <p:extLst>
      <p:ext uri="{BB962C8B-B14F-4D97-AF65-F5344CB8AC3E}">
        <p14:creationId xmlns:p14="http://schemas.microsoft.com/office/powerpoint/2010/main" val="2326940092"/>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…QANTAS ALSO IN EARLY STAGE DEVELOPMENT</a:t>
            </a:r>
            <a:endParaRPr lang="en-US" dirty="0"/>
          </a:p>
        </p:txBody>
      </p:sp>
      <p:sp>
        <p:nvSpPr>
          <p:cNvPr id="4" name="Rectangle 1"/>
          <p:cNvSpPr>
            <a:spLocks noChangeArrowheads="1"/>
          </p:cNvSpPr>
          <p:nvPr/>
        </p:nvSpPr>
        <p:spPr bwMode="auto">
          <a:xfrm>
            <a:off x="4972331" y="1240501"/>
            <a:ext cx="4821382" cy="32008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600" b="1" i="0" u="none" strike="noStrike" cap="none" normalizeH="0" baseline="0" dirty="0" smtClean="0">
                <a:ln>
                  <a:noFill/>
                </a:ln>
                <a:solidFill>
                  <a:srgbClr val="000000"/>
                </a:solidFill>
                <a:effectLst/>
                <a:latin typeface="Arial" pitchFamily="34" charset="0"/>
                <a:cs typeface="Arial" pitchFamily="34" charset="0"/>
              </a:rPr>
              <a:t>Personalized end-to-end travel app</a:t>
            </a:r>
            <a:r>
              <a:rPr lang="en-US" sz="1600" dirty="0" smtClean="0">
                <a:solidFill>
                  <a:srgbClr val="000000"/>
                </a:solidFill>
                <a:latin typeface="Arial" pitchFamily="34" charset="0"/>
                <a:cs typeface="Arial" pitchFamily="34" charset="0"/>
              </a:rPr>
              <a:t>, </a:t>
            </a:r>
            <a:br>
              <a:rPr lang="en-US" sz="1600" dirty="0" smtClean="0">
                <a:solidFill>
                  <a:srgbClr val="000000"/>
                </a:solidFill>
                <a:latin typeface="Arial" pitchFamily="34" charset="0"/>
                <a:cs typeface="Arial" pitchFamily="34" charset="0"/>
              </a:rPr>
            </a:br>
            <a:r>
              <a:rPr kumimoji="0" lang="en-US" sz="1600" b="0" i="0" u="none" strike="noStrike" cap="none" normalizeH="0" baseline="0" dirty="0" smtClean="0">
                <a:ln>
                  <a:noFill/>
                </a:ln>
                <a:solidFill>
                  <a:srgbClr val="000000"/>
                </a:solidFill>
                <a:effectLst/>
                <a:latin typeface="Arial" pitchFamily="34" charset="0"/>
                <a:cs typeface="Arial" pitchFamily="34" charset="0"/>
              </a:rPr>
              <a:t>designed to simplify the end-to-end travel experience for passengers</a:t>
            </a:r>
            <a:br>
              <a:rPr kumimoji="0" lang="en-US" sz="1600" b="0" i="0" u="none" strike="noStrike" cap="none" normalizeH="0" baseline="0" dirty="0" smtClean="0">
                <a:ln>
                  <a:noFill/>
                </a:ln>
                <a:solidFill>
                  <a:srgbClr val="000000"/>
                </a:solidFill>
                <a:effectLst/>
                <a:latin typeface="Arial" pitchFamily="34" charset="0"/>
                <a:cs typeface="Arial" pitchFamily="34" charset="0"/>
              </a:rPr>
            </a:br>
            <a:endParaRPr kumimoji="0" lang="en-US" sz="1600" b="0" i="0" u="none" strike="noStrike" cap="none" normalizeH="0" baseline="0" dirty="0" smtClean="0">
              <a:ln>
                <a:noFill/>
              </a:ln>
              <a:solidFill>
                <a:srgbClr val="000000"/>
              </a:solidFill>
              <a:effectLst/>
              <a:latin typeface="Arial" pitchFamily="34" charset="0"/>
              <a:cs typeface="Arial" pitchFamily="34" charset="0"/>
            </a:endParaRPr>
          </a:p>
          <a:p>
            <a:pPr marL="285750" marR="0" lvl="0" indent="-28575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sz="1600" b="0" i="0" u="none" strike="noStrike" cap="none" normalizeH="0" baseline="0" dirty="0" smtClean="0">
                <a:ln>
                  <a:noFill/>
                </a:ln>
                <a:solidFill>
                  <a:srgbClr val="000000"/>
                </a:solidFill>
                <a:effectLst/>
                <a:latin typeface="Arial" pitchFamily="34" charset="0"/>
                <a:cs typeface="Arial" pitchFamily="34" charset="0"/>
              </a:rPr>
              <a:t>Real-time information to passengers and recommendations depending on which stage of the journey the passenger is at, e.g.</a:t>
            </a:r>
            <a:r>
              <a:rPr kumimoji="0" lang="en-US" sz="1600" b="0" i="0" u="none" strike="noStrike" cap="none" normalizeH="0" dirty="0" smtClean="0">
                <a:ln>
                  <a:noFill/>
                </a:ln>
                <a:solidFill>
                  <a:srgbClr val="000000"/>
                </a:solidFill>
                <a:effectLst/>
                <a:latin typeface="Arial" pitchFamily="34" charset="0"/>
                <a:cs typeface="Arial" pitchFamily="34" charset="0"/>
              </a:rPr>
              <a:t> </a:t>
            </a:r>
            <a:endParaRPr lang="en-US" sz="1600" dirty="0">
              <a:solidFill>
                <a:srgbClr val="000000"/>
              </a:solidFill>
              <a:latin typeface="Arial" pitchFamily="34" charset="0"/>
              <a:cs typeface="Arial" pitchFamily="34" charset="0"/>
            </a:endParaRPr>
          </a:p>
          <a:p>
            <a:pPr marL="742950" lvl="1" indent="-285750" algn="l" eaLnBrk="1" hangingPunct="1">
              <a:buFont typeface="Arial" pitchFamily="34" charset="0"/>
              <a:buChar char="•"/>
            </a:pPr>
            <a:r>
              <a:rPr kumimoji="0" lang="en-US" sz="1600" b="0" i="0" u="none" strike="noStrike" cap="none" normalizeH="0" baseline="0" dirty="0" smtClean="0">
                <a:ln>
                  <a:noFill/>
                </a:ln>
                <a:solidFill>
                  <a:srgbClr val="000000"/>
                </a:solidFill>
                <a:effectLst/>
                <a:latin typeface="Arial" pitchFamily="34" charset="0"/>
                <a:cs typeface="Arial" pitchFamily="34" charset="0"/>
              </a:rPr>
              <a:t>best method of check-in – mobile, online or airport,</a:t>
            </a:r>
            <a:endParaRPr lang="en-US" sz="1600" dirty="0" smtClean="0">
              <a:solidFill>
                <a:srgbClr val="000000"/>
              </a:solidFill>
              <a:latin typeface="Arial" pitchFamily="34" charset="0"/>
              <a:cs typeface="Arial" pitchFamily="34" charset="0"/>
            </a:endParaRPr>
          </a:p>
          <a:p>
            <a:pPr marL="742950" lvl="1" indent="-285750" algn="l" eaLnBrk="1" hangingPunct="1">
              <a:buFont typeface="Arial" pitchFamily="34" charset="0"/>
              <a:buChar char="•"/>
            </a:pPr>
            <a:r>
              <a:rPr kumimoji="0" lang="en-US" sz="1600" b="0" i="0" u="none" strike="noStrike" cap="none" normalizeH="0" baseline="0" dirty="0" smtClean="0">
                <a:ln>
                  <a:noFill/>
                </a:ln>
                <a:solidFill>
                  <a:srgbClr val="000000"/>
                </a:solidFill>
                <a:effectLst/>
                <a:latin typeface="Arial" pitchFamily="34" charset="0"/>
                <a:cs typeface="Arial" pitchFamily="34" charset="0"/>
              </a:rPr>
              <a:t>what time to leave for the airport based on current location</a:t>
            </a:r>
            <a:endParaRPr lang="en-US" sz="1600" dirty="0">
              <a:solidFill>
                <a:srgbClr val="000000"/>
              </a:solidFill>
              <a:latin typeface="Arial" pitchFamily="34" charset="0"/>
              <a:cs typeface="Arial" pitchFamily="34" charset="0"/>
            </a:endParaRPr>
          </a:p>
          <a:p>
            <a:pPr marL="742950" lvl="1" indent="-285750" algn="l" eaLnBrk="1" hangingPunct="1">
              <a:buFont typeface="Arial" pitchFamily="34" charset="0"/>
              <a:buChar char="•"/>
            </a:pPr>
            <a:r>
              <a:rPr kumimoji="0" lang="en-US" sz="1600" b="0" i="0" u="none" strike="noStrike" cap="none" normalizeH="0" baseline="0" dirty="0" smtClean="0">
                <a:ln>
                  <a:noFill/>
                </a:ln>
                <a:solidFill>
                  <a:srgbClr val="000000"/>
                </a:solidFill>
                <a:effectLst/>
                <a:latin typeface="Arial" pitchFamily="34" charset="0"/>
                <a:cs typeface="Arial" pitchFamily="34" charset="0"/>
              </a:rPr>
              <a:t>best route to the airport based on real-time data from Google Maps</a:t>
            </a:r>
          </a:p>
        </p:txBody>
      </p:sp>
      <p:pic>
        <p:nvPicPr>
          <p:cNvPr id="351234" name="Picture 2" descr="Qantas launches personalised end-to-end travel app "/>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275421" y="1328552"/>
            <a:ext cx="4483865" cy="49105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8548577" y="0"/>
            <a:ext cx="1357423" cy="276999"/>
          </a:xfrm>
          <a:prstGeom prst="rect">
            <a:avLst/>
          </a:prstGeom>
          <a:solidFill>
            <a:srgbClr val="FFFF00"/>
          </a:solidFill>
          <a:ln>
            <a:noFill/>
          </a:ln>
        </p:spPr>
        <p:txBody>
          <a:bodyPr wrap="square" rtlCol="0">
            <a:spAutoFit/>
          </a:bodyPr>
          <a:lstStyle/>
          <a:p>
            <a:pPr algn="ctr"/>
            <a:r>
              <a:rPr lang="en-US" sz="1200" dirty="0" smtClean="0">
                <a:solidFill>
                  <a:srgbClr val="001132"/>
                </a:solidFill>
              </a:rPr>
              <a:t>Example level 5</a:t>
            </a:r>
          </a:p>
        </p:txBody>
      </p:sp>
    </p:spTree>
    <p:extLst>
      <p:ext uri="{BB962C8B-B14F-4D97-AF65-F5344CB8AC3E}">
        <p14:creationId xmlns:p14="http://schemas.microsoft.com/office/powerpoint/2010/main" val="2905637344"/>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17" y="335280"/>
            <a:ext cx="7969515" cy="567320"/>
          </a:xfrm>
        </p:spPr>
        <p:txBody>
          <a:bodyPr/>
          <a:lstStyle/>
          <a:p>
            <a:r>
              <a:rPr lang="en-US" dirty="0" smtClean="0"/>
              <a:t>RETAILING MATURITY LEVELS</a:t>
            </a:r>
            <a:br>
              <a:rPr lang="en-US" dirty="0" smtClean="0"/>
            </a:br>
            <a:r>
              <a:rPr lang="en-US" dirty="0" smtClean="0">
                <a:solidFill>
                  <a:srgbClr val="4AABFC"/>
                </a:solidFill>
              </a:rPr>
              <a:t>LEVEL 6: TRIP INITIATOR</a:t>
            </a:r>
            <a:endParaRPr lang="en-US" dirty="0">
              <a:solidFill>
                <a:srgbClr val="4AABFC"/>
              </a:solidFill>
            </a:endParaRPr>
          </a:p>
        </p:txBody>
      </p:sp>
      <p:pic>
        <p:nvPicPr>
          <p:cNvPr id="353282"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928878" y="3993783"/>
            <a:ext cx="1864495" cy="1441039"/>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3283" name="Picture 3"/>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861125" y="4778097"/>
            <a:ext cx="1780920" cy="1376954"/>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4" name="Straight Connector 23"/>
          <p:cNvCxnSpPr/>
          <p:nvPr/>
        </p:nvCxnSpPr>
        <p:spPr bwMode="auto">
          <a:xfrm>
            <a:off x="1492517" y="1385838"/>
            <a:ext cx="0" cy="4738441"/>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p:nvPr/>
        </p:nvCxnSpPr>
        <p:spPr bwMode="auto">
          <a:xfrm>
            <a:off x="4169942" y="1385838"/>
            <a:ext cx="0" cy="4738441"/>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p:nvPr/>
        </p:nvCxnSpPr>
        <p:spPr bwMode="auto">
          <a:xfrm>
            <a:off x="6902509" y="1385838"/>
            <a:ext cx="0" cy="4738441"/>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p:nvPr/>
        </p:nvCxnSpPr>
        <p:spPr bwMode="auto">
          <a:xfrm>
            <a:off x="9676771" y="1385836"/>
            <a:ext cx="0" cy="4738443"/>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p:cNvCxnSpPr/>
          <p:nvPr/>
        </p:nvCxnSpPr>
        <p:spPr bwMode="auto">
          <a:xfrm flipH="1">
            <a:off x="1626781" y="3661962"/>
            <a:ext cx="2371060" cy="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Straight Connector 31"/>
          <p:cNvCxnSpPr/>
          <p:nvPr/>
        </p:nvCxnSpPr>
        <p:spPr bwMode="auto">
          <a:xfrm flipH="1">
            <a:off x="4320362" y="3646908"/>
            <a:ext cx="2371060" cy="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Straight Connector 39"/>
          <p:cNvCxnSpPr/>
          <p:nvPr/>
        </p:nvCxnSpPr>
        <p:spPr bwMode="auto">
          <a:xfrm flipH="1">
            <a:off x="7074195" y="3636218"/>
            <a:ext cx="2371060" cy="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5" name="TextBox 44"/>
          <p:cNvSpPr txBox="1"/>
          <p:nvPr/>
        </p:nvSpPr>
        <p:spPr>
          <a:xfrm>
            <a:off x="1722474" y="1385836"/>
            <a:ext cx="2179674" cy="276999"/>
          </a:xfrm>
          <a:prstGeom prst="rect">
            <a:avLst/>
          </a:prstGeom>
          <a:noFill/>
        </p:spPr>
        <p:txBody>
          <a:bodyPr wrap="square" rtlCol="0">
            <a:spAutoFit/>
          </a:bodyPr>
          <a:lstStyle/>
          <a:p>
            <a:pPr algn="ctr"/>
            <a:r>
              <a:rPr lang="en-US" sz="1200" b="1" dirty="0" smtClean="0"/>
              <a:t>Selling process</a:t>
            </a:r>
            <a:endParaRPr lang="en-US" sz="1200" b="1" dirty="0"/>
          </a:p>
        </p:txBody>
      </p:sp>
      <p:sp>
        <p:nvSpPr>
          <p:cNvPr id="46" name="TextBox 45"/>
          <p:cNvSpPr txBox="1"/>
          <p:nvPr/>
        </p:nvSpPr>
        <p:spPr>
          <a:xfrm>
            <a:off x="4416055" y="1407431"/>
            <a:ext cx="2179674" cy="276999"/>
          </a:xfrm>
          <a:prstGeom prst="rect">
            <a:avLst/>
          </a:prstGeom>
          <a:noFill/>
        </p:spPr>
        <p:txBody>
          <a:bodyPr wrap="square" rtlCol="0">
            <a:spAutoFit/>
          </a:bodyPr>
          <a:lstStyle/>
          <a:p>
            <a:pPr algn="ctr"/>
            <a:r>
              <a:rPr lang="en-US" sz="1200" b="1" dirty="0" smtClean="0"/>
              <a:t>Customer benefits</a:t>
            </a:r>
            <a:endParaRPr lang="en-US" sz="1200" b="1" dirty="0"/>
          </a:p>
        </p:txBody>
      </p:sp>
      <p:sp>
        <p:nvSpPr>
          <p:cNvPr id="47" name="TextBox 46"/>
          <p:cNvSpPr txBox="1"/>
          <p:nvPr/>
        </p:nvSpPr>
        <p:spPr>
          <a:xfrm>
            <a:off x="7169888" y="1407431"/>
            <a:ext cx="2179674" cy="276999"/>
          </a:xfrm>
          <a:prstGeom prst="rect">
            <a:avLst/>
          </a:prstGeom>
          <a:noFill/>
        </p:spPr>
        <p:txBody>
          <a:bodyPr wrap="square" rtlCol="0">
            <a:spAutoFit/>
          </a:bodyPr>
          <a:lstStyle/>
          <a:p>
            <a:pPr algn="ctr"/>
            <a:r>
              <a:rPr lang="en-US" sz="1200" b="1" dirty="0" smtClean="0"/>
              <a:t>Capabilities needed</a:t>
            </a:r>
            <a:endParaRPr lang="en-US" sz="1200" b="1" dirty="0"/>
          </a:p>
        </p:txBody>
      </p:sp>
      <p:sp>
        <p:nvSpPr>
          <p:cNvPr id="48" name="TextBox 47"/>
          <p:cNvSpPr txBox="1"/>
          <p:nvPr/>
        </p:nvSpPr>
        <p:spPr>
          <a:xfrm>
            <a:off x="4416055" y="3716784"/>
            <a:ext cx="2179674" cy="276999"/>
          </a:xfrm>
          <a:prstGeom prst="rect">
            <a:avLst/>
          </a:prstGeom>
          <a:noFill/>
        </p:spPr>
        <p:txBody>
          <a:bodyPr wrap="square" rtlCol="0">
            <a:spAutoFit/>
          </a:bodyPr>
          <a:lstStyle/>
          <a:p>
            <a:pPr algn="ctr"/>
            <a:r>
              <a:rPr lang="en-US" sz="1200" b="1" dirty="0" smtClean="0"/>
              <a:t>Competitors</a:t>
            </a:r>
            <a:endParaRPr lang="en-US" sz="1200" b="1" dirty="0"/>
          </a:p>
        </p:txBody>
      </p:sp>
      <p:sp>
        <p:nvSpPr>
          <p:cNvPr id="49" name="TextBox 48"/>
          <p:cNvSpPr txBox="1"/>
          <p:nvPr/>
        </p:nvSpPr>
        <p:spPr>
          <a:xfrm>
            <a:off x="1626781" y="1662835"/>
            <a:ext cx="2371060" cy="2031325"/>
          </a:xfrm>
          <a:prstGeom prst="rect">
            <a:avLst/>
          </a:prstGeom>
          <a:noFill/>
        </p:spPr>
        <p:txBody>
          <a:bodyPr wrap="square" rtlCol="0">
            <a:spAutoFit/>
          </a:bodyPr>
          <a:lstStyle/>
          <a:p>
            <a:pPr marL="171450" indent="-171450" algn="l">
              <a:lnSpc>
                <a:spcPct val="150000"/>
              </a:lnSpc>
              <a:buFont typeface="Wingdings" pitchFamily="2" charset="2"/>
              <a:buChar char="Ø"/>
            </a:pPr>
            <a:r>
              <a:rPr lang="en-US" sz="1200" dirty="0" smtClean="0"/>
              <a:t>Based on our journey management capabilities and deep knowledge of our customers, offer </a:t>
            </a:r>
            <a:r>
              <a:rPr lang="en-US" sz="1200" dirty="0"/>
              <a:t>pro-actively personalized </a:t>
            </a:r>
            <a:r>
              <a:rPr lang="en-US" sz="1200" dirty="0" smtClean="0"/>
              <a:t>reasons to travel and offer a complete packaged travel experience</a:t>
            </a:r>
            <a:endParaRPr lang="en-US" sz="1200" dirty="0"/>
          </a:p>
        </p:txBody>
      </p:sp>
      <p:sp>
        <p:nvSpPr>
          <p:cNvPr id="50" name="TextBox 49"/>
          <p:cNvSpPr txBox="1"/>
          <p:nvPr/>
        </p:nvSpPr>
        <p:spPr>
          <a:xfrm>
            <a:off x="4392131" y="1653932"/>
            <a:ext cx="2275367" cy="2308324"/>
          </a:xfrm>
          <a:prstGeom prst="rect">
            <a:avLst/>
          </a:prstGeom>
          <a:noFill/>
        </p:spPr>
        <p:txBody>
          <a:bodyPr wrap="square" rtlCol="0">
            <a:spAutoFit/>
          </a:bodyPr>
          <a:lstStyle/>
          <a:p>
            <a:pPr marL="171450" indent="-171450" algn="l">
              <a:buFont typeface="Wingdings" panose="05000000000000000000" pitchFamily="2" charset="2"/>
              <a:buChar char="Ø"/>
            </a:pPr>
            <a:r>
              <a:rPr lang="en-US" sz="1200" dirty="0" smtClean="0"/>
              <a:t>Unique experiences </a:t>
            </a:r>
          </a:p>
          <a:p>
            <a:pPr marL="171450" indent="-171450" algn="l">
              <a:buFont typeface="Wingdings" panose="05000000000000000000" pitchFamily="2" charset="2"/>
              <a:buChar char="Ø"/>
            </a:pPr>
            <a:r>
              <a:rPr lang="en-US" sz="1200" dirty="0" smtClean="0"/>
              <a:t>One-click booking of complete trip</a:t>
            </a:r>
          </a:p>
          <a:p>
            <a:pPr marL="171450" indent="-171450" algn="l">
              <a:buFont typeface="Wingdings" panose="05000000000000000000" pitchFamily="2" charset="2"/>
              <a:buChar char="Ø"/>
            </a:pPr>
            <a:endParaRPr lang="en-US" sz="1200" dirty="0"/>
          </a:p>
          <a:p>
            <a:pPr algn="ctr"/>
            <a:r>
              <a:rPr lang="en-US" sz="1200" b="1" dirty="0" smtClean="0"/>
              <a:t>AFKL benefits</a:t>
            </a:r>
          </a:p>
          <a:p>
            <a:pPr algn="ctr"/>
            <a:endParaRPr lang="en-US" sz="1200" b="1" dirty="0" smtClean="0"/>
          </a:p>
          <a:p>
            <a:pPr marL="171450" indent="-171450" algn="l">
              <a:buFont typeface="Wingdings" panose="05000000000000000000" pitchFamily="2" charset="2"/>
              <a:buChar char="Ø"/>
            </a:pPr>
            <a:r>
              <a:rPr lang="en-US" sz="1200" dirty="0" smtClean="0"/>
              <a:t>Higher conversion and loyalty</a:t>
            </a:r>
          </a:p>
          <a:p>
            <a:pPr marL="171450" indent="-171450" algn="l">
              <a:buFont typeface="Wingdings" panose="05000000000000000000" pitchFamily="2" charset="2"/>
              <a:buChar char="Ø"/>
            </a:pPr>
            <a:r>
              <a:rPr lang="en-US" sz="1200" dirty="0" smtClean="0"/>
              <a:t>Stimulation of travel</a:t>
            </a:r>
          </a:p>
          <a:p>
            <a:pPr marL="171450" indent="-171450" algn="l">
              <a:buFont typeface="Wingdings" panose="05000000000000000000" pitchFamily="2" charset="2"/>
              <a:buChar char="Ø"/>
            </a:pPr>
            <a:endParaRPr lang="en-US" sz="1200" dirty="0" smtClean="0"/>
          </a:p>
          <a:p>
            <a:pPr marL="171450" indent="-171450" algn="l">
              <a:buFont typeface="Wingdings" panose="05000000000000000000" pitchFamily="2" charset="2"/>
              <a:buChar char="Ø"/>
            </a:pPr>
            <a:endParaRPr lang="en-US" sz="1200" dirty="0" smtClean="0"/>
          </a:p>
          <a:p>
            <a:pPr marL="171450" indent="-171450" algn="l">
              <a:buFont typeface="Wingdings" panose="05000000000000000000" pitchFamily="2" charset="2"/>
              <a:buChar char="Ø"/>
            </a:pPr>
            <a:endParaRPr lang="en-US" sz="1200" dirty="0"/>
          </a:p>
        </p:txBody>
      </p:sp>
      <p:sp>
        <p:nvSpPr>
          <p:cNvPr id="51" name="TextBox 50"/>
          <p:cNvSpPr txBox="1"/>
          <p:nvPr/>
        </p:nvSpPr>
        <p:spPr>
          <a:xfrm>
            <a:off x="4392132" y="4000621"/>
            <a:ext cx="2299290" cy="2123658"/>
          </a:xfrm>
          <a:prstGeom prst="rect">
            <a:avLst/>
          </a:prstGeom>
          <a:noFill/>
        </p:spPr>
        <p:txBody>
          <a:bodyPr wrap="square" rtlCol="0">
            <a:spAutoFit/>
          </a:bodyPr>
          <a:lstStyle/>
          <a:p>
            <a:pPr marL="171450" indent="-171450" algn="l">
              <a:buFont typeface="Wingdings" panose="05000000000000000000" pitchFamily="2" charset="2"/>
              <a:buChar char="Ø"/>
            </a:pPr>
            <a:r>
              <a:rPr lang="en-US" sz="1200" dirty="0" smtClean="0"/>
              <a:t>Experience providers: such as Vayable, packaged tour organizers, concert/event organizers</a:t>
            </a:r>
          </a:p>
          <a:p>
            <a:pPr marL="171450" indent="-171450" algn="l">
              <a:buFont typeface="Wingdings" panose="05000000000000000000" pitchFamily="2" charset="2"/>
              <a:buChar char="Ø"/>
            </a:pPr>
            <a:r>
              <a:rPr lang="en-US" sz="1200" dirty="0" smtClean="0"/>
              <a:t>Travel marketplaces like Airbnb </a:t>
            </a:r>
          </a:p>
          <a:p>
            <a:pPr marL="171450" indent="-171450" algn="l">
              <a:buFont typeface="Wingdings" panose="05000000000000000000" pitchFamily="2" charset="2"/>
              <a:buChar char="Ø"/>
            </a:pPr>
            <a:r>
              <a:rPr lang="en-US" sz="1200" dirty="0" smtClean="0"/>
              <a:t>Search providers offering pro-active personalized suggestions such as Google Now, Apple Passbook </a:t>
            </a:r>
          </a:p>
          <a:p>
            <a:pPr marL="171450" indent="-171450" algn="l">
              <a:buFont typeface="Wingdings" panose="05000000000000000000" pitchFamily="2" charset="2"/>
              <a:buChar char="Ø"/>
            </a:pPr>
            <a:r>
              <a:rPr lang="en-US" sz="1200" dirty="0"/>
              <a:t>OTA’s such as </a:t>
            </a:r>
            <a:r>
              <a:rPr lang="en-US" sz="1200" dirty="0" smtClean="0"/>
              <a:t>Expedia</a:t>
            </a:r>
            <a:endParaRPr lang="en-US" sz="1200" dirty="0"/>
          </a:p>
        </p:txBody>
      </p:sp>
      <p:sp>
        <p:nvSpPr>
          <p:cNvPr id="52" name="TextBox 51"/>
          <p:cNvSpPr txBox="1"/>
          <p:nvPr/>
        </p:nvSpPr>
        <p:spPr>
          <a:xfrm>
            <a:off x="2282693" y="3719757"/>
            <a:ext cx="1037463" cy="276999"/>
          </a:xfrm>
          <a:prstGeom prst="rect">
            <a:avLst/>
          </a:prstGeom>
          <a:noFill/>
        </p:spPr>
        <p:txBody>
          <a:bodyPr wrap="none" rtlCol="0">
            <a:spAutoFit/>
          </a:bodyPr>
          <a:lstStyle/>
          <a:p>
            <a:r>
              <a:rPr lang="en-US" sz="1200" b="1" dirty="0" smtClean="0"/>
              <a:t>Assortment</a:t>
            </a:r>
            <a:endParaRPr lang="en-US" sz="1200" b="1" dirty="0"/>
          </a:p>
        </p:txBody>
      </p:sp>
      <p:sp>
        <p:nvSpPr>
          <p:cNvPr id="53" name="TextBox 52"/>
          <p:cNvSpPr txBox="1"/>
          <p:nvPr/>
        </p:nvSpPr>
        <p:spPr>
          <a:xfrm>
            <a:off x="1626780" y="3975526"/>
            <a:ext cx="2371060" cy="646331"/>
          </a:xfrm>
          <a:prstGeom prst="rect">
            <a:avLst/>
          </a:prstGeom>
          <a:noFill/>
        </p:spPr>
        <p:txBody>
          <a:bodyPr wrap="square" rtlCol="0">
            <a:spAutoFit/>
          </a:bodyPr>
          <a:lstStyle/>
          <a:p>
            <a:pPr marL="171450" indent="-171450" algn="l">
              <a:lnSpc>
                <a:spcPct val="150000"/>
              </a:lnSpc>
              <a:buFont typeface="Wingdings" pitchFamily="2" charset="2"/>
              <a:buChar char="Ø"/>
            </a:pPr>
            <a:r>
              <a:rPr lang="en-US" sz="1200" dirty="0" smtClean="0"/>
              <a:t>As in level 5, but also knowledge of local events </a:t>
            </a:r>
          </a:p>
        </p:txBody>
      </p:sp>
      <p:sp>
        <p:nvSpPr>
          <p:cNvPr id="54" name="Rectangle 53"/>
          <p:cNvSpPr/>
          <p:nvPr/>
        </p:nvSpPr>
        <p:spPr>
          <a:xfrm>
            <a:off x="7037526" y="1716366"/>
            <a:ext cx="2506883" cy="1569660"/>
          </a:xfrm>
          <a:prstGeom prst="rect">
            <a:avLst/>
          </a:prstGeom>
        </p:spPr>
        <p:txBody>
          <a:bodyPr wrap="square">
            <a:spAutoFit/>
          </a:bodyPr>
          <a:lstStyle/>
          <a:p>
            <a:pPr marL="171450" indent="-171450" algn="l">
              <a:buFont typeface="Wingdings" pitchFamily="2" charset="2"/>
              <a:buChar char="Ø"/>
            </a:pPr>
            <a:r>
              <a:rPr lang="en-US" sz="1200" dirty="0" smtClean="0"/>
              <a:t>Access to unique events/experiences around the world </a:t>
            </a:r>
          </a:p>
          <a:p>
            <a:pPr marL="171450" indent="-171450" algn="l">
              <a:buFont typeface="Wingdings" pitchFamily="2" charset="2"/>
              <a:buChar char="Ø"/>
            </a:pPr>
            <a:r>
              <a:rPr lang="en-US" sz="1200" dirty="0" smtClean="0"/>
              <a:t>Dynamically matching customer needs with the events</a:t>
            </a:r>
          </a:p>
          <a:p>
            <a:pPr marL="171450" indent="-171450" algn="l">
              <a:buFont typeface="Wingdings" pitchFamily="2" charset="2"/>
              <a:buChar char="Ø"/>
            </a:pPr>
            <a:r>
              <a:rPr lang="en-US" sz="1200" dirty="0"/>
              <a:t>G</a:t>
            </a:r>
            <a:r>
              <a:rPr lang="en-US" sz="1200" dirty="0" smtClean="0"/>
              <a:t>enerating travel solutions for the personalized packaged travel</a:t>
            </a:r>
            <a:endParaRPr lang="en-US" sz="1200" dirty="0"/>
          </a:p>
        </p:txBody>
      </p:sp>
      <p:sp>
        <p:nvSpPr>
          <p:cNvPr id="55" name="TextBox 54"/>
          <p:cNvSpPr txBox="1"/>
          <p:nvPr/>
        </p:nvSpPr>
        <p:spPr>
          <a:xfrm>
            <a:off x="7231639" y="3641957"/>
            <a:ext cx="2179674" cy="276999"/>
          </a:xfrm>
          <a:prstGeom prst="rect">
            <a:avLst/>
          </a:prstGeom>
          <a:noFill/>
        </p:spPr>
        <p:txBody>
          <a:bodyPr wrap="square" rtlCol="0">
            <a:spAutoFit/>
          </a:bodyPr>
          <a:lstStyle/>
          <a:p>
            <a:pPr algn="ctr"/>
            <a:r>
              <a:rPr lang="en-US" sz="1200" b="1" dirty="0" smtClean="0"/>
              <a:t>Examples</a:t>
            </a:r>
          </a:p>
        </p:txBody>
      </p:sp>
    </p:spTree>
    <p:extLst>
      <p:ext uri="{BB962C8B-B14F-4D97-AF65-F5344CB8AC3E}">
        <p14:creationId xmlns:p14="http://schemas.microsoft.com/office/powerpoint/2010/main" val="2091362419"/>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17" y="349775"/>
            <a:ext cx="7969515" cy="524433"/>
          </a:xfrm>
        </p:spPr>
        <p:txBody>
          <a:bodyPr/>
          <a:lstStyle/>
          <a:p>
            <a:r>
              <a:rPr lang="en-US" dirty="0"/>
              <a:t>RETAILING MATURITY </a:t>
            </a:r>
            <a:r>
              <a:rPr lang="en-US" dirty="0" smtClean="0"/>
              <a:t>LEVELS</a:t>
            </a:r>
            <a:r>
              <a:rPr lang="en-US" dirty="0"/>
              <a:t/>
            </a:r>
            <a:br>
              <a:rPr lang="en-US" dirty="0"/>
            </a:br>
            <a:r>
              <a:rPr lang="en-US" dirty="0" smtClean="0">
                <a:solidFill>
                  <a:srgbClr val="4AABFC"/>
                </a:solidFill>
              </a:rPr>
              <a:t>LEVEL 7: AIR FRANCE KLM AS GENERAL RETAILER</a:t>
            </a:r>
            <a:endParaRPr lang="en-US" dirty="0">
              <a:solidFill>
                <a:srgbClr val="4AABFC"/>
              </a:solidFill>
            </a:endParaRPr>
          </a:p>
        </p:txBody>
      </p:sp>
      <p:cxnSp>
        <p:nvCxnSpPr>
          <p:cNvPr id="29" name="Straight Connector 28"/>
          <p:cNvCxnSpPr/>
          <p:nvPr/>
        </p:nvCxnSpPr>
        <p:spPr bwMode="auto">
          <a:xfrm>
            <a:off x="1492517" y="1419495"/>
            <a:ext cx="0" cy="446031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Straight Connector 31"/>
          <p:cNvCxnSpPr/>
          <p:nvPr/>
        </p:nvCxnSpPr>
        <p:spPr bwMode="auto">
          <a:xfrm>
            <a:off x="4169942" y="1385838"/>
            <a:ext cx="0" cy="4493967"/>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32"/>
          <p:cNvCxnSpPr/>
          <p:nvPr/>
        </p:nvCxnSpPr>
        <p:spPr bwMode="auto">
          <a:xfrm>
            <a:off x="6902509" y="1385838"/>
            <a:ext cx="0" cy="4493967"/>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Straight Connector 39"/>
          <p:cNvCxnSpPr/>
          <p:nvPr/>
        </p:nvCxnSpPr>
        <p:spPr bwMode="auto">
          <a:xfrm>
            <a:off x="9676771" y="1385836"/>
            <a:ext cx="0" cy="4493969"/>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Straight Connector 40"/>
          <p:cNvCxnSpPr/>
          <p:nvPr/>
        </p:nvCxnSpPr>
        <p:spPr bwMode="auto">
          <a:xfrm flipH="1">
            <a:off x="1626781" y="4023484"/>
            <a:ext cx="2371060" cy="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Straight Connector 41"/>
          <p:cNvCxnSpPr/>
          <p:nvPr/>
        </p:nvCxnSpPr>
        <p:spPr bwMode="auto">
          <a:xfrm flipH="1">
            <a:off x="4320362" y="4008430"/>
            <a:ext cx="2371060" cy="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Straight Connector 42"/>
          <p:cNvCxnSpPr/>
          <p:nvPr/>
        </p:nvCxnSpPr>
        <p:spPr bwMode="auto">
          <a:xfrm flipH="1">
            <a:off x="7074195" y="3997740"/>
            <a:ext cx="2371060" cy="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TextBox 43"/>
          <p:cNvSpPr txBox="1"/>
          <p:nvPr/>
        </p:nvSpPr>
        <p:spPr>
          <a:xfrm>
            <a:off x="1722474" y="1385836"/>
            <a:ext cx="2179674" cy="276999"/>
          </a:xfrm>
          <a:prstGeom prst="rect">
            <a:avLst/>
          </a:prstGeom>
          <a:noFill/>
        </p:spPr>
        <p:txBody>
          <a:bodyPr wrap="square" rtlCol="0">
            <a:spAutoFit/>
          </a:bodyPr>
          <a:lstStyle/>
          <a:p>
            <a:pPr algn="ctr"/>
            <a:r>
              <a:rPr lang="en-US" sz="1200" b="1" dirty="0" smtClean="0"/>
              <a:t>Selling process</a:t>
            </a:r>
            <a:endParaRPr lang="en-US" sz="1200" b="1" dirty="0"/>
          </a:p>
        </p:txBody>
      </p:sp>
      <p:sp>
        <p:nvSpPr>
          <p:cNvPr id="45" name="TextBox 44"/>
          <p:cNvSpPr txBox="1"/>
          <p:nvPr/>
        </p:nvSpPr>
        <p:spPr>
          <a:xfrm>
            <a:off x="4416055" y="1407431"/>
            <a:ext cx="2179674" cy="276999"/>
          </a:xfrm>
          <a:prstGeom prst="rect">
            <a:avLst/>
          </a:prstGeom>
          <a:noFill/>
        </p:spPr>
        <p:txBody>
          <a:bodyPr wrap="square" rtlCol="0">
            <a:spAutoFit/>
          </a:bodyPr>
          <a:lstStyle/>
          <a:p>
            <a:pPr algn="ctr"/>
            <a:r>
              <a:rPr lang="en-US" sz="1200" b="1" dirty="0" smtClean="0"/>
              <a:t>Customer benefits</a:t>
            </a:r>
            <a:endParaRPr lang="en-US" sz="1200" b="1" dirty="0"/>
          </a:p>
        </p:txBody>
      </p:sp>
      <p:sp>
        <p:nvSpPr>
          <p:cNvPr id="46" name="TextBox 45"/>
          <p:cNvSpPr txBox="1"/>
          <p:nvPr/>
        </p:nvSpPr>
        <p:spPr>
          <a:xfrm>
            <a:off x="7169888" y="1407431"/>
            <a:ext cx="2179674" cy="276999"/>
          </a:xfrm>
          <a:prstGeom prst="rect">
            <a:avLst/>
          </a:prstGeom>
          <a:noFill/>
        </p:spPr>
        <p:txBody>
          <a:bodyPr wrap="square" rtlCol="0">
            <a:spAutoFit/>
          </a:bodyPr>
          <a:lstStyle/>
          <a:p>
            <a:pPr algn="ctr"/>
            <a:r>
              <a:rPr lang="en-US" sz="1200" b="1" dirty="0" smtClean="0"/>
              <a:t>Capabilities needed</a:t>
            </a:r>
            <a:endParaRPr lang="en-US" sz="1200" b="1" dirty="0"/>
          </a:p>
        </p:txBody>
      </p:sp>
      <p:sp>
        <p:nvSpPr>
          <p:cNvPr id="47" name="TextBox 46"/>
          <p:cNvSpPr txBox="1"/>
          <p:nvPr/>
        </p:nvSpPr>
        <p:spPr>
          <a:xfrm>
            <a:off x="4368208" y="4128390"/>
            <a:ext cx="2179674" cy="276999"/>
          </a:xfrm>
          <a:prstGeom prst="rect">
            <a:avLst/>
          </a:prstGeom>
          <a:noFill/>
        </p:spPr>
        <p:txBody>
          <a:bodyPr wrap="square" rtlCol="0">
            <a:spAutoFit/>
          </a:bodyPr>
          <a:lstStyle/>
          <a:p>
            <a:pPr algn="ctr"/>
            <a:r>
              <a:rPr lang="en-US" sz="1200" b="1" dirty="0" smtClean="0"/>
              <a:t>Competitors</a:t>
            </a:r>
            <a:endParaRPr lang="en-US" sz="1200" b="1" dirty="0"/>
          </a:p>
        </p:txBody>
      </p:sp>
      <p:sp>
        <p:nvSpPr>
          <p:cNvPr id="48" name="TextBox 47"/>
          <p:cNvSpPr txBox="1"/>
          <p:nvPr/>
        </p:nvSpPr>
        <p:spPr>
          <a:xfrm>
            <a:off x="1500660" y="1662835"/>
            <a:ext cx="2648262" cy="2031325"/>
          </a:xfrm>
          <a:prstGeom prst="rect">
            <a:avLst/>
          </a:prstGeom>
          <a:noFill/>
        </p:spPr>
        <p:txBody>
          <a:bodyPr wrap="square" rtlCol="0">
            <a:spAutoFit/>
          </a:bodyPr>
          <a:lstStyle/>
          <a:p>
            <a:pPr marL="171450" indent="-171450" algn="l">
              <a:lnSpc>
                <a:spcPct val="150000"/>
              </a:lnSpc>
              <a:buFont typeface="Wingdings" pitchFamily="2" charset="2"/>
              <a:buChar char="Ø"/>
            </a:pPr>
            <a:r>
              <a:rPr lang="en-US" sz="1200" dirty="0" smtClean="0"/>
              <a:t>Leverage a combination of retailing models (e.g. market-place, specialist reselling, brand direct-to-consumer) to offer customers a convenient and personalized way to buy anything they want</a:t>
            </a:r>
          </a:p>
        </p:txBody>
      </p:sp>
      <p:sp>
        <p:nvSpPr>
          <p:cNvPr id="49" name="TextBox 48"/>
          <p:cNvSpPr txBox="1"/>
          <p:nvPr/>
        </p:nvSpPr>
        <p:spPr>
          <a:xfrm>
            <a:off x="4277709" y="1590823"/>
            <a:ext cx="2575035" cy="2492990"/>
          </a:xfrm>
          <a:prstGeom prst="rect">
            <a:avLst/>
          </a:prstGeom>
          <a:noFill/>
        </p:spPr>
        <p:txBody>
          <a:bodyPr wrap="square" rtlCol="0">
            <a:spAutoFit/>
          </a:bodyPr>
          <a:lstStyle/>
          <a:p>
            <a:pPr marL="171450" indent="-171450" algn="l">
              <a:buFont typeface="Wingdings" panose="05000000000000000000" pitchFamily="2" charset="2"/>
              <a:buChar char="Ø"/>
            </a:pPr>
            <a:r>
              <a:rPr lang="en-US" sz="1200" dirty="0" smtClean="0"/>
              <a:t>Waiting time becomes shopping time</a:t>
            </a:r>
          </a:p>
          <a:p>
            <a:pPr marL="171450" indent="-171450" algn="l">
              <a:buFont typeface="Wingdings" panose="05000000000000000000" pitchFamily="2" charset="2"/>
              <a:buChar char="Ø"/>
            </a:pPr>
            <a:r>
              <a:rPr lang="en-US" sz="1200" dirty="0" smtClean="0"/>
              <a:t>Convenience: one stop-shop</a:t>
            </a:r>
          </a:p>
          <a:p>
            <a:pPr marL="171450" indent="-171450" algn="l">
              <a:buFont typeface="Wingdings" panose="05000000000000000000" pitchFamily="2" charset="2"/>
              <a:buChar char="Ø"/>
            </a:pPr>
            <a:r>
              <a:rPr lang="en-US" sz="1200" dirty="0" smtClean="0"/>
              <a:t>Low prices through global presence and large volumes</a:t>
            </a:r>
          </a:p>
          <a:p>
            <a:pPr marL="171450" indent="-171450" algn="l">
              <a:buFont typeface="Wingdings" panose="05000000000000000000" pitchFamily="2" charset="2"/>
              <a:buChar char="Ø"/>
            </a:pPr>
            <a:endParaRPr lang="en-US" sz="1200" dirty="0"/>
          </a:p>
          <a:p>
            <a:pPr marL="171450" indent="-171450" algn="l">
              <a:buFont typeface="Wingdings" panose="05000000000000000000" pitchFamily="2" charset="2"/>
              <a:buChar char="Ø"/>
            </a:pPr>
            <a:endParaRPr lang="en-US" sz="1200" dirty="0" smtClean="0"/>
          </a:p>
          <a:p>
            <a:pPr algn="ctr"/>
            <a:r>
              <a:rPr lang="en-US" sz="1200" b="1" dirty="0" smtClean="0"/>
              <a:t>AFKL benefits </a:t>
            </a:r>
          </a:p>
          <a:p>
            <a:pPr marL="171450" indent="-171450" algn="l">
              <a:buFont typeface="Wingdings" panose="05000000000000000000" pitchFamily="2" charset="2"/>
              <a:buChar char="Ø"/>
            </a:pPr>
            <a:r>
              <a:rPr lang="en-US" sz="1200" dirty="0" smtClean="0"/>
              <a:t>Larger customer share of wallet </a:t>
            </a:r>
          </a:p>
          <a:p>
            <a:pPr marL="171450" indent="-171450" algn="l">
              <a:buFont typeface="Wingdings" panose="05000000000000000000" pitchFamily="2" charset="2"/>
              <a:buChar char="Ø"/>
            </a:pPr>
            <a:r>
              <a:rPr lang="en-US" sz="1200" dirty="0" smtClean="0"/>
              <a:t>Increased revenues </a:t>
            </a:r>
            <a:endParaRPr lang="en-US" sz="1200" dirty="0"/>
          </a:p>
          <a:p>
            <a:pPr marL="171450" indent="-171450" algn="l">
              <a:buFont typeface="Wingdings" panose="05000000000000000000" pitchFamily="2" charset="2"/>
              <a:buChar char="Ø"/>
            </a:pPr>
            <a:r>
              <a:rPr lang="en-US" sz="1200" dirty="0" smtClean="0"/>
              <a:t>Less dependency on volatile airline products</a:t>
            </a:r>
          </a:p>
          <a:p>
            <a:pPr marL="171450" indent="-171450" algn="l">
              <a:buFont typeface="Wingdings" panose="05000000000000000000" pitchFamily="2" charset="2"/>
              <a:buChar char="Ø"/>
            </a:pPr>
            <a:endParaRPr lang="en-US" sz="1200" dirty="0"/>
          </a:p>
        </p:txBody>
      </p:sp>
      <p:sp>
        <p:nvSpPr>
          <p:cNvPr id="50" name="TextBox 49"/>
          <p:cNvSpPr txBox="1"/>
          <p:nvPr/>
        </p:nvSpPr>
        <p:spPr>
          <a:xfrm>
            <a:off x="4277708" y="4436942"/>
            <a:ext cx="2490953" cy="1384995"/>
          </a:xfrm>
          <a:prstGeom prst="rect">
            <a:avLst/>
          </a:prstGeom>
          <a:noFill/>
        </p:spPr>
        <p:txBody>
          <a:bodyPr wrap="square" rtlCol="0">
            <a:spAutoFit/>
          </a:bodyPr>
          <a:lstStyle/>
          <a:p>
            <a:pPr marL="171450" indent="-171450" algn="l">
              <a:buFont typeface="Wingdings" panose="05000000000000000000" pitchFamily="2" charset="2"/>
              <a:buChar char="Ø"/>
            </a:pPr>
            <a:r>
              <a:rPr lang="en-US" sz="1200" dirty="0" smtClean="0"/>
              <a:t>On- and offline generic resellers, specialist resellers and marketplaces targeting the same customers; e.g.</a:t>
            </a:r>
          </a:p>
          <a:p>
            <a:pPr marL="628650" lvl="1" indent="-171450" algn="l">
              <a:buFont typeface="Wingdings" panose="05000000000000000000" pitchFamily="2" charset="2"/>
              <a:buChar char="Ø"/>
            </a:pPr>
            <a:r>
              <a:rPr lang="en-US" sz="1200" dirty="0" smtClean="0"/>
              <a:t>Amazon</a:t>
            </a:r>
          </a:p>
          <a:p>
            <a:pPr marL="628650" lvl="1" indent="-171450" algn="l">
              <a:buFont typeface="Wingdings" panose="05000000000000000000" pitchFamily="2" charset="2"/>
              <a:buChar char="Ø"/>
            </a:pPr>
            <a:r>
              <a:rPr lang="en-US" sz="1200" dirty="0" smtClean="0"/>
              <a:t>Ebay</a:t>
            </a:r>
          </a:p>
          <a:p>
            <a:pPr marL="628650" lvl="1" indent="-171450" algn="l">
              <a:buFont typeface="Wingdings" panose="05000000000000000000" pitchFamily="2" charset="2"/>
              <a:buChar char="Ø"/>
            </a:pPr>
            <a:endParaRPr lang="en-US" sz="1200" dirty="0" smtClean="0"/>
          </a:p>
        </p:txBody>
      </p:sp>
      <p:sp>
        <p:nvSpPr>
          <p:cNvPr id="51" name="TextBox 50"/>
          <p:cNvSpPr txBox="1"/>
          <p:nvPr/>
        </p:nvSpPr>
        <p:spPr>
          <a:xfrm>
            <a:off x="2282692" y="4128390"/>
            <a:ext cx="1037463" cy="276999"/>
          </a:xfrm>
          <a:prstGeom prst="rect">
            <a:avLst/>
          </a:prstGeom>
          <a:noFill/>
        </p:spPr>
        <p:txBody>
          <a:bodyPr wrap="none" rtlCol="0">
            <a:spAutoFit/>
          </a:bodyPr>
          <a:lstStyle/>
          <a:p>
            <a:r>
              <a:rPr lang="en-US" sz="1200" b="1" dirty="0" smtClean="0"/>
              <a:t>Assortment</a:t>
            </a:r>
            <a:endParaRPr lang="en-US" sz="1200" b="1" dirty="0"/>
          </a:p>
        </p:txBody>
      </p:sp>
      <p:sp>
        <p:nvSpPr>
          <p:cNvPr id="52" name="TextBox 51"/>
          <p:cNvSpPr txBox="1"/>
          <p:nvPr/>
        </p:nvSpPr>
        <p:spPr>
          <a:xfrm>
            <a:off x="1532191" y="4436942"/>
            <a:ext cx="2616731" cy="1200329"/>
          </a:xfrm>
          <a:prstGeom prst="rect">
            <a:avLst/>
          </a:prstGeom>
          <a:noFill/>
        </p:spPr>
        <p:txBody>
          <a:bodyPr wrap="square" rtlCol="0">
            <a:spAutoFit/>
          </a:bodyPr>
          <a:lstStyle/>
          <a:p>
            <a:pPr marL="171450" indent="-171450" algn="l">
              <a:lnSpc>
                <a:spcPct val="150000"/>
              </a:lnSpc>
              <a:buFont typeface="Wingdings" pitchFamily="2" charset="2"/>
              <a:buChar char="Ø"/>
            </a:pPr>
            <a:r>
              <a:rPr lang="en-US" sz="1200" dirty="0" smtClean="0"/>
              <a:t>Growing assortment from products related to travel to anything our customers might like to buy</a:t>
            </a:r>
          </a:p>
        </p:txBody>
      </p:sp>
      <p:sp>
        <p:nvSpPr>
          <p:cNvPr id="54" name="TextBox 53"/>
          <p:cNvSpPr txBox="1"/>
          <p:nvPr/>
        </p:nvSpPr>
        <p:spPr>
          <a:xfrm>
            <a:off x="7265581" y="4159943"/>
            <a:ext cx="2179674" cy="276999"/>
          </a:xfrm>
          <a:prstGeom prst="rect">
            <a:avLst/>
          </a:prstGeom>
          <a:noFill/>
        </p:spPr>
        <p:txBody>
          <a:bodyPr wrap="square" rtlCol="0">
            <a:spAutoFit/>
          </a:bodyPr>
          <a:lstStyle/>
          <a:p>
            <a:pPr algn="ctr"/>
            <a:r>
              <a:rPr lang="en-US" sz="1200" b="1" dirty="0" smtClean="0"/>
              <a:t>Examples</a:t>
            </a:r>
          </a:p>
        </p:txBody>
      </p:sp>
      <p:sp>
        <p:nvSpPr>
          <p:cNvPr id="56" name="TextBox 55"/>
          <p:cNvSpPr txBox="1"/>
          <p:nvPr/>
        </p:nvSpPr>
        <p:spPr>
          <a:xfrm>
            <a:off x="7122041" y="1723699"/>
            <a:ext cx="2275367" cy="646331"/>
          </a:xfrm>
          <a:prstGeom prst="rect">
            <a:avLst/>
          </a:prstGeom>
          <a:noFill/>
        </p:spPr>
        <p:txBody>
          <a:bodyPr wrap="square" rtlCol="0">
            <a:spAutoFit/>
          </a:bodyPr>
          <a:lstStyle/>
          <a:p>
            <a:pPr marL="171450" indent="-171450" algn="l">
              <a:buFont typeface="Wingdings" panose="05000000000000000000" pitchFamily="2" charset="2"/>
              <a:buChar char="Ø"/>
            </a:pPr>
            <a:r>
              <a:rPr lang="en-US" sz="1200" dirty="0" smtClean="0"/>
              <a:t>Assortment that fits the total lifestyle of selected customer group</a:t>
            </a:r>
            <a:endParaRPr lang="en-US" sz="1200" dirty="0"/>
          </a:p>
        </p:txBody>
      </p:sp>
      <p:pic>
        <p:nvPicPr>
          <p:cNvPr id="351237" name="Picture 5" descr="https://lh6.ggpht.com/5jONES3U0eJOI6X09qaOcsagbaVCtKXOblh4t8k9_e_VLoWmvhAK8d_7h0X2jT9wNXM=w170"/>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453158" y="4619248"/>
            <a:ext cx="1001971" cy="100197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3"/>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120992" y="4619248"/>
            <a:ext cx="1091893" cy="1001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3975276"/>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3287" name="Picture 7"/>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493232" y="1339565"/>
            <a:ext cx="7790617" cy="4756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1464401" y="258184"/>
            <a:ext cx="7969515" cy="758272"/>
          </a:xfrm>
        </p:spPr>
        <p:txBody>
          <a:bodyPr/>
          <a:lstStyle/>
          <a:p>
            <a:r>
              <a:rPr lang="en-US" dirty="0" smtClean="0"/>
              <a:t>SUCCESSFUL GENERAL RETAILERS COMBINE MULTIPLE RETAILING BUSINESS MODELS example level 7</a:t>
            </a:r>
            <a:endParaRPr lang="en-US" dirty="0"/>
          </a:p>
        </p:txBody>
      </p:sp>
      <p:sp>
        <p:nvSpPr>
          <p:cNvPr id="6" name="TextBox 5"/>
          <p:cNvSpPr txBox="1"/>
          <p:nvPr/>
        </p:nvSpPr>
        <p:spPr>
          <a:xfrm>
            <a:off x="2648420" y="4927011"/>
            <a:ext cx="1000274" cy="138499"/>
          </a:xfrm>
          <a:prstGeom prst="rect">
            <a:avLst/>
          </a:prstGeom>
          <a:solidFill>
            <a:schemeClr val="bg1"/>
          </a:solidFill>
        </p:spPr>
        <p:txBody>
          <a:bodyPr wrap="none" lIns="0" tIns="0" rIns="0" bIns="0" rtlCol="0">
            <a:spAutoFit/>
          </a:bodyPr>
          <a:lstStyle/>
          <a:p>
            <a:r>
              <a:rPr lang="en-US" sz="900" b="1" i="1" dirty="0" smtClean="0">
                <a:solidFill>
                  <a:schemeClr val="tx1">
                    <a:lumMod val="85000"/>
                    <a:lumOff val="15000"/>
                  </a:schemeClr>
                </a:solidFill>
              </a:rPr>
              <a:t>1995: Just books  </a:t>
            </a:r>
            <a:endParaRPr lang="en-US" sz="900" b="1" i="1" dirty="0">
              <a:solidFill>
                <a:schemeClr val="tx1">
                  <a:lumMod val="85000"/>
                  <a:lumOff val="15000"/>
                </a:schemeClr>
              </a:solidFill>
            </a:endParaRPr>
          </a:p>
        </p:txBody>
      </p:sp>
      <p:sp>
        <p:nvSpPr>
          <p:cNvPr id="9" name="TextBox 8"/>
          <p:cNvSpPr txBox="1"/>
          <p:nvPr/>
        </p:nvSpPr>
        <p:spPr>
          <a:xfrm>
            <a:off x="2734484" y="3635030"/>
            <a:ext cx="1263166" cy="276999"/>
          </a:xfrm>
          <a:prstGeom prst="rect">
            <a:avLst/>
          </a:prstGeom>
          <a:solidFill>
            <a:schemeClr val="bg1"/>
          </a:solidFill>
        </p:spPr>
        <p:txBody>
          <a:bodyPr wrap="none" lIns="0" tIns="0" rIns="0" bIns="0" rtlCol="0">
            <a:spAutoFit/>
          </a:bodyPr>
          <a:lstStyle/>
          <a:p>
            <a:pPr algn="l"/>
            <a:r>
              <a:rPr lang="en-US" sz="900" b="1" i="1" dirty="0" smtClean="0">
                <a:solidFill>
                  <a:schemeClr val="tx1">
                    <a:lumMod val="85000"/>
                    <a:lumOff val="15000"/>
                  </a:schemeClr>
                </a:solidFill>
              </a:rPr>
              <a:t>From 1996: Expansion </a:t>
            </a:r>
            <a:br>
              <a:rPr lang="en-US" sz="900" b="1" i="1" dirty="0" smtClean="0">
                <a:solidFill>
                  <a:schemeClr val="tx1">
                    <a:lumMod val="85000"/>
                    <a:lumOff val="15000"/>
                  </a:schemeClr>
                </a:solidFill>
              </a:rPr>
            </a:br>
            <a:r>
              <a:rPr lang="en-US" sz="900" b="1" i="1" dirty="0" smtClean="0">
                <a:solidFill>
                  <a:schemeClr val="tx1">
                    <a:lumMod val="85000"/>
                    <a:lumOff val="15000"/>
                  </a:schemeClr>
                </a:solidFill>
              </a:rPr>
              <a:t>to other products</a:t>
            </a:r>
            <a:endParaRPr lang="en-US" sz="900" b="1" i="1" dirty="0">
              <a:solidFill>
                <a:schemeClr val="tx1">
                  <a:lumMod val="85000"/>
                  <a:lumOff val="15000"/>
                </a:schemeClr>
              </a:solidFill>
            </a:endParaRPr>
          </a:p>
        </p:txBody>
      </p:sp>
      <p:sp>
        <p:nvSpPr>
          <p:cNvPr id="10" name="TextBox 9"/>
          <p:cNvSpPr txBox="1"/>
          <p:nvPr/>
        </p:nvSpPr>
        <p:spPr>
          <a:xfrm>
            <a:off x="4098828" y="2529844"/>
            <a:ext cx="1160574" cy="276999"/>
          </a:xfrm>
          <a:prstGeom prst="rect">
            <a:avLst/>
          </a:prstGeom>
          <a:solidFill>
            <a:schemeClr val="bg1"/>
          </a:solidFill>
        </p:spPr>
        <p:txBody>
          <a:bodyPr wrap="none" lIns="0" tIns="0" rIns="0" bIns="0" rtlCol="0">
            <a:spAutoFit/>
          </a:bodyPr>
          <a:lstStyle/>
          <a:p>
            <a:pPr algn="l"/>
            <a:r>
              <a:rPr lang="en-US" sz="900" b="1" i="1" dirty="0" smtClean="0">
                <a:solidFill>
                  <a:schemeClr val="tx1">
                    <a:lumMod val="85000"/>
                    <a:lumOff val="15000"/>
                  </a:schemeClr>
                </a:solidFill>
              </a:rPr>
              <a:t>2000: Launch of</a:t>
            </a:r>
            <a:br>
              <a:rPr lang="en-US" sz="900" b="1" i="1" dirty="0" smtClean="0">
                <a:solidFill>
                  <a:schemeClr val="tx1">
                    <a:lumMod val="85000"/>
                    <a:lumOff val="15000"/>
                  </a:schemeClr>
                </a:solidFill>
              </a:rPr>
            </a:br>
            <a:r>
              <a:rPr lang="en-US" sz="900" b="1" i="1" dirty="0" smtClean="0">
                <a:solidFill>
                  <a:schemeClr val="tx1">
                    <a:lumMod val="85000"/>
                    <a:lumOff val="15000"/>
                  </a:schemeClr>
                </a:solidFill>
              </a:rPr>
              <a:t>marketplace function</a:t>
            </a:r>
            <a:endParaRPr lang="en-US" sz="900" b="1" i="1" dirty="0">
              <a:solidFill>
                <a:schemeClr val="tx1">
                  <a:lumMod val="85000"/>
                  <a:lumOff val="15000"/>
                </a:schemeClr>
              </a:solidFill>
            </a:endParaRPr>
          </a:p>
        </p:txBody>
      </p:sp>
      <p:sp>
        <p:nvSpPr>
          <p:cNvPr id="14" name="TextBox 13"/>
          <p:cNvSpPr txBox="1"/>
          <p:nvPr/>
        </p:nvSpPr>
        <p:spPr>
          <a:xfrm>
            <a:off x="4809994" y="4749070"/>
            <a:ext cx="3494901" cy="138499"/>
          </a:xfrm>
          <a:prstGeom prst="rect">
            <a:avLst/>
          </a:prstGeom>
          <a:solidFill>
            <a:schemeClr val="bg1"/>
          </a:solidFill>
        </p:spPr>
        <p:txBody>
          <a:bodyPr wrap="square" lIns="0" tIns="0" rIns="0" bIns="0" rtlCol="0">
            <a:spAutoFit/>
          </a:bodyPr>
          <a:lstStyle/>
          <a:p>
            <a:pPr algn="l"/>
            <a:r>
              <a:rPr lang="en-US" sz="900" dirty="0" smtClean="0">
                <a:solidFill>
                  <a:schemeClr val="tx1">
                    <a:lumMod val="85000"/>
                    <a:lumOff val="15000"/>
                  </a:schemeClr>
                </a:solidFill>
                <a:sym typeface="Wingdings"/>
              </a:rPr>
              <a:t></a:t>
            </a:r>
            <a:r>
              <a:rPr lang="en-US" sz="900" i="1" dirty="0" smtClean="0">
                <a:solidFill>
                  <a:schemeClr val="tx1">
                    <a:lumMod val="85000"/>
                    <a:lumOff val="15000"/>
                  </a:schemeClr>
                </a:solidFill>
              </a:rPr>
              <a:t>On going: acquisition of successful Specialist Resellers</a:t>
            </a:r>
            <a:r>
              <a:rPr lang="en-US" sz="900" dirty="0" smtClean="0">
                <a:solidFill>
                  <a:schemeClr val="tx1">
                    <a:lumMod val="85000"/>
                    <a:lumOff val="15000"/>
                  </a:schemeClr>
                </a:solidFill>
                <a:sym typeface="Wingdings"/>
              </a:rPr>
              <a:t></a:t>
            </a:r>
            <a:endParaRPr lang="en-US" sz="900" dirty="0">
              <a:solidFill>
                <a:schemeClr val="tx1">
                  <a:lumMod val="85000"/>
                  <a:lumOff val="15000"/>
                </a:schemeClr>
              </a:solidFill>
            </a:endParaRPr>
          </a:p>
        </p:txBody>
      </p:sp>
      <p:sp>
        <p:nvSpPr>
          <p:cNvPr id="15" name="TextBox 14"/>
          <p:cNvSpPr txBox="1"/>
          <p:nvPr/>
        </p:nvSpPr>
        <p:spPr>
          <a:xfrm>
            <a:off x="6134970" y="5818805"/>
            <a:ext cx="1346522" cy="276999"/>
          </a:xfrm>
          <a:prstGeom prst="rect">
            <a:avLst/>
          </a:prstGeom>
          <a:solidFill>
            <a:schemeClr val="bg1"/>
          </a:solidFill>
        </p:spPr>
        <p:txBody>
          <a:bodyPr wrap="none" lIns="0" tIns="0" rIns="0" bIns="0" rtlCol="0">
            <a:spAutoFit/>
          </a:bodyPr>
          <a:lstStyle/>
          <a:p>
            <a:pPr algn="l"/>
            <a:r>
              <a:rPr lang="en-US" sz="900" b="1" i="1" dirty="0" smtClean="0">
                <a:solidFill>
                  <a:schemeClr val="tx1">
                    <a:lumMod val="85000"/>
                    <a:lumOff val="15000"/>
                  </a:schemeClr>
                </a:solidFill>
              </a:rPr>
              <a:t>2007: Launch of</a:t>
            </a:r>
            <a:br>
              <a:rPr lang="en-US" sz="900" b="1" i="1" dirty="0" smtClean="0">
                <a:solidFill>
                  <a:schemeClr val="tx1">
                    <a:lumMod val="85000"/>
                    <a:lumOff val="15000"/>
                  </a:schemeClr>
                </a:solidFill>
              </a:rPr>
            </a:br>
            <a:r>
              <a:rPr lang="en-US" sz="900" b="1" i="1" dirty="0" smtClean="0">
                <a:solidFill>
                  <a:schemeClr val="tx1">
                    <a:lumMod val="85000"/>
                    <a:lumOff val="15000"/>
                  </a:schemeClr>
                </a:solidFill>
              </a:rPr>
              <a:t>own </a:t>
            </a:r>
            <a:r>
              <a:rPr lang="en-US" sz="900" b="1" i="1" dirty="0" err="1" smtClean="0">
                <a:solidFill>
                  <a:schemeClr val="tx1">
                    <a:lumMod val="85000"/>
                    <a:lumOff val="15000"/>
                  </a:schemeClr>
                </a:solidFill>
              </a:rPr>
              <a:t>ebook</a:t>
            </a:r>
            <a:r>
              <a:rPr lang="en-US" sz="900" b="1" i="1" dirty="0" smtClean="0">
                <a:solidFill>
                  <a:schemeClr val="tx1">
                    <a:lumMod val="85000"/>
                    <a:lumOff val="15000"/>
                  </a:schemeClr>
                </a:solidFill>
              </a:rPr>
              <a:t>-reader brand</a:t>
            </a:r>
            <a:endParaRPr lang="en-US" sz="900" b="1" i="1" dirty="0">
              <a:solidFill>
                <a:schemeClr val="tx1">
                  <a:lumMod val="85000"/>
                  <a:lumOff val="15000"/>
                </a:schemeClr>
              </a:solidFill>
            </a:endParaRPr>
          </a:p>
        </p:txBody>
      </p:sp>
    </p:spTree>
    <p:extLst>
      <p:ext uri="{BB962C8B-B14F-4D97-AF65-F5344CB8AC3E}">
        <p14:creationId xmlns:p14="http://schemas.microsoft.com/office/powerpoint/2010/main" val="433243753"/>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Rectangle 65"/>
          <p:cNvSpPr/>
          <p:nvPr/>
        </p:nvSpPr>
        <p:spPr bwMode="auto">
          <a:xfrm>
            <a:off x="4423496" y="1084565"/>
            <a:ext cx="1364593" cy="4627719"/>
          </a:xfrm>
          <a:prstGeom prst="rect">
            <a:avLst/>
          </a:prstGeom>
          <a:solidFill>
            <a:srgbClr val="B2E1F6">
              <a:alpha val="34000"/>
            </a:srgbClr>
          </a:solidFill>
          <a:ln w="9525" cap="flat" cmpd="sng" algn="ctr">
            <a:solidFill>
              <a:srgbClr val="B2E1F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smtClean="0">
              <a:ln>
                <a:noFill/>
              </a:ln>
              <a:solidFill>
                <a:schemeClr val="tx1"/>
              </a:solidFill>
              <a:effectLst/>
              <a:latin typeface="Arial" charset="0"/>
            </a:endParaRPr>
          </a:p>
        </p:txBody>
      </p:sp>
      <p:sp>
        <p:nvSpPr>
          <p:cNvPr id="3" name="Rectangle 2"/>
          <p:cNvSpPr/>
          <p:nvPr/>
        </p:nvSpPr>
        <p:spPr bwMode="auto">
          <a:xfrm>
            <a:off x="0" y="6274973"/>
            <a:ext cx="9906000" cy="524035"/>
          </a:xfrm>
          <a:prstGeom prst="rect">
            <a:avLst/>
          </a:prstGeom>
          <a:solidFill>
            <a:schemeClr val="bg1"/>
          </a:solidFill>
          <a:ln w="9525" cap="flat" cmpd="sng" algn="ctr">
            <a:no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tx1"/>
              </a:solidFill>
              <a:effectLst/>
              <a:latin typeface="Arial" charset="0"/>
            </a:endParaRPr>
          </a:p>
        </p:txBody>
      </p:sp>
      <p:sp>
        <p:nvSpPr>
          <p:cNvPr id="2" name="Title 1"/>
          <p:cNvSpPr>
            <a:spLocks noGrp="1"/>
          </p:cNvSpPr>
          <p:nvPr>
            <p:ph type="title"/>
          </p:nvPr>
        </p:nvSpPr>
        <p:spPr>
          <a:xfrm>
            <a:off x="1443385" y="345913"/>
            <a:ext cx="7969515" cy="567320"/>
          </a:xfrm>
        </p:spPr>
        <p:txBody>
          <a:bodyPr/>
          <a:lstStyle/>
          <a:p>
            <a:r>
              <a:rPr lang="en-US" dirty="0" smtClean="0"/>
              <a:t>RETAILING MATURITY LEVELS </a:t>
            </a:r>
            <a:br>
              <a:rPr lang="en-US" dirty="0" smtClean="0"/>
            </a:br>
            <a:r>
              <a:rPr lang="en-US" dirty="0" smtClean="0">
                <a:solidFill>
                  <a:srgbClr val="4AABFC"/>
                </a:solidFill>
              </a:rPr>
              <a:t>WHAT COULD BE NEXT IN RETAILING FOR AIR FRANCE-KLM</a:t>
            </a:r>
            <a:endParaRPr lang="en-US" dirty="0">
              <a:solidFill>
                <a:srgbClr val="4AABFC"/>
              </a:solidFill>
            </a:endParaRPr>
          </a:p>
        </p:txBody>
      </p:sp>
      <p:sp>
        <p:nvSpPr>
          <p:cNvPr id="4" name="Rounded Rectangle 3"/>
          <p:cNvSpPr/>
          <p:nvPr/>
        </p:nvSpPr>
        <p:spPr bwMode="auto">
          <a:xfrm>
            <a:off x="1636052" y="4263399"/>
            <a:ext cx="1204694" cy="440044"/>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rPr>
              <a:t>A la carte</a:t>
            </a:r>
            <a:endParaRPr kumimoji="0" lang="en-US" sz="1400" b="0" i="1" u="none" strike="noStrike" cap="none" normalizeH="0" baseline="0" dirty="0" smtClean="0">
              <a:ln>
                <a:noFill/>
              </a:ln>
              <a:solidFill>
                <a:schemeClr val="tx1"/>
              </a:solidFill>
              <a:effectLst/>
            </a:endParaRPr>
          </a:p>
        </p:txBody>
      </p:sp>
      <p:sp>
        <p:nvSpPr>
          <p:cNvPr id="6" name="Rounded Rectangle 5"/>
          <p:cNvSpPr/>
          <p:nvPr/>
        </p:nvSpPr>
        <p:spPr bwMode="auto">
          <a:xfrm>
            <a:off x="2979893" y="4052641"/>
            <a:ext cx="1387391" cy="418786"/>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rPr>
              <a:t>Travel related retailing</a:t>
            </a:r>
          </a:p>
        </p:txBody>
      </p:sp>
      <p:sp>
        <p:nvSpPr>
          <p:cNvPr id="5" name="TextBox 4"/>
          <p:cNvSpPr txBox="1"/>
          <p:nvPr/>
        </p:nvSpPr>
        <p:spPr>
          <a:xfrm>
            <a:off x="1729204" y="1346874"/>
            <a:ext cx="1050288" cy="369332"/>
          </a:xfrm>
          <a:prstGeom prst="rect">
            <a:avLst/>
          </a:prstGeom>
          <a:noFill/>
        </p:spPr>
        <p:txBody>
          <a:bodyPr wrap="none" rtlCol="0">
            <a:spAutoFit/>
          </a:bodyPr>
          <a:lstStyle/>
          <a:p>
            <a:r>
              <a:rPr lang="en-US" sz="1800" dirty="0" smtClean="0"/>
              <a:t>+ level 2</a:t>
            </a:r>
            <a:endParaRPr lang="en-US" sz="1800" dirty="0"/>
          </a:p>
        </p:txBody>
      </p:sp>
      <p:sp>
        <p:nvSpPr>
          <p:cNvPr id="20" name="TextBox 19"/>
          <p:cNvSpPr txBox="1"/>
          <p:nvPr/>
        </p:nvSpPr>
        <p:spPr>
          <a:xfrm>
            <a:off x="3148444" y="1346874"/>
            <a:ext cx="1050288" cy="369332"/>
          </a:xfrm>
          <a:prstGeom prst="rect">
            <a:avLst/>
          </a:prstGeom>
          <a:noFill/>
        </p:spPr>
        <p:txBody>
          <a:bodyPr wrap="none" rtlCol="0">
            <a:spAutoFit/>
          </a:bodyPr>
          <a:lstStyle/>
          <a:p>
            <a:r>
              <a:rPr lang="en-US" sz="1800" dirty="0" smtClean="0"/>
              <a:t>+ level 3</a:t>
            </a:r>
            <a:endParaRPr lang="en-US" sz="1800" dirty="0"/>
          </a:p>
        </p:txBody>
      </p:sp>
      <p:sp>
        <p:nvSpPr>
          <p:cNvPr id="27" name="Rounded Rectangle 26"/>
          <p:cNvSpPr/>
          <p:nvPr/>
        </p:nvSpPr>
        <p:spPr bwMode="auto">
          <a:xfrm>
            <a:off x="145266" y="4427175"/>
            <a:ext cx="1361071" cy="440044"/>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rPr>
              <a:t>All-in </a:t>
            </a:r>
            <a:br>
              <a:rPr kumimoji="0" lang="en-US" sz="1400" b="0" i="0" u="none" strike="noStrike" cap="none" normalizeH="0" baseline="0" dirty="0" smtClean="0">
                <a:ln>
                  <a:noFill/>
                </a:ln>
                <a:solidFill>
                  <a:schemeClr val="tx1"/>
                </a:solidFill>
                <a:effectLst/>
              </a:rPr>
            </a:br>
            <a:r>
              <a:rPr kumimoji="0" lang="en-US" sz="1400" b="0" i="0" u="none" strike="noStrike" cap="none" normalizeH="0" baseline="0" dirty="0" smtClean="0">
                <a:ln>
                  <a:noFill/>
                </a:ln>
                <a:solidFill>
                  <a:schemeClr val="tx1"/>
                </a:solidFill>
                <a:effectLst/>
              </a:rPr>
              <a:t>tickets</a:t>
            </a:r>
            <a:endParaRPr kumimoji="0" lang="en-US" sz="1400" b="0" i="1" u="none" strike="noStrike" cap="none" normalizeH="0" baseline="0" dirty="0" smtClean="0">
              <a:ln>
                <a:noFill/>
              </a:ln>
              <a:solidFill>
                <a:schemeClr val="tx1"/>
              </a:solidFill>
              <a:effectLst/>
            </a:endParaRPr>
          </a:p>
        </p:txBody>
      </p:sp>
      <p:sp>
        <p:nvSpPr>
          <p:cNvPr id="28" name="TextBox 27"/>
          <p:cNvSpPr txBox="1"/>
          <p:nvPr/>
        </p:nvSpPr>
        <p:spPr>
          <a:xfrm>
            <a:off x="519793" y="1346874"/>
            <a:ext cx="851515" cy="369332"/>
          </a:xfrm>
          <a:prstGeom prst="rect">
            <a:avLst/>
          </a:prstGeom>
          <a:noFill/>
        </p:spPr>
        <p:txBody>
          <a:bodyPr wrap="none" rtlCol="0">
            <a:spAutoFit/>
          </a:bodyPr>
          <a:lstStyle/>
          <a:p>
            <a:r>
              <a:rPr lang="en-US" sz="1800" dirty="0"/>
              <a:t>l</a:t>
            </a:r>
            <a:r>
              <a:rPr lang="en-US" sz="1800" dirty="0" smtClean="0"/>
              <a:t>evel 1</a:t>
            </a:r>
            <a:endParaRPr lang="en-US" sz="1800" dirty="0"/>
          </a:p>
        </p:txBody>
      </p:sp>
      <p:pic>
        <p:nvPicPr>
          <p:cNvPr id="360450" name="Picture 2"/>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67642" y="3639888"/>
            <a:ext cx="1338696" cy="74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0454" name="Picture 6"/>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1657426" y="3515459"/>
            <a:ext cx="1231260" cy="601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Straight Connector 10"/>
          <p:cNvCxnSpPr/>
          <p:nvPr/>
        </p:nvCxnSpPr>
        <p:spPr bwMode="auto">
          <a:xfrm>
            <a:off x="1566986" y="1902542"/>
            <a:ext cx="0" cy="3746400"/>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60456" name="Picture 8"/>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3046414" y="3241632"/>
            <a:ext cx="1279926" cy="585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5" name="Straight Connector 34"/>
          <p:cNvCxnSpPr/>
          <p:nvPr/>
        </p:nvCxnSpPr>
        <p:spPr bwMode="auto">
          <a:xfrm>
            <a:off x="2897955" y="1902542"/>
            <a:ext cx="0" cy="3777177"/>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35"/>
          <p:cNvCxnSpPr/>
          <p:nvPr/>
        </p:nvCxnSpPr>
        <p:spPr bwMode="auto">
          <a:xfrm>
            <a:off x="5788089" y="1902542"/>
            <a:ext cx="0" cy="3807955"/>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0448" name="Rectangle 360447"/>
          <p:cNvSpPr/>
          <p:nvPr/>
        </p:nvSpPr>
        <p:spPr bwMode="auto">
          <a:xfrm>
            <a:off x="145267" y="5187277"/>
            <a:ext cx="4278229" cy="523220"/>
          </a:xfrm>
          <a:prstGeom prst="rect">
            <a:avLst/>
          </a:prstGeom>
          <a:solidFill>
            <a:schemeClr val="accent6">
              <a:lumMod val="50000"/>
            </a:schemeClr>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ndParaRPr>
          </a:p>
        </p:txBody>
      </p:sp>
      <p:sp>
        <p:nvSpPr>
          <p:cNvPr id="51" name="TextBox 50"/>
          <p:cNvSpPr txBox="1"/>
          <p:nvPr/>
        </p:nvSpPr>
        <p:spPr>
          <a:xfrm>
            <a:off x="240675" y="5187277"/>
            <a:ext cx="1157689" cy="461665"/>
          </a:xfrm>
          <a:prstGeom prst="rect">
            <a:avLst/>
          </a:prstGeom>
          <a:noFill/>
        </p:spPr>
        <p:txBody>
          <a:bodyPr wrap="none" rtlCol="0">
            <a:spAutoFit/>
          </a:bodyPr>
          <a:lstStyle/>
          <a:p>
            <a:pPr algn="ctr"/>
            <a:r>
              <a:rPr lang="en-US" sz="1200" dirty="0" smtClean="0">
                <a:solidFill>
                  <a:schemeClr val="bg1"/>
                </a:solidFill>
              </a:rPr>
              <a:t>Core product: </a:t>
            </a:r>
          </a:p>
          <a:p>
            <a:pPr algn="ctr"/>
            <a:r>
              <a:rPr lang="en-US" sz="1200" dirty="0" smtClean="0">
                <a:solidFill>
                  <a:schemeClr val="bg1"/>
                </a:solidFill>
              </a:rPr>
              <a:t>seat</a:t>
            </a:r>
            <a:endParaRPr lang="en-US" sz="1200" dirty="0">
              <a:solidFill>
                <a:schemeClr val="bg1"/>
              </a:solidFill>
            </a:endParaRPr>
          </a:p>
        </p:txBody>
      </p:sp>
      <p:sp>
        <p:nvSpPr>
          <p:cNvPr id="54" name="TextBox 53"/>
          <p:cNvSpPr txBox="1"/>
          <p:nvPr/>
        </p:nvSpPr>
        <p:spPr>
          <a:xfrm>
            <a:off x="1600480" y="5218054"/>
            <a:ext cx="1157689" cy="461665"/>
          </a:xfrm>
          <a:prstGeom prst="rect">
            <a:avLst/>
          </a:prstGeom>
          <a:noFill/>
        </p:spPr>
        <p:txBody>
          <a:bodyPr wrap="none" rtlCol="0">
            <a:spAutoFit/>
          </a:bodyPr>
          <a:lstStyle/>
          <a:p>
            <a:pPr algn="ctr"/>
            <a:r>
              <a:rPr lang="en-US" sz="1200" dirty="0" smtClean="0">
                <a:solidFill>
                  <a:schemeClr val="bg1"/>
                </a:solidFill>
              </a:rPr>
              <a:t>Core product: </a:t>
            </a:r>
          </a:p>
          <a:p>
            <a:pPr algn="ctr"/>
            <a:r>
              <a:rPr lang="en-US" sz="1200" dirty="0" smtClean="0">
                <a:solidFill>
                  <a:schemeClr val="bg1"/>
                </a:solidFill>
              </a:rPr>
              <a:t>seat</a:t>
            </a:r>
            <a:endParaRPr lang="en-US" sz="1200" dirty="0">
              <a:solidFill>
                <a:schemeClr val="bg1"/>
              </a:solidFill>
            </a:endParaRPr>
          </a:p>
        </p:txBody>
      </p:sp>
      <p:sp>
        <p:nvSpPr>
          <p:cNvPr id="55" name="TextBox 54"/>
          <p:cNvSpPr txBox="1"/>
          <p:nvPr/>
        </p:nvSpPr>
        <p:spPr>
          <a:xfrm>
            <a:off x="3105965" y="5215458"/>
            <a:ext cx="1114408" cy="461665"/>
          </a:xfrm>
          <a:prstGeom prst="rect">
            <a:avLst/>
          </a:prstGeom>
          <a:noFill/>
        </p:spPr>
        <p:txBody>
          <a:bodyPr wrap="none" rtlCol="0">
            <a:spAutoFit/>
          </a:bodyPr>
          <a:lstStyle/>
          <a:p>
            <a:pPr algn="ctr"/>
            <a:r>
              <a:rPr lang="en-US" sz="1200" dirty="0" smtClean="0">
                <a:solidFill>
                  <a:schemeClr val="bg1"/>
                </a:solidFill>
              </a:rPr>
              <a:t>Core product:</a:t>
            </a:r>
            <a:br>
              <a:rPr lang="en-US" sz="1200" dirty="0" smtClean="0">
                <a:solidFill>
                  <a:schemeClr val="bg1"/>
                </a:solidFill>
              </a:rPr>
            </a:br>
            <a:r>
              <a:rPr lang="en-US" sz="1200" dirty="0" smtClean="0">
                <a:solidFill>
                  <a:schemeClr val="bg1"/>
                </a:solidFill>
              </a:rPr>
              <a:t>seat</a:t>
            </a:r>
          </a:p>
        </p:txBody>
      </p:sp>
      <p:cxnSp>
        <p:nvCxnSpPr>
          <p:cNvPr id="47" name="Straight Arrow Connector 46"/>
          <p:cNvCxnSpPr/>
          <p:nvPr/>
        </p:nvCxnSpPr>
        <p:spPr bwMode="auto">
          <a:xfrm>
            <a:off x="212393" y="5911814"/>
            <a:ext cx="9486495" cy="0"/>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8" name="TextBox 47"/>
          <p:cNvSpPr txBox="1"/>
          <p:nvPr/>
        </p:nvSpPr>
        <p:spPr>
          <a:xfrm>
            <a:off x="8529195" y="5935027"/>
            <a:ext cx="1309974" cy="430887"/>
          </a:xfrm>
          <a:prstGeom prst="rect">
            <a:avLst/>
          </a:prstGeom>
          <a:noFill/>
        </p:spPr>
        <p:txBody>
          <a:bodyPr wrap="none" rtlCol="0">
            <a:spAutoFit/>
          </a:bodyPr>
          <a:lstStyle/>
          <a:p>
            <a:r>
              <a:rPr lang="en-US" sz="1050" dirty="0" smtClean="0"/>
              <a:t>Personal solutions</a:t>
            </a:r>
            <a:br>
              <a:rPr lang="en-US" sz="1050" dirty="0" smtClean="0"/>
            </a:br>
            <a:r>
              <a:rPr lang="en-US" sz="1050" dirty="0" smtClean="0"/>
              <a:t>(customer centric)</a:t>
            </a:r>
            <a:endParaRPr lang="en-US" sz="1050" dirty="0"/>
          </a:p>
        </p:txBody>
      </p:sp>
      <p:sp>
        <p:nvSpPr>
          <p:cNvPr id="49" name="TextBox 48"/>
          <p:cNvSpPr txBox="1"/>
          <p:nvPr/>
        </p:nvSpPr>
        <p:spPr>
          <a:xfrm>
            <a:off x="212393" y="5946959"/>
            <a:ext cx="1200970" cy="430887"/>
          </a:xfrm>
          <a:prstGeom prst="rect">
            <a:avLst/>
          </a:prstGeom>
          <a:noFill/>
        </p:spPr>
        <p:txBody>
          <a:bodyPr wrap="none" rtlCol="0">
            <a:spAutoFit/>
          </a:bodyPr>
          <a:lstStyle/>
          <a:p>
            <a:pPr algn="l"/>
            <a:r>
              <a:rPr lang="en-US" sz="1050" dirty="0" smtClean="0"/>
              <a:t>Mass product</a:t>
            </a:r>
          </a:p>
          <a:p>
            <a:pPr algn="l"/>
            <a:r>
              <a:rPr lang="en-US" sz="1050" dirty="0" smtClean="0"/>
              <a:t>(product centric)</a:t>
            </a:r>
            <a:endParaRPr lang="en-US" sz="1050" dirty="0"/>
          </a:p>
        </p:txBody>
      </p:sp>
      <p:cxnSp>
        <p:nvCxnSpPr>
          <p:cNvPr id="61" name="Straight Connector 60"/>
          <p:cNvCxnSpPr/>
          <p:nvPr/>
        </p:nvCxnSpPr>
        <p:spPr bwMode="auto">
          <a:xfrm>
            <a:off x="4423496" y="1902542"/>
            <a:ext cx="0" cy="3807955"/>
          </a:xfrm>
          <a:prstGeom prst="line">
            <a:avLst/>
          </a:prstGeom>
          <a:solidFill>
            <a:schemeClr val="accent1"/>
          </a:solidFill>
          <a:ln w="9525" cap="flat" cmpd="sng" algn="ctr">
            <a:solidFill>
              <a:schemeClr val="tx1"/>
            </a:solidFill>
            <a:prstDash val="sys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2" name="Group 61"/>
          <p:cNvGrpSpPr/>
          <p:nvPr/>
        </p:nvGrpSpPr>
        <p:grpSpPr>
          <a:xfrm>
            <a:off x="4479114" y="1345547"/>
            <a:ext cx="1279197" cy="3809977"/>
            <a:chOff x="5745484" y="-95473"/>
            <a:chExt cx="1722117" cy="3809977"/>
          </a:xfrm>
        </p:grpSpPr>
        <p:sp>
          <p:nvSpPr>
            <p:cNvPr id="63" name="Rounded Rectangle 62"/>
            <p:cNvSpPr/>
            <p:nvPr/>
          </p:nvSpPr>
          <p:spPr bwMode="auto">
            <a:xfrm>
              <a:off x="5745484" y="2246184"/>
              <a:ext cx="1722114" cy="456846"/>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400" dirty="0" smtClean="0"/>
                <a:t>Personalized offers</a:t>
              </a:r>
              <a:endParaRPr kumimoji="0" lang="en-US" sz="1400" b="0" i="0" u="none" strike="noStrike" cap="none" normalizeH="0" baseline="0" dirty="0" smtClean="0">
                <a:ln>
                  <a:noFill/>
                </a:ln>
                <a:solidFill>
                  <a:schemeClr val="tx1"/>
                </a:solidFill>
                <a:effectLst/>
                <a:latin typeface="Arial" charset="0"/>
              </a:endParaRPr>
            </a:p>
          </p:txBody>
        </p:sp>
        <p:sp>
          <p:nvSpPr>
            <p:cNvPr id="64" name="TextBox 63"/>
            <p:cNvSpPr txBox="1"/>
            <p:nvPr/>
          </p:nvSpPr>
          <p:spPr>
            <a:xfrm>
              <a:off x="5882174" y="-95473"/>
              <a:ext cx="1413949" cy="369332"/>
            </a:xfrm>
            <a:prstGeom prst="rect">
              <a:avLst/>
            </a:prstGeom>
            <a:noFill/>
          </p:spPr>
          <p:txBody>
            <a:bodyPr wrap="none" rtlCol="0">
              <a:spAutoFit/>
            </a:bodyPr>
            <a:lstStyle/>
            <a:p>
              <a:r>
                <a:rPr lang="en-US" sz="1800" dirty="0" smtClean="0"/>
                <a:t>+ level 4</a:t>
              </a:r>
              <a:endParaRPr lang="en-US" sz="1800" dirty="0"/>
            </a:p>
          </p:txBody>
        </p:sp>
        <p:sp>
          <p:nvSpPr>
            <p:cNvPr id="65" name="TextBox 64"/>
            <p:cNvSpPr txBox="1"/>
            <p:nvPr/>
          </p:nvSpPr>
          <p:spPr>
            <a:xfrm>
              <a:off x="5773849" y="3460588"/>
              <a:ext cx="1693752" cy="253916"/>
            </a:xfrm>
            <a:prstGeom prst="rect">
              <a:avLst/>
            </a:prstGeom>
            <a:noFill/>
          </p:spPr>
          <p:txBody>
            <a:bodyPr wrap="square" rtlCol="0">
              <a:spAutoFit/>
            </a:bodyPr>
            <a:lstStyle/>
            <a:p>
              <a:pPr algn="l"/>
              <a:endParaRPr lang="en-US" sz="1050" dirty="0"/>
            </a:p>
          </p:txBody>
        </p:sp>
      </p:grpSp>
      <p:pic>
        <p:nvPicPr>
          <p:cNvPr id="71" name="Picture 5"/>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4505766" y="2924211"/>
            <a:ext cx="1204917" cy="654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0" name="Group 29"/>
          <p:cNvGrpSpPr/>
          <p:nvPr/>
        </p:nvGrpSpPr>
        <p:grpSpPr>
          <a:xfrm>
            <a:off x="5970424" y="3687204"/>
            <a:ext cx="3643944" cy="2072141"/>
            <a:chOff x="5970424" y="3826475"/>
            <a:chExt cx="3643944" cy="1932870"/>
          </a:xfrm>
        </p:grpSpPr>
        <p:sp>
          <p:nvSpPr>
            <p:cNvPr id="87" name="Rectangle 86"/>
            <p:cNvSpPr/>
            <p:nvPr/>
          </p:nvSpPr>
          <p:spPr bwMode="auto">
            <a:xfrm>
              <a:off x="5970424" y="3841459"/>
              <a:ext cx="3643944" cy="1917886"/>
            </a:xfrm>
            <a:prstGeom prst="rect">
              <a:avLst/>
            </a:prstGeom>
            <a:solidFill>
              <a:srgbClr val="009BE1">
                <a:alpha val="34000"/>
              </a:srgbClr>
            </a:solidFill>
            <a:ln w="9525" cap="flat" cmpd="sng" algn="ctr">
              <a:solidFill>
                <a:srgbClr val="B2E1F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smtClean="0">
                <a:ln>
                  <a:noFill/>
                </a:ln>
                <a:solidFill>
                  <a:schemeClr val="tx1"/>
                </a:solidFill>
                <a:effectLst/>
                <a:latin typeface="Arial" charset="0"/>
              </a:endParaRPr>
            </a:p>
          </p:txBody>
        </p:sp>
        <p:grpSp>
          <p:nvGrpSpPr>
            <p:cNvPr id="15" name="Group 14"/>
            <p:cNvGrpSpPr/>
            <p:nvPr/>
          </p:nvGrpSpPr>
          <p:grpSpPr>
            <a:xfrm>
              <a:off x="7151399" y="3826475"/>
              <a:ext cx="1273105" cy="1903400"/>
              <a:chOff x="7340726" y="3751313"/>
              <a:chExt cx="1273105" cy="1903400"/>
            </a:xfrm>
          </p:grpSpPr>
          <p:grpSp>
            <p:nvGrpSpPr>
              <p:cNvPr id="360451" name="Group 360450"/>
              <p:cNvGrpSpPr/>
              <p:nvPr/>
            </p:nvGrpSpPr>
            <p:grpSpPr>
              <a:xfrm>
                <a:off x="7340726" y="5131493"/>
                <a:ext cx="1273105" cy="523220"/>
                <a:chOff x="7608198" y="5875593"/>
                <a:chExt cx="1733439" cy="523220"/>
              </a:xfrm>
            </p:grpSpPr>
            <p:sp>
              <p:nvSpPr>
                <p:cNvPr id="58" name="Rectangle 57"/>
                <p:cNvSpPr/>
                <p:nvPr/>
              </p:nvSpPr>
              <p:spPr bwMode="auto">
                <a:xfrm>
                  <a:off x="7621927" y="5875593"/>
                  <a:ext cx="1718089" cy="523220"/>
                </a:xfrm>
                <a:prstGeom prst="rect">
                  <a:avLst/>
                </a:prstGeom>
                <a:solidFill>
                  <a:srgbClr val="B2E1F6"/>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ndParaRPr>
                </a:p>
              </p:txBody>
            </p:sp>
            <p:sp>
              <p:nvSpPr>
                <p:cNvPr id="53" name="TextBox 52"/>
                <p:cNvSpPr txBox="1"/>
                <p:nvPr/>
              </p:nvSpPr>
              <p:spPr>
                <a:xfrm>
                  <a:off x="7608198" y="5883961"/>
                  <a:ext cx="1733439" cy="461665"/>
                </a:xfrm>
                <a:prstGeom prst="rect">
                  <a:avLst/>
                </a:prstGeom>
                <a:noFill/>
              </p:spPr>
              <p:txBody>
                <a:bodyPr wrap="none" rtlCol="0">
                  <a:spAutoFit/>
                </a:bodyPr>
                <a:lstStyle/>
                <a:p>
                  <a:pPr algn="ctr"/>
                  <a:r>
                    <a:rPr lang="en-US" sz="1200" dirty="0" smtClean="0"/>
                    <a:t>Core product: </a:t>
                  </a:r>
                </a:p>
                <a:p>
                  <a:pPr algn="ctr"/>
                  <a:r>
                    <a:rPr lang="en-US" sz="1200" dirty="0"/>
                    <a:t>g</a:t>
                  </a:r>
                  <a:r>
                    <a:rPr lang="en-US" sz="1200" dirty="0" smtClean="0"/>
                    <a:t>eneral retailing</a:t>
                  </a:r>
                </a:p>
              </p:txBody>
            </p:sp>
          </p:grpSp>
          <p:sp>
            <p:nvSpPr>
              <p:cNvPr id="67" name="TextBox 66"/>
              <p:cNvSpPr txBox="1"/>
              <p:nvPr/>
            </p:nvSpPr>
            <p:spPr>
              <a:xfrm>
                <a:off x="7357192" y="3751313"/>
                <a:ext cx="1050288" cy="369332"/>
              </a:xfrm>
              <a:prstGeom prst="rect">
                <a:avLst/>
              </a:prstGeom>
              <a:noFill/>
            </p:spPr>
            <p:txBody>
              <a:bodyPr wrap="none" rtlCol="0">
                <a:spAutoFit/>
              </a:bodyPr>
              <a:lstStyle/>
              <a:p>
                <a:r>
                  <a:rPr lang="en-US" sz="1800" dirty="0" smtClean="0"/>
                  <a:t>+ level 7</a:t>
                </a:r>
                <a:endParaRPr lang="en-US" sz="1800" dirty="0"/>
              </a:p>
            </p:txBody>
          </p:sp>
          <p:sp>
            <p:nvSpPr>
              <p:cNvPr id="69" name="Rounded Rectangle 68"/>
              <p:cNvSpPr/>
              <p:nvPr/>
            </p:nvSpPr>
            <p:spPr bwMode="auto">
              <a:xfrm>
                <a:off x="7385203" y="4599695"/>
                <a:ext cx="1193038" cy="454297"/>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rPr>
                  <a:t>General</a:t>
                </a:r>
                <a:br>
                  <a:rPr kumimoji="0" lang="en-US" sz="1400" b="0" i="0" u="none" strike="noStrike" cap="none" normalizeH="0" baseline="0" dirty="0" smtClean="0">
                    <a:ln>
                      <a:noFill/>
                    </a:ln>
                    <a:solidFill>
                      <a:schemeClr val="tx1"/>
                    </a:solidFill>
                    <a:effectLst/>
                    <a:latin typeface="Arial" charset="0"/>
                  </a:rPr>
                </a:br>
                <a:r>
                  <a:rPr kumimoji="0" lang="en-US" sz="1400" b="0" i="0" u="none" strike="noStrike" cap="none" normalizeH="0" baseline="0" dirty="0" smtClean="0">
                    <a:ln>
                      <a:noFill/>
                    </a:ln>
                    <a:solidFill>
                      <a:schemeClr val="tx1"/>
                    </a:solidFill>
                    <a:effectLst/>
                    <a:latin typeface="Arial" charset="0"/>
                  </a:rPr>
                  <a:t>retailer</a:t>
                </a:r>
              </a:p>
            </p:txBody>
          </p:sp>
          <p:pic>
            <p:nvPicPr>
              <p:cNvPr id="72" name="Picture 2"/>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7472788" y="4111682"/>
                <a:ext cx="1008977" cy="458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10" name="AutoShape 2" descr="data:image/jpeg;base64,/9j/4AAQSkZJRgABAQAAAQABAAD/2wCEAAkGBxMHBhUUExQWFhIXGB4ZGBgYFx4cFhwiHxsbHiEgGyAdHiogGh8xHB4bJDIlJSkrLi4uGCAzODMtNygtLjcBCgoKDg0OGxAQGzImHyYsLCwvNDc3Mi8vLDItNCw3LC43Nzc1LC8tLzcsLC8sLDIsLCwsLCwsNzQvLywsLCwsLf/AABEIAHsBmgMBEQACEQEDEQH/xAAcAAEAAgIDAQAAAAAAAAAAAAAABgcEBQEDCAL/xABDEAABAwIEAwUEBgkDAwUAAAABAAIDBBEFBhIhBzFBEyJRYXEUMoGRCEJSk6GxFRYjM3KCksHRF1NiQ6LhVGOy0vD/xAAbAQEAAwEBAQEAAAAAAAAAAAAAAgMEBQEGB//EADYRAQACAQIEAwcDAwIHAAAAAAABAgMEERIhMVEFQZETFGFxgbHwFSIyocHhktEGJDNSYnLx/9oADAMBAAIRAxEAPwC8UBAQEBAQEBAQEGvx7GYcAwt89Q/REwbnqfAAdSTyCCgc08b6zEJS2kApouhsHykeZILW+gG3igizq7GsVGvXiEgPItMxb8LbD4IPgZgxfAJA509bF4CR0mk/yv7p+SCe5N45ywStjxBgkZy7aNoDx5uaO64fw2PkUF7UNZHiFG2WJ4fG8amuabgg+CDvQEBAQEBAQEBAQEEdzfnWjyhTg1MlnO9yNo1SO9B0HS5sPNBVWJ8f3mQ+z0bQ3oZZCSfUNAt8ygycv8fBJVBtZTBjD/1InE6fVjtyPQ38iguehrI8Qo2yxPD43jU1zTcEHwQd6AgICAgICAgICAgICAgICAgICAgICAgICAgICAgICCjPpK1zw6jgv3DrkI8SLNHyBd/Ug3XA/JtG3LMdY5rJqiQu7zgHCOxI0tB9023J57+CC2RsEHXUU7KmIte1r2nm1wBB9QdkHnzjbw8iy8xtXSt0QvfpkjHutcbkFvg02It0Nrc0G4+jfjz5G1FG512tAmjH2bnS8DyuWG3iT4oLvQEBAQEBAQEBAQdFdVNoqJ8jvdY1z3ejQSfwCDyhBHVcTs9WLv2kziSTctiYN9vIN5DqfMoL4wng/hVBS6XwmZ1rF8j3XPoGkBvwCCn+MOQGZNr45IC4001wA43LHDm2/Mgg3F99igmX0b8cfLBUUjjdrLSxjwuSHj0vpPqT4oLsQEHDnBo3NkexEz0co8EBAQEBAQEBAQEBAQEBAQEBAQEBAQEBAQEBAQV5xiyG/OOFxvgt7TDfS0mwe11rtvyBuAQTtzG17oK24W5axjBs4xgRTQQB/wC313ELm9eul5tsLXIJCC3M9cRKXJU0bJmyPkkGoNjAJDb2udTgOdwPQoJDgWLxY9hMdRCbxSC7bix8CCOhBBHwQVr9IjGo6bK7KW4M0sgdp6hrbm5/msPn4II39GzC3OxepqbHQ2MRA9CXODjb0DB/UEF+oPmSQRMu4gDxJsEGHT4xT1M+hk8Ln/ZbI0u+QN0GcgX3QEBBEuI2eYsk4SHuGud9xFHe17c3O8Gja/qAgow8Z8W9u19rHp/2+yb2f/3/AO5BffD3NrM5ZdbOG6HglkjOYa4WO3iCCCPXyQbjG6H9J4LNCDYyxPjv4amlt/xQVZwf4c1eVMySzVIYG9kY2Fr9VyXNN/IWb1QXAgqD6SbwMuUw6mckegY6/wCYQQjgdicWX66srJyRDFThrrC5JfIzSAOpJbYILh4f8R4M71ErI4pI3xgOs+x1NJtcEcje1x5jmgmqCruLDJnYnHcOMGju2B06rm9+l7WWzTbbT3fW/wDD04oxW2/nvz77eX0S/IDJo8rxibVqudId7wbfu3vv6eVlRmmOOdnF8YtinV2nF05b7dN/P87pEqnMEBAQEBAQEBAQEBAQEBAQEBAQEBAQEBAQEBAQYmLVv6NwqWbSXdlG+TSOZ0tLrDzNkHkLN2aKjN2LdvUadYaGAMbZrWgkgDcnmSdyeaDZ4BxIxHL2EingmDYm30gxscW3JJsS3xJ53QYOFtdnHNLBWVegyus6aW59AOg8ADZo8kHqrAMGp8oZebFHZkMTS5z3EXO13PefHqenhYBB57zvxXrcUxqX2WofFS3tGGAMcQPrE21XPPntdBB6ivqcWlDXyzTOJsA57nknpYEkkoFfh9RglYGyxyQyiz2hzSx3k4X359R4IPSGUs+34U+3VJ1SQtcx3i97TZvxddt/MlBTuRczVWIcUKaaWZ7nyzBru8dNn7aQL2Dd9hyFggtrjHxFdlOBsFMR7XINRcQCI28gbHYuJva9xsfJB18D87VWa4KiOqIe6HQWyaQ1xD9Wzg0Abadjbrugpzipjzsw54ndclkbzFGOlmEt29Tc/FBIOKmXqTKWWaKlY1prt5Jn/XIIsbn7Ou4aPBnqUE9+jpSugydNI4WbJOS3zDWNBPzuP5UFrA6htyQcoCDzXx+zC3Fs2tgYQWUrS0n/AJuIL/kA0erSg1xwkYVwdMz7iSrqmaB/xiEm/pcv/wC1BH8o5tqso1jpKZzQXjS4OaHAgG/Xcb+BCD0Dwi4hvzrBKydjWzxWN2XDHNdcXsSdJBG++90GZn3iXS5MrGRSMfLK4ai1lu62+xNzzO9h5dNkEtwnEGYthkc8ZJjlYHtuLGzhcXHQoK14x8SX5Yc2mpHNFUe9I4tDuzaRtYHbUee4NgOW4QV1l3jPiOHVwNQ8VMJPeY5rWut10OaBY+twg9HYRiUeMYZHPEdUcjQ5p8j4+B6EeIQZiAgICAgICAgICAgICAgICAgICAgICAgICDgi4QeU+MlLDQ8QJ44I2RsaGXawWbcsDjsNhzQXbkXJOH1eSKV0lJA98kDHPcWAuJc0G9+d90Hn/iHgkeXc5VFPESY2OGm5uQHNDrE9bXt8EFgcSM1yUnDXDqLWe2np45JjfvdmGjSD17x5/wAB8UGl4JZQps14tP7U0vZFGCGhxaLuJFyWkHYA9eqCJmP9DZ50xE2hq7MPXuS2B/AILK+kqR+laPx7N9/6m2/ugrU47LV5Yhw9jTpE7pCBcukc4Na0WHhvt1LkHTlrEP1fzRDNIxx7CUOcwbO7p3G/IoOMz4zLmTGZaqUG8jvMtaOjQfJv5ILf+joxtJglfO42ALAT4BjXuP8A8kFHPmL6gv8ArF2r43ugl2XMoYjxAxbtD2ha83kqZb6bctiffNtg1vlyG6Cb8ZMajy1gUGD0btLWtBmsd9PMNd5uJL3fDoUGPlTiAcgZAijcDNUzOdLFG51mxRmzQXHnYua5waOhvtdBj0nHquZUXkgp3s+y0Pa74OLj+SCU4pxzppMsPdAx7K091kbxdoJ+vqGzgOdjYk22tugp3J2Xpc5ZmZCC4l7tcshNy1t+84k8zv15khBZHHfBaj2uigpqeR1LFFojEbC4aibFvdHPS1nrv5oNNxKy3DlHI1BTmNntr3OklkAGv3Rdt+rQXNA/gv4oN3wLniy7lavxCY2jaWsHidILtI83F7APNBU2YsZkzBjctTKe/I7UfADkGjyAsB6IPT+WcWjy/wAKaaolNmR0rHHzOkWA8ySAPMoPN0DpM552Z2rjrqqhocR9UPeBt5BvLyCCaca8i0mUo6Z9KC0Samua5xdctDSHbm45m/TlyQWN9H6qNRw+DTyjmkY30Ol/5vKCykBAQEBAQEBAQEBAQEBAQEBAQEBAQEBAQEBB5I4rT+0cRKw/+7p/paG/2QenclRdhk6jb4U0Q+UbUHlniLVGsz3WuP8A6iRvwY4sH4NCDpqDV5yxCWXQZHRxan6RZrI42gbDoAANhzJQduTM51OTamR9P2ZMjNDg9pcOdwRYjcfLfkUGw4XYG/M+e4b3LWP7eV3k06t/V1h/Mglf0kpL5npm+FPf5yO/wgxuAGWP0pmQ1T23ipvdvyMh5fIXPrpQV3jkZOYJ2gEu7Z4sNyTrOwQWlxGyqMq8I6OKw7X2gPmP/N0T7i/UDZo/hQVrSZmqKLLklHG7TBK/XJb33bAaSfs7DZBgOjkw6qaXNcx40vAc0g72c02PQixQX1iHHalGX9UMUntZbbs3D9mx1uZdfvNvytufJBVGUcv1HELNtnOc7U7XUTH6oJ3Phc8mj+wKDay0lE3ivPFiRMdIyRzGgXA0sAbECW94N0Bu48uSDWcQmYTHXgYYZiB75cSYv5NQ1k+Z28EERQWDwp4hMyTLI2SAPjlILpGfvm26b7Ob1ttuTuUF60vEvCqmnDxWRAHo4lrh6gi4QVD9Iao9sx6lkY4PgfT3je03a673EkEc9tP4IKyGJTDDPZ+0d2GvtOzv3dVrareNtkDEsMlwqcMmY6N5aH6XCzrOFwSOm3QoJFmPPc2OZWpaLQI4adrQbOv2haNLSdhaw6b7m/gg0uGVcuW8chm0WlicyVrXggEbOFxzsW2+BQbjiBnebPOIxvexsbY26WMaSeZuTc8ydvkEHovhZgDst5IgikFpSDJIPAvN7HzDbD4INzgONNxuKR7GkMbIWNceT7fWHkp3pw8pa9XpLaaa1tPOYiZjtv5GGY03EsTniY02gIaX/VLje4HpZLU4Yie5n0lsOKmS0/y3nbtH+W0UGQQEBAQEBAQEBAQEBAQEBAQEBAQEBAQEFQ5r4K/p3Nj6htSGQyv1yM0XeCfe0m9t/PlfqgtmlgbS0zWN2axoaB5AWH4IKzzVwVpsext9Qyd8JkcXvaGhzSTuS3cFtzv13KCX5NyZS5Pw0xQNJL/3j32L3+u1rbmwG258Sgh2McDaGvxB0kcksDXG5jbpLB/BcXaPK58ttkE0yfk+lyfQGOmabu997jeR9uWo2HyAAQQbi/w2qs341DPTOj2j7N7ZHFtrOc4OFgbjvG/oOd0E4yJldmUMuMp2nU4XdI+1tTjzPpyA8gEGsZwxw9mavbuzd2uvtNGr9lrvfVpte99+dr9EG7zZlyHNWCPpp9Wh1iC02c0jkRcWv/koIjlfg3QYFViV+uoeDdva20Dz0gbn1JHkg2PELhxT51iDiTFUMFmytANx9l4+s3w3BHjzCCvMN4ASe2ft6tnZA/8ATYdZH82zT/UguLLWXKbLGHCGmjDGcyebnHxcebigiHEfhVDnCq7eOTsKmwDnadTHgctQ2INttQ6dDsgg9BwAndUftquJrL/9NjnOI/msAfmgs/LnDbDsAoyxsDZS4Fr3zAPe4HmNxYDyaAggWduBzZ3mXDnhhO5gkJ0fyO5j0dfnzCCAQcJMXlqgw0unfdzpI9A8yQ43+Fygvan4c0s+SoKGqHa9iNpB3XBxJLiw9Bc2segF0HVljhRh2Xa0StY+WQG7XTODtPm0ABt/MglBGeNvDyozFVx1VIztJGs0SR3AcQCS1zb2B5kEXvytdBGOHPB+pqcXbLiEXZ07Dq7NxBfIRyBAvZvjfc8gN7gLPz9w0pc5ua9xdDO0aRIwA3HQOafeA6WIKDVZN4NUmXsQbNLI6plYbs1NDYweh03NyOlzbyQS3PGKHC8vPLf3kn7KPxu7b8Bc/BW4q8Vubo+FaaM+pji/jH7p+UI1g+KyZWp6ine6N7KeEPaWi1nuPuE9SXHmrbVjJMWjzl1dTpqa62PNWJib2mOfnEefpBhcs+GRU9JC5rKmdpqZpZBe2q/IdXbW+CWiLb2npHKDUVw55yanJEzSkxSsR8P7c3bS5uqKuiiiaY/aZZnxCUj9npZa7wOp35cl5OKsTM+WyGTwvBS98k78Faxbbz3nybfJWJ1GKSTmV7Xxxv7Njms06i0m7ufUaVDLWtdtmPxTT4MEY4xxMWmOKYmd9t+kfdKFS5AgICAgICAgICAgICAgICAgICAgICAgICAgICAgICAgICAgICAgICAgICAgICAgwMWwaDGGtE7A8NJIBJHMW6FSrea9GnT6vNp5mcVtt2HHlOkjwx0AiAjcQXDU65I5Xde+3qpe1vvvuut4nqrZYyzb90dOn26OuXJtFLRsjMI0Mvp7zri5ud73O/ivfbX333Sr4tq63m8X5z16eSvsZqv0hhNminZGyUxQU4aTPcm1zvsTz9VppG0+fTnL6XTY/ZZt7TaZmvFa2/7Vg5NwebBMN7KV7HNG7Q1tiL3LtRv3tz+CzZbxad4fNeJ6rFqcvtKRMT57z17fJv1U5wgICAgICAgICAgICAgICAgICAgICAgICAgICAgICAgICAgICAgICAgICAgICAgICAgwW4PTsr+2EMfanfXpGr1v4+alx22235NE6rNOP2U3nh7b8mcos4gICAgICAgICAgICAg1GZMxRZdpGvkEjtTgxrY2Fzi4gkDwGwPPwQYNBnWnnjjMzZKZ0shjjZUM0OcQGm/k3vAXNt9kElQEBAQEBAQEBAQEBAQEBAQEBAQEBAQEBAQEBAQEBAQEBAQEBAQEBAQEBAQEBAQEBAQEEQyThsjcXrqme3ayzljQHtcBGwDR7pIabOtY77DxQZ+faCCvynOJwezYwvu0AvaWi92XIF+nMXvbqgzst1IrMv08jTIWuiYQZLdoQWjd+nu6jzNtt0GyQEBAQEBAQEBAQEBAQEBAQEBAQEBAQEBAQEBAQEBAQEBAQEBAQEBAQEBAQEBAQEBAQQnCIhlLNdQyWSJkFbLrp2l3fMhHfFrWAuQLk89A5uQc5oxKPMWJnC2B79YJqJInAdiBYi5IIJ1AAt8wgmNNA2lp2sYLMa0NaPAAWA+SDsQEEAzbxIbheIGnpYvaJxs7noaRzADRd5HUCwHje9g0dLxTq6SQGqo7RXsS1r2Eemu7SfK49UFn4RicWM4cyaF2qN4uD+BBHQg3BHiEGYgICAgII5nDN0WWIBqBfM/3IwbE+bj9Vv59BzVuLFOT5J0pNkX/AFxxcSajh50c9PZyaret+fw+Cu9ji/7lnBTuleUc1w5npSWAskb78ZO4vyIP1m+f5KnLimk81d6TVIFUgICAgx66sZQUxe82aLX2vzNuinSk3tw1VZs1MNJvfpDmpq2UtKZHGzAL3/x4rytJtbhjq9yZaY6Te08kdOYairdeCnJZ4kE3+Vh+a2e7Y6/ztzcn9Q1GSd8OPl+fnmysMzF21UIp2GKQ7C97H57jy5qGTTbV4qTvC/T+I8V/Z5a8Nm4rKtlFTl7zZotc2vzIHTzKzUpN52hvy5aYq8d+jv5qKwQEBAQdFbVsoaV0jzZreZ/x4lQyZK46za3RZixWy3ilI5yibs11NY69PTEx9CWudf4tsAfLdcz3/Nfnjpy+s/4dmPDNPjjbNk5/OI+7OwbNXtNWIp4zFKdhcEAnwsd2nw8Vdg13FbgyRwyz6nw3gp7TFbir+eqSroOUICAgIOCdIueSEztzlFK/N/7fTAwO3sHOvv6AbqcV7vntR45+/hwV3+M+fygoc3kVGmdgbvYlt+76g7pw9nmDxyePhz128t48vnCVtcHNuNweRUH0MTExvDlHogICAgICCnsazFVS4zIRNIzQ9zWta4hrdJIsQNnHbe997+i1VrG3R9rpdBp64KxwRO8RMzPOZ3+30TOTOXsGEUz5KeolfMzUewi1AWtud9r3uPis9o2mYfJ6zFXFnvSvSJfVVnGUUsTocPqpDK0u0lugts4ts/npJtceRCizNdmLAq7OlPCyVsNNTlrXyNI7Sdkl3AtafdtptuLe8QfBB2PwGvy5IDh5glYWtErZwe2lcL3e6QWubWABIAty5oMrEM6PwecNqKKp9xpdJCztItRaC4A7bAki/WyDsxTPtPhla6J0VS57bX0Qlw3aHc777H5oPqvze1lbPTshnEsbJCHmP9iS2Mv2dffw9UFfcNsunFMKkk7Sdkk7jF20VgYwzRI7U4m4L3WGwPunxQSuTIhpKd7X1VZUsmb2LmOcHtbrc20lnOAGggOuN7A87oNLwixE4WyqhfqcwVEbG6Reznl7C4+De42/ggl9HnqCsxRsAhqQ5z9Ac6Ehl72uTfl5oOMMz5BiOINibDUtc4kAvhIaLAnc325IPil4hUtUx5EdSNDNZvCRtrYzbxN3jbwB8FKtZtO0PYjednz/AKjUv+3U/cn/ACrfd7fD1T9lJ/qNS/7dT9yf8p7vb4ep7KVc5uqnVPEVxd9WaNo8mgst/c/ErVjjbF9JX0j9iZxZCpo8fFb7Q6/tRdbQPf7U92/P3+7dUTqLcPBt5Kpy224fgheQaw0ee2EHZxla4Dq3Q91vm0H+VaM0b4vRbeN6LGHEalI/d1P3BWT3e3w9VHspc/6jUv8At1P3J/ynu9vh6nspbGDNkM0IcGTWIvvGb/HdS91v3j1c7Jr8eO80mJ3jl0dn6zw/Zl/oT3W/ePVD9SxdrejFq5H5keI2MeyAG73uFibdGhWViuD90zvbyUZbX1sxSsTFPOZ8/k1eYBNS4TFFJvpc4AjkQ0DT+BPyV+Dgtktev53YtdGXHgpiyeUz9Yjp927wjDG1GFQntJLBh9x7mDck72N7jl8Fly5Zre3KOvzdHTaWt8NJ4p6eUzHX5NJnCnFNPEA8uIZbc3fsTYk9ef4LVpLcUTy83O8UxxjtSItvO23x5ee7a1sM+OU7Y7aI9DXOefrOLQQAPC53/wDFlnpbHhmbdZ32bs1M2rrFNtq7RMz3nbp6u6lx32aAMnjlbI0WNmEg26gjmo20/FO9JjZPHruCsVzVmLR8N9/i7f1ki+zL92VH3W/ePVZ+pYu1vSXxLmmGJty2X7srPqf+Xpx36b7cuf50bNDkjWZJx4+UxG/PlHlH93V+uEH2JvuysXv+PtPpLq/pebvX1P1wg+xN92U9/wAfafST9Lzd6+rR50xUYjh0JYHBhc64cLG7QLbfzFYtfnjJSvD03n+joeF6acWS8W232j+v/wAfbcJq6unj7GRgjEUYDS7cExtJuNJsSTf0svYwai1a+ztG20faPhLydTpcdre0rPFxW8vjO3m1uZqaWlpYO2eHSgvF2uvYAtIF7CxFys+rpkrWnHPPn/bZq0OTHe9/ZxtXl/fdLDmiOmY1sjZC/Q0u0suLuaDz+K6nvtKxEWid9o8nF/Tr3mZpMbbzHXtLj9cIPsTfdlPf8fafSXv6Xm719XLM3QOdbRN92VPFq6ZLcMRPoy63TW0mGc2TaYjbpznny6Oz9aIfsy/dla9nD/V8Ha3+mT9aIfsy/dlNj9Xwdrf6ZYmNY02twOXsw8EaQdTbbOcAbf8A7qvYjmza7X1zaTJ7OJjpE7xtymdmly7gz6qoZK7uRNcCCfrEHYN+PVSmXL8O0F8t65bcqxMTv32npD6zJgz6epfK3vxucSSObSTuHfHqkS98S0F8d7Zq86zMz8vn+fNJcoSmXAWX6FwHoCbf4+Cjbq7ng95tpK7+W8ekt0ouoIPmSQRMJcQANyTsAiNrRWN7TtDSPzF27yKeF81vrDus+ZUuHu5c+Kcc8Omxzf49I9XbTVNZJO3VDG1hI1d+7gOvVeclmLLrrWjjxxEefPeVdZkzDUyY7JaWSMRvc1rWuLQA02uQPeva+9+fgtFaxs/RdFodPGnrvWJ3iJmZjfr9vo3NPniq9nbeDUbDvWPe257bb89lCccd2G/g+m4p/ft8O3wSyuyxSV9Z2skIL+puQD/EAbO+IVcXtEbQ4+LxHU4qezpfl9OXy84+jbtaGNAAsBsAOSixzMzO8uUeCAgICDhzQ9pB3B5oKax7DK/JFNURUwkdRzOa5kkZcXw2dcizfcJFml3IgDe+wDS5YzDiklc4Qmepc9jo9LnPc1pdazr3swi2xJHMoLayBlk5ZwXTI4OnkdrlcNxc9ATuQB16kk7XsgkyAgICAgrXiRkt9biAqoWOkBsJo2G0hA21M2Nzp25E7AgHda8GaIjhn6L8eTaNpa7/AFAmfP2XskxBGnsu1N7Wtb9zrvbre91L3eOvF+er32Ud214a5NfhtW6qmaWOsRDG4gvaD9Z9vrW2t5m/OwhnzRaOGEcuTeNoWMsqkQEBAQazMGF/pWg0jZ4N2k8r+B8ir8GX2dt/Jj12l94x8MdY5wjJxB2GRiN0MzLdO2cGnzBt4+Bstvs4yTxRaJ+jke8WwRwTS0bf+U7fb7cnbFQOzBVNcY3sYPee95JcPBoIAHw23UZyRgrMRMTPaEq4Lay8WmsxHnMz1jtHT+nJM2jSLDkua+hiNnKAgICAg1GZsH/TOHaRYSNOphPK/gfIj+yy6vT+2x7R1jo26HV+75eKek8pRObH6vCoWRdmI3MaGuLm31W2BB5e6ANieS5k6vPiiKcO23Lp1/Pq7NdDps9pycW8TO/Xpv8A5+TIjpZ81zxGSPs4mDvutbWTa+na+4AHlY79FOKZNXNeONqx1+Pf88lVsmHQ1tFLb2npHbtv8v6p0BpFhyXafPb7uUBAQEGPX0ra6jdG7k4W9PP5pCnPhrmx2x26Sgc9PNhFY0ysdI1n7s3d2dxyO3L+HZWcpfI5MWfS5InLWbRX+PXh5dJ/xyfLY5cUq3OjaYmv/eHURFcncknxv7u6coRimbU5Jtjrwxb+XOeHn1n69uae4fRtoKJsbeTRa/j4n53KrmX2GnwVwYq469IZKLhBG9JzJiLrk+yxG1ht2jh/b/x47S6OHtPiGaYn/pVnb/2n/b8+UhijEMYa0ANHIAWAUXapStIitY2h9ok1GI5apcSq+0kiBf1ILhf+INIDvipRe0RtDZh8Q1GGnBS20fSfTt9G1jjEUYa0ANAsABYADoFFkm02neer6R4ICAgICAgICAgICAgICAgICAgICAgICAgICAgICAgICAgICAgICAgICAgxsQomYhSljxdp+YPiPNInZRqNPTPjnHeOUtLHWT4ENMzXSwj3ZWi7gP8AmP7/AJqW0T0cuufUaH9ueJtTytHWPn/v922o8WgrW9yRp8r2PyO68mJh0cOt0+aP2Xifu+MeqvZMHleOYbt6nYfmkRzR1+b2WmveO33c4HSCiwmNn/EE+p3P4pM7y90GCMOnpSO39Z6s9eNYgICAgICAgICAgICAgICAgICAgICAgICAgICAgICAgICAgICAgICAgICAgICAgICDW1uB09UCXRNv4jun5ttdexMsOfw7S5d5vSN/T7bIrW4dHFLpAIaeY1Ot+alEy4GfSYqzwxHL5z/unbRZqg+thygICAg//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31" name="Group 30"/>
          <p:cNvGrpSpPr/>
          <p:nvPr/>
        </p:nvGrpSpPr>
        <p:grpSpPr>
          <a:xfrm>
            <a:off x="4410669" y="5187277"/>
            <a:ext cx="1400190" cy="542598"/>
            <a:chOff x="4410669" y="5187277"/>
            <a:chExt cx="1400190" cy="542598"/>
          </a:xfrm>
        </p:grpSpPr>
        <p:sp>
          <p:nvSpPr>
            <p:cNvPr id="85" name="Rectangle 84"/>
            <p:cNvSpPr/>
            <p:nvPr/>
          </p:nvSpPr>
          <p:spPr bwMode="auto">
            <a:xfrm>
              <a:off x="4455550" y="5187277"/>
              <a:ext cx="1302761" cy="542598"/>
            </a:xfrm>
            <a:prstGeom prst="rect">
              <a:avLst/>
            </a:prstGeom>
            <a:solidFill>
              <a:srgbClr val="009BE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ndParaRPr>
            </a:p>
          </p:txBody>
        </p:sp>
        <p:sp>
          <p:nvSpPr>
            <p:cNvPr id="70" name="TextBox 69"/>
            <p:cNvSpPr txBox="1"/>
            <p:nvPr/>
          </p:nvSpPr>
          <p:spPr>
            <a:xfrm>
              <a:off x="4410669" y="5218054"/>
              <a:ext cx="1400190" cy="461665"/>
            </a:xfrm>
            <a:prstGeom prst="rect">
              <a:avLst/>
            </a:prstGeom>
            <a:noFill/>
          </p:spPr>
          <p:txBody>
            <a:bodyPr wrap="none" rtlCol="0">
              <a:spAutoFit/>
            </a:bodyPr>
            <a:lstStyle/>
            <a:p>
              <a:pPr algn="ctr"/>
              <a:r>
                <a:rPr lang="en-US" sz="1200" dirty="0" smtClean="0">
                  <a:solidFill>
                    <a:schemeClr val="bg1"/>
                  </a:solidFill>
                </a:rPr>
                <a:t>Core product:</a:t>
              </a:r>
              <a:br>
                <a:rPr lang="en-US" sz="1200" dirty="0" smtClean="0">
                  <a:solidFill>
                    <a:schemeClr val="bg1"/>
                  </a:solidFill>
                </a:rPr>
              </a:br>
              <a:r>
                <a:rPr lang="en-US" sz="1200" dirty="0" smtClean="0">
                  <a:solidFill>
                    <a:schemeClr val="bg1"/>
                  </a:solidFill>
                </a:rPr>
                <a:t>personalized offer</a:t>
              </a:r>
            </a:p>
          </p:txBody>
        </p:sp>
      </p:grpSp>
      <p:grpSp>
        <p:nvGrpSpPr>
          <p:cNvPr id="29" name="Group 28"/>
          <p:cNvGrpSpPr/>
          <p:nvPr/>
        </p:nvGrpSpPr>
        <p:grpSpPr>
          <a:xfrm>
            <a:off x="5788089" y="1121355"/>
            <a:ext cx="4230554" cy="2565849"/>
            <a:chOff x="5788089" y="1121355"/>
            <a:chExt cx="4230554" cy="2565849"/>
          </a:xfrm>
        </p:grpSpPr>
        <p:sp>
          <p:nvSpPr>
            <p:cNvPr id="86" name="Rectangle 85"/>
            <p:cNvSpPr/>
            <p:nvPr/>
          </p:nvSpPr>
          <p:spPr bwMode="auto">
            <a:xfrm>
              <a:off x="5970423" y="1121355"/>
              <a:ext cx="3643944" cy="2565849"/>
            </a:xfrm>
            <a:prstGeom prst="rect">
              <a:avLst/>
            </a:prstGeom>
            <a:solidFill>
              <a:srgbClr val="009BE1">
                <a:alpha val="34000"/>
              </a:srgbClr>
            </a:solidFill>
            <a:ln w="9525" cap="flat" cmpd="sng" algn="ctr">
              <a:solidFill>
                <a:srgbClr val="B2E1F6"/>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dirty="0" smtClean="0">
                <a:ln>
                  <a:noFill/>
                </a:ln>
                <a:solidFill>
                  <a:schemeClr val="tx1"/>
                </a:solidFill>
                <a:effectLst/>
                <a:latin typeface="Arial" charset="0"/>
              </a:endParaRPr>
            </a:p>
          </p:txBody>
        </p:sp>
        <p:grpSp>
          <p:nvGrpSpPr>
            <p:cNvPr id="14" name="Group 13"/>
            <p:cNvGrpSpPr/>
            <p:nvPr/>
          </p:nvGrpSpPr>
          <p:grpSpPr>
            <a:xfrm>
              <a:off x="6354359" y="1392254"/>
              <a:ext cx="3086234" cy="2186265"/>
              <a:chOff x="6467051" y="1332764"/>
              <a:chExt cx="3086234" cy="2186265"/>
            </a:xfrm>
          </p:grpSpPr>
          <p:grpSp>
            <p:nvGrpSpPr>
              <p:cNvPr id="360449" name="Group 360448"/>
              <p:cNvGrpSpPr/>
              <p:nvPr/>
            </p:nvGrpSpPr>
            <p:grpSpPr>
              <a:xfrm>
                <a:off x="6518468" y="2995809"/>
                <a:ext cx="1240829" cy="523220"/>
                <a:chOff x="5743807" y="5823487"/>
                <a:chExt cx="1718089" cy="523220"/>
              </a:xfrm>
            </p:grpSpPr>
            <p:sp>
              <p:nvSpPr>
                <p:cNvPr id="57" name="Rectangle 56"/>
                <p:cNvSpPr/>
                <p:nvPr/>
              </p:nvSpPr>
              <p:spPr bwMode="auto">
                <a:xfrm>
                  <a:off x="5743807" y="5823487"/>
                  <a:ext cx="1718089" cy="523220"/>
                </a:xfrm>
                <a:prstGeom prst="rect">
                  <a:avLst/>
                </a:prstGeom>
                <a:solidFill>
                  <a:srgbClr val="B2E1F6"/>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ndParaRPr>
                </a:p>
              </p:txBody>
            </p:sp>
            <p:sp>
              <p:nvSpPr>
                <p:cNvPr id="52" name="TextBox 51"/>
                <p:cNvSpPr txBox="1"/>
                <p:nvPr/>
              </p:nvSpPr>
              <p:spPr>
                <a:xfrm>
                  <a:off x="5764332" y="5882977"/>
                  <a:ext cx="1602972" cy="461665"/>
                </a:xfrm>
                <a:prstGeom prst="rect">
                  <a:avLst/>
                </a:prstGeom>
                <a:noFill/>
              </p:spPr>
              <p:txBody>
                <a:bodyPr wrap="none" rtlCol="0">
                  <a:spAutoFit/>
                </a:bodyPr>
                <a:lstStyle/>
                <a:p>
                  <a:pPr algn="ctr"/>
                  <a:r>
                    <a:rPr lang="en-US" sz="1200" dirty="0" smtClean="0"/>
                    <a:t>Core product: </a:t>
                  </a:r>
                </a:p>
                <a:p>
                  <a:pPr algn="ctr"/>
                  <a:r>
                    <a:rPr lang="en-US" sz="1200" dirty="0" smtClean="0"/>
                    <a:t>trip</a:t>
                  </a:r>
                  <a:endParaRPr lang="en-US" sz="1200" dirty="0"/>
                </a:p>
              </p:txBody>
            </p:sp>
          </p:grpSp>
          <p:grpSp>
            <p:nvGrpSpPr>
              <p:cNvPr id="50" name="Group 49"/>
              <p:cNvGrpSpPr/>
              <p:nvPr/>
            </p:nvGrpSpPr>
            <p:grpSpPr>
              <a:xfrm>
                <a:off x="8192852" y="2995809"/>
                <a:ext cx="1360433" cy="523220"/>
                <a:chOff x="5694251" y="5823487"/>
                <a:chExt cx="1718089" cy="523220"/>
              </a:xfrm>
            </p:grpSpPr>
            <p:sp>
              <p:nvSpPr>
                <p:cNvPr id="56" name="Rectangle 55"/>
                <p:cNvSpPr/>
                <p:nvPr/>
              </p:nvSpPr>
              <p:spPr bwMode="auto">
                <a:xfrm>
                  <a:off x="5694251" y="5823487"/>
                  <a:ext cx="1718089" cy="523220"/>
                </a:xfrm>
                <a:prstGeom prst="rect">
                  <a:avLst/>
                </a:prstGeom>
                <a:solidFill>
                  <a:srgbClr val="B2E1F6"/>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smtClean="0">
                    <a:ln>
                      <a:noFill/>
                    </a:ln>
                    <a:solidFill>
                      <a:schemeClr val="tx1"/>
                    </a:solidFill>
                    <a:effectLst/>
                    <a:latin typeface="Arial" charset="0"/>
                  </a:endParaRPr>
                </a:p>
              </p:txBody>
            </p:sp>
            <p:sp>
              <p:nvSpPr>
                <p:cNvPr id="59" name="TextBox 58"/>
                <p:cNvSpPr txBox="1"/>
                <p:nvPr/>
              </p:nvSpPr>
              <p:spPr>
                <a:xfrm>
                  <a:off x="5834799" y="5882977"/>
                  <a:ext cx="1462044" cy="461665"/>
                </a:xfrm>
                <a:prstGeom prst="rect">
                  <a:avLst/>
                </a:prstGeom>
                <a:noFill/>
              </p:spPr>
              <p:txBody>
                <a:bodyPr wrap="none" rtlCol="0">
                  <a:spAutoFit/>
                </a:bodyPr>
                <a:lstStyle/>
                <a:p>
                  <a:pPr algn="ctr"/>
                  <a:r>
                    <a:rPr lang="en-US" sz="1200" dirty="0" smtClean="0"/>
                    <a:t>Core product: </a:t>
                  </a:r>
                </a:p>
                <a:p>
                  <a:pPr algn="ctr"/>
                  <a:r>
                    <a:rPr lang="en-US" sz="1200" dirty="0"/>
                    <a:t>t</a:t>
                  </a:r>
                  <a:r>
                    <a:rPr lang="en-US" sz="1200" dirty="0" smtClean="0"/>
                    <a:t>rip</a:t>
                  </a:r>
                  <a:endParaRPr lang="en-US" sz="1200" dirty="0"/>
                </a:p>
              </p:txBody>
            </p:sp>
          </p:grpSp>
          <p:sp>
            <p:nvSpPr>
              <p:cNvPr id="7" name="Rounded Rectangle 6"/>
              <p:cNvSpPr/>
              <p:nvPr/>
            </p:nvSpPr>
            <p:spPr bwMode="auto">
              <a:xfrm>
                <a:off x="6504965" y="2436001"/>
                <a:ext cx="1214783" cy="487680"/>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rPr>
                  <a:t>Smart travel</a:t>
                </a:r>
                <a:br>
                  <a:rPr kumimoji="0" lang="en-US" sz="1400" b="0" i="0" u="none" strike="noStrike" cap="none" normalizeH="0" baseline="0" dirty="0" smtClean="0">
                    <a:ln>
                      <a:noFill/>
                    </a:ln>
                    <a:solidFill>
                      <a:schemeClr val="tx1"/>
                    </a:solidFill>
                    <a:effectLst/>
                    <a:latin typeface="Arial" charset="0"/>
                  </a:rPr>
                </a:br>
                <a:r>
                  <a:rPr kumimoji="0" lang="en-US" sz="1400" b="0" i="0" u="none" strike="noStrike" cap="none" normalizeH="0" dirty="0" smtClean="0">
                    <a:ln>
                      <a:noFill/>
                    </a:ln>
                    <a:solidFill>
                      <a:schemeClr val="tx1"/>
                    </a:solidFill>
                    <a:effectLst/>
                    <a:latin typeface="Arial" charset="0"/>
                  </a:rPr>
                  <a:t>Assistant</a:t>
                </a:r>
                <a:endParaRPr kumimoji="0" lang="en-US" sz="1400" b="0" i="0" u="none" strike="noStrike" cap="none" normalizeH="0" baseline="0" dirty="0" smtClean="0">
                  <a:ln>
                    <a:noFill/>
                  </a:ln>
                  <a:solidFill>
                    <a:schemeClr val="tx1"/>
                  </a:solidFill>
                  <a:effectLst/>
                  <a:latin typeface="Arial" charset="0"/>
                </a:endParaRPr>
              </a:p>
            </p:txBody>
          </p:sp>
          <p:sp>
            <p:nvSpPr>
              <p:cNvPr id="8" name="Rounded Rectangle 7"/>
              <p:cNvSpPr/>
              <p:nvPr/>
            </p:nvSpPr>
            <p:spPr bwMode="auto">
              <a:xfrm>
                <a:off x="8228997" y="2469384"/>
                <a:ext cx="1307978" cy="454297"/>
              </a:xfrm>
              <a:prstGeom prst="roundRect">
                <a:avLst/>
              </a:prstGeom>
              <a:solidFill>
                <a:srgbClr val="4AABFC"/>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rPr>
                  <a:t>Trip initiator</a:t>
                </a:r>
              </a:p>
            </p:txBody>
          </p:sp>
          <p:sp>
            <p:nvSpPr>
              <p:cNvPr id="21" name="TextBox 20"/>
              <p:cNvSpPr txBox="1"/>
              <p:nvPr/>
            </p:nvSpPr>
            <p:spPr>
              <a:xfrm>
                <a:off x="6582390" y="1332764"/>
                <a:ext cx="1050288" cy="369332"/>
              </a:xfrm>
              <a:prstGeom prst="rect">
                <a:avLst/>
              </a:prstGeom>
              <a:noFill/>
            </p:spPr>
            <p:txBody>
              <a:bodyPr wrap="none" rtlCol="0">
                <a:spAutoFit/>
              </a:bodyPr>
              <a:lstStyle/>
              <a:p>
                <a:r>
                  <a:rPr lang="en-US" sz="1800" dirty="0" smtClean="0"/>
                  <a:t>+ level 5</a:t>
                </a:r>
                <a:endParaRPr lang="en-US" sz="1800" dirty="0"/>
              </a:p>
            </p:txBody>
          </p:sp>
          <p:sp>
            <p:nvSpPr>
              <p:cNvPr id="22" name="TextBox 21"/>
              <p:cNvSpPr txBox="1"/>
              <p:nvPr/>
            </p:nvSpPr>
            <p:spPr>
              <a:xfrm>
                <a:off x="8352180" y="1347706"/>
                <a:ext cx="1050288" cy="369332"/>
              </a:xfrm>
              <a:prstGeom prst="rect">
                <a:avLst/>
              </a:prstGeom>
              <a:noFill/>
            </p:spPr>
            <p:txBody>
              <a:bodyPr wrap="none" rtlCol="0">
                <a:spAutoFit/>
              </a:bodyPr>
              <a:lstStyle/>
              <a:p>
                <a:r>
                  <a:rPr lang="en-US" sz="1800" dirty="0" smtClean="0"/>
                  <a:t>+ level 6</a:t>
                </a:r>
                <a:endParaRPr lang="en-US" sz="1800" dirty="0"/>
              </a:p>
            </p:txBody>
          </p:sp>
          <p:pic>
            <p:nvPicPr>
              <p:cNvPr id="60" name="Picture 3"/>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8552258" y="1718630"/>
                <a:ext cx="661456" cy="667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0452" name="Picture 4"/>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6467051" y="1798670"/>
                <a:ext cx="1280207" cy="564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8" name="TextBox 17"/>
            <p:cNvSpPr txBox="1"/>
            <p:nvPr/>
          </p:nvSpPr>
          <p:spPr>
            <a:xfrm>
              <a:off x="5788089" y="1121355"/>
              <a:ext cx="4230554" cy="307777"/>
            </a:xfrm>
            <a:prstGeom prst="rect">
              <a:avLst/>
            </a:prstGeom>
            <a:noFill/>
          </p:spPr>
          <p:txBody>
            <a:bodyPr wrap="square" rtlCol="0">
              <a:spAutoFit/>
            </a:bodyPr>
            <a:lstStyle/>
            <a:p>
              <a:pPr algn="ctr"/>
              <a:r>
                <a:rPr lang="en-US" sz="1400" dirty="0" smtClean="0"/>
                <a:t>New business models</a:t>
              </a:r>
              <a:endParaRPr lang="en-US" sz="1400" dirty="0"/>
            </a:p>
          </p:txBody>
        </p:sp>
      </p:grpSp>
      <p:cxnSp>
        <p:nvCxnSpPr>
          <p:cNvPr id="360455" name="Straight Arrow Connector 360454"/>
          <p:cNvCxnSpPr/>
          <p:nvPr/>
        </p:nvCxnSpPr>
        <p:spPr bwMode="auto">
          <a:xfrm flipV="1">
            <a:off x="5879804" y="3097949"/>
            <a:ext cx="372139" cy="495343"/>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0458" name="Straight Arrow Connector 360457"/>
          <p:cNvCxnSpPr/>
          <p:nvPr/>
        </p:nvCxnSpPr>
        <p:spPr bwMode="auto">
          <a:xfrm>
            <a:off x="5879805" y="3915627"/>
            <a:ext cx="372139" cy="469573"/>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39142844"/>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RECOMMENDATIONS &amp; NEXT STEPS</a:t>
            </a:r>
            <a:endParaRPr lang="en-US" dirty="0"/>
          </a:p>
        </p:txBody>
      </p:sp>
      <p:sp>
        <p:nvSpPr>
          <p:cNvPr id="5" name="TextBox 4"/>
          <p:cNvSpPr txBox="1"/>
          <p:nvPr/>
        </p:nvSpPr>
        <p:spPr>
          <a:xfrm>
            <a:off x="1097280" y="1495312"/>
            <a:ext cx="8294145" cy="4093428"/>
          </a:xfrm>
          <a:prstGeom prst="rect">
            <a:avLst/>
          </a:prstGeom>
          <a:noFill/>
        </p:spPr>
        <p:txBody>
          <a:bodyPr wrap="square" rtlCol="0">
            <a:spAutoFit/>
          </a:bodyPr>
          <a:lstStyle/>
          <a:p>
            <a:pPr marL="342900" lvl="0" indent="-342900" algn="l">
              <a:buFont typeface="Arial" panose="020B0604020202020204" pitchFamily="34" charset="0"/>
              <a:buChar char="•"/>
            </a:pPr>
            <a:r>
              <a:rPr lang="en-US" sz="2000" dirty="0"/>
              <a:t>Air France - KLM is on the right track with retailing and should continue to develop level </a:t>
            </a:r>
            <a:r>
              <a:rPr lang="en-US" sz="2000" dirty="0" smtClean="0"/>
              <a:t>2 and 3</a:t>
            </a:r>
            <a:endParaRPr lang="en-US" sz="2000" dirty="0"/>
          </a:p>
          <a:p>
            <a:pPr marL="342900" lvl="0" indent="-342900" algn="l">
              <a:buFont typeface="Arial" panose="020B0604020202020204" pitchFamily="34" charset="0"/>
              <a:buChar char="•"/>
            </a:pPr>
            <a:r>
              <a:rPr lang="en-US" sz="2000" dirty="0"/>
              <a:t>Level 4 is still a challenge, but we should be able to manage that in combination with the development of Big Data capabilities in the company. Speed of implementation is crucial in this case</a:t>
            </a:r>
          </a:p>
          <a:p>
            <a:pPr marL="342900" lvl="0" indent="-342900" algn="l">
              <a:buFont typeface="Arial" panose="020B0604020202020204" pitchFamily="34" charset="0"/>
              <a:buChar char="•"/>
            </a:pPr>
            <a:r>
              <a:rPr lang="en-US" sz="2000" dirty="0"/>
              <a:t>With regards to level 5-7: we need to first decide if this is the direction we want to take retailing in AF-KL and then further detail the ambitions and roadmap</a:t>
            </a:r>
          </a:p>
          <a:p>
            <a:pPr marL="342900" lvl="0" indent="-342900" algn="l">
              <a:buFont typeface="Arial" panose="020B0604020202020204" pitchFamily="34" charset="0"/>
              <a:buChar char="•"/>
            </a:pPr>
            <a:r>
              <a:rPr lang="en-US" sz="2000" dirty="0"/>
              <a:t>If we </a:t>
            </a:r>
            <a:r>
              <a:rPr lang="en-US" sz="2000" dirty="0" smtClean="0"/>
              <a:t>choose </a:t>
            </a:r>
            <a:r>
              <a:rPr lang="en-US" sz="2000" dirty="0"/>
              <a:t>to develop level 5-7, we believe that we need to partner and to insource specific retailing expertise needed for those levels</a:t>
            </a:r>
          </a:p>
          <a:p>
            <a:pPr marL="342900" lvl="0" indent="-342900" algn="l">
              <a:buFont typeface="Arial" panose="020B0604020202020204" pitchFamily="34" charset="0"/>
              <a:buChar char="•"/>
            </a:pPr>
            <a:r>
              <a:rPr lang="en-US" sz="2000" dirty="0"/>
              <a:t>Especially level 7 seems to require a more unorthodox approach, like creating a general retailer startup under the umbrella of AF-KL</a:t>
            </a:r>
          </a:p>
          <a:p>
            <a:pPr marL="342900" lvl="0" indent="-342900" algn="l">
              <a:buFont typeface="Arial" panose="020B0604020202020204" pitchFamily="34" charset="0"/>
              <a:buChar char="•"/>
            </a:pPr>
            <a:r>
              <a:rPr lang="en-US" sz="2000" dirty="0"/>
              <a:t>Passenger Strategy and Commercial domains remain in the lead</a:t>
            </a:r>
          </a:p>
        </p:txBody>
      </p:sp>
    </p:spTree>
    <p:extLst>
      <p:ext uri="{BB962C8B-B14F-4D97-AF65-F5344CB8AC3E}">
        <p14:creationId xmlns:p14="http://schemas.microsoft.com/office/powerpoint/2010/main" val="425695186"/>
      </p:ext>
    </p:extLst>
  </p:cSld>
  <p:clrMapOvr>
    <a:masterClrMapping/>
  </p:clrMapOvr>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kFgZbCJPcke08dd7qfWVNQ"/>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qy7LA2WYukyrBC2H7whvy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OArGccSxAkGmB8g0CTFgA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kFgZbCJPcke08dd7qfWVNQ"/>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qy7LA2WYukyrBC2H7whvy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OArGccSxAkGmB8g0CTFgA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kFgZbCJPcke08dd7qfWVNQ"/>
</p:tagLst>
</file>

<file path=ppt/theme/theme1.xml><?xml version="1.0" encoding="utf-8"?>
<a:theme xmlns:a="http://schemas.openxmlformats.org/drawingml/2006/main" name="Nouvelle présentation">
  <a:themeElements>
    <a:clrScheme name="Nouvelle pré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Nouvelle pré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defRPr>
        </a:defPPr>
      </a:lstStyle>
    </a:lnDef>
  </a:objectDefaults>
  <a:extraClrSchemeLst>
    <a:extraClrScheme>
      <a:clrScheme name="Nouvelle pré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ouvelle pré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Nouvelle pré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ouvelle pré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ouvelle pré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ouvelle pré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Nouvelle pré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8_Air France KLM">
  <a:themeElements>
    <a:clrScheme name="Air France KLM 1">
      <a:dk1>
        <a:srgbClr val="000000"/>
      </a:dk1>
      <a:lt1>
        <a:srgbClr val="FFFFFF"/>
      </a:lt1>
      <a:dk2>
        <a:srgbClr val="002156"/>
      </a:dk2>
      <a:lt2>
        <a:srgbClr val="626262"/>
      </a:lt2>
      <a:accent1>
        <a:srgbClr val="ED1C24"/>
      </a:accent1>
      <a:accent2>
        <a:srgbClr val="BADFF7"/>
      </a:accent2>
      <a:accent3>
        <a:srgbClr val="FFFFFF"/>
      </a:accent3>
      <a:accent4>
        <a:srgbClr val="000000"/>
      </a:accent4>
      <a:accent5>
        <a:srgbClr val="F4ABAC"/>
      </a:accent5>
      <a:accent6>
        <a:srgbClr val="A8CAE0"/>
      </a:accent6>
      <a:hlink>
        <a:srgbClr val="00A1E4"/>
      </a:hlink>
      <a:folHlink>
        <a:srgbClr val="0056A4"/>
      </a:folHlink>
    </a:clrScheme>
    <a:fontScheme name="3_Air France KLM">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pitchFamily="34" charset="0"/>
            <a:cs typeface="Arial" pitchFamily="34" charset="0"/>
          </a:defRPr>
        </a:defPPr>
      </a:lstStyle>
    </a:spDef>
    <a:lnDef>
      <a:spPr bwMode="auto">
        <a:xfrm>
          <a:off x="0" y="0"/>
          <a:ext cx="1" cy="1"/>
        </a:xfrm>
        <a:custGeom>
          <a:avLst/>
          <a:gdLst/>
          <a:ahLst/>
          <a:cxnLst/>
          <a:rect l="0" t="0" r="0" b="0"/>
          <a:pathLst/>
        </a:custGeom>
        <a:solidFill>
          <a:schemeClr val="accent2"/>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pitchFamily="34" charset="0"/>
            <a:cs typeface="Arial" pitchFamily="34" charset="0"/>
          </a:defRPr>
        </a:defPPr>
      </a:lstStyle>
    </a:lnDef>
  </a:objectDefaults>
  <a:extraClrSchemeLst>
    <a:extraClrScheme>
      <a:clrScheme name="Air France KLM 1">
        <a:dk1>
          <a:srgbClr val="000000"/>
        </a:dk1>
        <a:lt1>
          <a:srgbClr val="FFFFFF"/>
        </a:lt1>
        <a:dk2>
          <a:srgbClr val="002156"/>
        </a:dk2>
        <a:lt2>
          <a:srgbClr val="626262"/>
        </a:lt2>
        <a:accent1>
          <a:srgbClr val="ED1C24"/>
        </a:accent1>
        <a:accent2>
          <a:srgbClr val="BADFF7"/>
        </a:accent2>
        <a:accent3>
          <a:srgbClr val="FFFFFF"/>
        </a:accent3>
        <a:accent4>
          <a:srgbClr val="000000"/>
        </a:accent4>
        <a:accent5>
          <a:srgbClr val="F4ABAC"/>
        </a:accent5>
        <a:accent6>
          <a:srgbClr val="A8CAE0"/>
        </a:accent6>
        <a:hlink>
          <a:srgbClr val="00A1E4"/>
        </a:hlink>
        <a:folHlink>
          <a:srgbClr val="0056A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Air France KLM">
  <a:themeElements>
    <a:clrScheme name="Air France KLM 1">
      <a:dk1>
        <a:srgbClr val="000000"/>
      </a:dk1>
      <a:lt1>
        <a:srgbClr val="FFFFFF"/>
      </a:lt1>
      <a:dk2>
        <a:srgbClr val="002156"/>
      </a:dk2>
      <a:lt2>
        <a:srgbClr val="626262"/>
      </a:lt2>
      <a:accent1>
        <a:srgbClr val="ED1C24"/>
      </a:accent1>
      <a:accent2>
        <a:srgbClr val="BADFF7"/>
      </a:accent2>
      <a:accent3>
        <a:srgbClr val="FFFFFF"/>
      </a:accent3>
      <a:accent4>
        <a:srgbClr val="000000"/>
      </a:accent4>
      <a:accent5>
        <a:srgbClr val="F4ABAC"/>
      </a:accent5>
      <a:accent6>
        <a:srgbClr val="A8CAE0"/>
      </a:accent6>
      <a:hlink>
        <a:srgbClr val="00A1E4"/>
      </a:hlink>
      <a:folHlink>
        <a:srgbClr val="0056A4"/>
      </a:folHlink>
    </a:clrScheme>
    <a:fontScheme name="3_Air France KLM">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pitchFamily="34" charset="0"/>
            <a:cs typeface="Arial" pitchFamily="34" charset="0"/>
          </a:defRPr>
        </a:defPPr>
      </a:lstStyle>
    </a:spDef>
    <a:lnDef>
      <a:spPr bwMode="auto">
        <a:xfrm>
          <a:off x="0" y="0"/>
          <a:ext cx="1" cy="1"/>
        </a:xfrm>
        <a:custGeom>
          <a:avLst/>
          <a:gdLst/>
          <a:ahLst/>
          <a:cxnLst/>
          <a:rect l="0" t="0" r="0" b="0"/>
          <a:pathLst/>
        </a:custGeom>
        <a:solidFill>
          <a:schemeClr val="accent2"/>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pitchFamily="34" charset="0"/>
            <a:cs typeface="Arial" pitchFamily="34" charset="0"/>
          </a:defRPr>
        </a:defPPr>
      </a:lstStyle>
    </a:lnDef>
  </a:objectDefaults>
  <a:extraClrSchemeLst>
    <a:extraClrScheme>
      <a:clrScheme name="Air France KLM 1">
        <a:dk1>
          <a:srgbClr val="000000"/>
        </a:dk1>
        <a:lt1>
          <a:srgbClr val="FFFFFF"/>
        </a:lt1>
        <a:dk2>
          <a:srgbClr val="002156"/>
        </a:dk2>
        <a:lt2>
          <a:srgbClr val="626262"/>
        </a:lt2>
        <a:accent1>
          <a:srgbClr val="ED1C24"/>
        </a:accent1>
        <a:accent2>
          <a:srgbClr val="BADFF7"/>
        </a:accent2>
        <a:accent3>
          <a:srgbClr val="FFFFFF"/>
        </a:accent3>
        <a:accent4>
          <a:srgbClr val="000000"/>
        </a:accent4>
        <a:accent5>
          <a:srgbClr val="F4ABAC"/>
        </a:accent5>
        <a:accent6>
          <a:srgbClr val="A8CAE0"/>
        </a:accent6>
        <a:hlink>
          <a:srgbClr val="00A1E4"/>
        </a:hlink>
        <a:folHlink>
          <a:srgbClr val="0056A4"/>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1_Air France KLM">
  <a:themeElements>
    <a:clrScheme name="Air France KLM 1">
      <a:dk1>
        <a:srgbClr val="000000"/>
      </a:dk1>
      <a:lt1>
        <a:srgbClr val="FFFFFF"/>
      </a:lt1>
      <a:dk2>
        <a:srgbClr val="002156"/>
      </a:dk2>
      <a:lt2>
        <a:srgbClr val="626262"/>
      </a:lt2>
      <a:accent1>
        <a:srgbClr val="ED1C24"/>
      </a:accent1>
      <a:accent2>
        <a:srgbClr val="BADFF7"/>
      </a:accent2>
      <a:accent3>
        <a:srgbClr val="FFFFFF"/>
      </a:accent3>
      <a:accent4>
        <a:srgbClr val="000000"/>
      </a:accent4>
      <a:accent5>
        <a:srgbClr val="F4ABAC"/>
      </a:accent5>
      <a:accent6>
        <a:srgbClr val="A8CAE0"/>
      </a:accent6>
      <a:hlink>
        <a:srgbClr val="00A1E4"/>
      </a:hlink>
      <a:folHlink>
        <a:srgbClr val="0056A4"/>
      </a:folHlink>
    </a:clrScheme>
    <a:fontScheme name="3_Air France KLM">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pitchFamily="34" charset="0"/>
            <a:cs typeface="Arial" pitchFamily="34" charset="0"/>
          </a:defRPr>
        </a:defPPr>
      </a:lstStyle>
    </a:spDef>
    <a:lnDef>
      <a:spPr bwMode="auto">
        <a:xfrm>
          <a:off x="0" y="0"/>
          <a:ext cx="1" cy="1"/>
        </a:xfrm>
        <a:custGeom>
          <a:avLst/>
          <a:gdLst/>
          <a:ahLst/>
          <a:cxnLst/>
          <a:rect l="0" t="0" r="0" b="0"/>
          <a:pathLst/>
        </a:custGeom>
        <a:solidFill>
          <a:schemeClr val="accent2"/>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200" b="0" i="0" u="none" strike="noStrike" cap="none" normalizeH="0" baseline="0" smtClean="0">
            <a:ln>
              <a:noFill/>
            </a:ln>
            <a:solidFill>
              <a:schemeClr val="tx1"/>
            </a:solidFill>
            <a:effectLst/>
            <a:latin typeface="Arial" pitchFamily="34" charset="0"/>
            <a:cs typeface="Arial" pitchFamily="34" charset="0"/>
          </a:defRPr>
        </a:defPPr>
      </a:lstStyle>
    </a:lnDef>
  </a:objectDefaults>
  <a:extraClrSchemeLst>
    <a:extraClrScheme>
      <a:clrScheme name="Air France KLM 1">
        <a:dk1>
          <a:srgbClr val="000000"/>
        </a:dk1>
        <a:lt1>
          <a:srgbClr val="FFFFFF"/>
        </a:lt1>
        <a:dk2>
          <a:srgbClr val="002156"/>
        </a:dk2>
        <a:lt2>
          <a:srgbClr val="626262"/>
        </a:lt2>
        <a:accent1>
          <a:srgbClr val="ED1C24"/>
        </a:accent1>
        <a:accent2>
          <a:srgbClr val="BADFF7"/>
        </a:accent2>
        <a:accent3>
          <a:srgbClr val="FFFFFF"/>
        </a:accent3>
        <a:accent4>
          <a:srgbClr val="000000"/>
        </a:accent4>
        <a:accent5>
          <a:srgbClr val="F4ABAC"/>
        </a:accent5>
        <a:accent6>
          <a:srgbClr val="A8CAE0"/>
        </a:accent6>
        <a:hlink>
          <a:srgbClr val="00A1E4"/>
        </a:hlink>
        <a:folHlink>
          <a:srgbClr val="0056A4"/>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I&amp;N template new</Template>
  <TotalTime>49517</TotalTime>
  <Pages>0</Pages>
  <Words>3215</Words>
  <Characters>0</Characters>
  <Application>Microsoft Office PowerPoint</Application>
  <DocSecurity>0</DocSecurity>
  <PresentationFormat>Format A4 (210 x 297 mm)</PresentationFormat>
  <Lines>0</Lines>
  <Paragraphs>354</Paragraphs>
  <Slides>20</Slides>
  <Notes>18</Notes>
  <HiddenSlides>0</HiddenSlides>
  <MMClips>0</MMClips>
  <ScaleCrop>false</ScaleCrop>
  <HeadingPairs>
    <vt:vector size="6" baseType="variant">
      <vt:variant>
        <vt:lpstr>Thème</vt:lpstr>
      </vt:variant>
      <vt:variant>
        <vt:i4>4</vt:i4>
      </vt:variant>
      <vt:variant>
        <vt:lpstr>Serveurs OLE incorporés</vt:lpstr>
      </vt:variant>
      <vt:variant>
        <vt:i4>1</vt:i4>
      </vt:variant>
      <vt:variant>
        <vt:lpstr>Titres des diapositives</vt:lpstr>
      </vt:variant>
      <vt:variant>
        <vt:i4>20</vt:i4>
      </vt:variant>
    </vt:vector>
  </HeadingPairs>
  <TitlesOfParts>
    <vt:vector size="25" baseType="lpstr">
      <vt:lpstr>Nouvelle présentation</vt:lpstr>
      <vt:lpstr>8_Air France KLM</vt:lpstr>
      <vt:lpstr>3_Air France KLM</vt:lpstr>
      <vt:lpstr>11_Air France KLM</vt:lpstr>
      <vt:lpstr>think-cell Slide</vt:lpstr>
      <vt:lpstr>Présentation PowerPoint</vt:lpstr>
      <vt:lpstr>RETAIL IS SELLING GOODS &amp; SERVICES DIRECT TO END-USERS FOCUS ON RETAILING IS KEY IN OUR CUSTOMER INTIMACY AMBITION</vt:lpstr>
      <vt:lpstr>EXTERNAL DRIVERS STIMULATE AIRLINES TO MOVE TOWARDS INNOVATIVE RETAILING</vt:lpstr>
      <vt:lpstr>RETAILING OF PERSONALIZED PRODUCTS ALSO OFFERS  BRAND DIFFERENTIATION &amp; NEW REVENUE POTENTIAL TO AFKL</vt:lpstr>
      <vt:lpstr>WHY ARE AIRLINES TRADITIONALLY NOT GOOD RETAILERS?</vt:lpstr>
      <vt:lpstr>BEST-IN-CLASS RETAILERS PERSONALIZE TO BE RELEVANT, DIFFERENTIATE AND ARE EASY TO DO BUSINESS WITH</vt:lpstr>
      <vt:lpstr>WE HAVE MANY RETAILING CAPABILITIES, BUT WE REQUIRE A TRANSFORMATION TO BECOME A SUCCESSFUL RETAILER</vt:lpstr>
      <vt:lpstr>AIRLINE RETAILING MATURITY LEVELS  CURRENT STATUS WITHIN AIR FRANCE KLM</vt:lpstr>
      <vt:lpstr>RETAILING MATURITY LEVELS  WHAT COULD BE NEXT IN RETAILING FOR AIR FRANCE-KLM</vt:lpstr>
      <vt:lpstr>RETAILING MATURITY LEVELS LEVEL 4: PERSONALIZED OFFERS USING BIG DATA TECHNOLOGY</vt:lpstr>
      <vt:lpstr>RETAILING MATURITY LEVELS LEVEL 5: SMART TRAVEL ASSISTANT</vt:lpstr>
      <vt:lpstr>GOOGLE WANTS TO BECOME THE ULTIMATE TRAVEL AGGREGATOR AND ONE-STOP-SHOP</vt:lpstr>
      <vt:lpstr>GOOGLE OFFERS ONE OF THE MOST ADVANCED SMART  TRAVEL ASSISTANT PRODUCTSUITES (GOOGLE MAPS+NOW)</vt:lpstr>
      <vt:lpstr>LUFTHANSA STARTED EXPERIMENTING (ROME2RIO) WITH LEVEL 5, BUT STILL FAR FROM FULL POTENTIAL</vt:lpstr>
      <vt:lpstr>…QANTAS ALSO IN EARLY STAGE DEVELOPMENT</vt:lpstr>
      <vt:lpstr>RETAILING MATURITY LEVELS LEVEL 6: TRIP INITIATOR</vt:lpstr>
      <vt:lpstr>RETAILING MATURITY LEVELS LEVEL 7: AIR FRANCE KLM AS GENERAL RETAILER</vt:lpstr>
      <vt:lpstr>SUCCESSFUL GENERAL RETAILERS COMBINE MULTIPLE RETAILING BUSINESS MODELS example level 7</vt:lpstr>
      <vt:lpstr>RETAILING MATURITY LEVELS  WHAT COULD BE NEXT IN RETAILING FOR AIR FRANCE-KLM</vt:lpstr>
      <vt:lpstr>RECOMMENDATIONS &amp; NEXT STEPS</vt:lpstr>
    </vt:vector>
  </TitlesOfParts>
  <Manager>P. Ceschia / H. de Roos</Manager>
  <Company>Air France KLM</Company>
  <LinksUpToDate>false</LinksUpToDate>
  <CharactersWithSpaces>0</CharactersWithSpaces>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Horizon 2025</dc:title>
  <dc:subject>Macro trends</dc:subject>
  <dc:creator>Corporate Strategy;Freek-van.Essen@klm.com;Michel.Pozas-Lucic@klm.com;rogier-van.beugen@klm.com;yvfredonroux@airfranceklm.com;Constance.Thio@klm.com;esalaux@airfranceklm.com;clchatellier@airfranceklm.com</dc:creator>
  <cp:keywords>macro trends, strategy, strategic planning, megatrends</cp:keywords>
  <dc:description>Introductory discussion document
Part 1 of 4
Group Executive Committee Air France KLM 2&amp;3 Apr 2013
Based on internal &amp; external sources</dc:description>
  <cp:lastModifiedBy>GONNAUD Frédéric</cp:lastModifiedBy>
  <cp:revision>903</cp:revision>
  <cp:lastPrinted>2014-08-26T15:36:19Z</cp:lastPrinted>
  <dcterms:created xsi:type="dcterms:W3CDTF">2009-02-17T08:04:45Z</dcterms:created>
  <dcterms:modified xsi:type="dcterms:W3CDTF">2014-08-26T15:56:41Z</dcterms:modified>
  <cp:category>strategy, trends</cp:category>
</cp:coreProperties>
</file>