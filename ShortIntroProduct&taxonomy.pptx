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602" r:id="rId2"/>
    <p:sldId id="603" r:id="rId3"/>
    <p:sldId id="627" r:id="rId4"/>
    <p:sldId id="613" r:id="rId5"/>
    <p:sldId id="625" r:id="rId6"/>
    <p:sldId id="604" r:id="rId7"/>
    <p:sldId id="614" r:id="rId8"/>
    <p:sldId id="605" r:id="rId9"/>
    <p:sldId id="619" r:id="rId10"/>
    <p:sldId id="606" r:id="rId11"/>
    <p:sldId id="618" r:id="rId12"/>
    <p:sldId id="617"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94"/>
  </p:normalViewPr>
  <p:slideViewPr>
    <p:cSldViewPr snapToGrid="0">
      <p:cViewPr varScale="1">
        <p:scale>
          <a:sx n="93" d="100"/>
          <a:sy n="93" d="100"/>
        </p:scale>
        <p:origin x="216" y="7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C8E607-60F7-7347-BE8A-3DF8BD53E703}" type="datetimeFigureOut">
              <a:rPr lang="en-US" smtClean="0"/>
              <a:t>10/6/25</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E8A2B7-9DA2-7B4E-AC39-3C38690DEA30}" type="slidenum">
              <a:rPr lang="en-US" smtClean="0"/>
              <a:t>‹N°›</a:t>
            </a:fld>
            <a:endParaRPr lang="en-US"/>
          </a:p>
        </p:txBody>
      </p:sp>
    </p:spTree>
    <p:extLst>
      <p:ext uri="{BB962C8B-B14F-4D97-AF65-F5344CB8AC3E}">
        <p14:creationId xmlns:p14="http://schemas.microsoft.com/office/powerpoint/2010/main" val="776083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150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a:p>
            <a:endParaRPr lang="en-US" dirty="0"/>
          </a:p>
          <a:p>
            <a:pPr lvl="1"/>
            <a:r>
              <a:rPr lang="en-US" dirty="0"/>
              <a:t>Bilateral agreements between Seller, Retailer, Supplier as well as Delivery providers</a:t>
            </a:r>
          </a:p>
          <a:p>
            <a:r>
              <a:rPr lang="en-US" dirty="0"/>
              <a:t>Additional principles</a:t>
            </a:r>
          </a:p>
          <a:p>
            <a:pPr lvl="1"/>
            <a:r>
              <a:rPr lang="en-US" dirty="0"/>
              <a:t>Full freedom on the nature and choice of products being part of such an agreement. The agreement can change </a:t>
            </a:r>
            <a:r>
              <a:rPr lang="en-US" dirty="0" err="1"/>
              <a:t>ovetime</a:t>
            </a:r>
            <a:r>
              <a:rPr lang="en-US" dirty="0"/>
              <a:t> </a:t>
            </a:r>
            <a:r>
              <a:rPr lang="en-US" dirty="0" err="1"/>
              <a:t>wrt</a:t>
            </a:r>
            <a:r>
              <a:rPr lang="en-US" dirty="0"/>
              <a:t> to products as well as the information exchanged</a:t>
            </a:r>
          </a:p>
          <a:p>
            <a:pPr lvl="1"/>
            <a:r>
              <a:rPr lang="en-US" dirty="0"/>
              <a:t>There will be </a:t>
            </a:r>
            <a:r>
              <a:rPr lang="en-US" dirty="0" err="1"/>
              <a:t>n:m</a:t>
            </a:r>
            <a:r>
              <a:rPr lang="en-US" dirty="0"/>
              <a:t> exchange channels for each participant in the ecosystem the number of bilateral partners is not the same for anyone nor the nature of the partners</a:t>
            </a:r>
          </a:p>
          <a:p>
            <a:endParaRPr lang="en-US"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4048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7FD41-1A84-1DA7-B4F2-4FD53E83E1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98A12A4-E0B9-1261-E52F-D58BD32DA09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0F46A44-ADE6-0BF2-68D9-530483B054B7}"/>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a:p>
            <a:endParaRPr lang="en-US" dirty="0"/>
          </a:p>
          <a:p>
            <a:pPr lvl="1"/>
            <a:r>
              <a:rPr lang="en-US" dirty="0"/>
              <a:t>Exchange of product information for retailing purposes ( presentation, search, offer construction )</a:t>
            </a:r>
          </a:p>
          <a:p>
            <a:pPr lvl="1"/>
            <a:r>
              <a:rPr lang="en-US" dirty="0"/>
              <a:t>In order to make that work we need a common understanding of what the exchanged information means</a:t>
            </a:r>
          </a:p>
          <a:p>
            <a:endParaRPr lang="en-US" dirty="0"/>
          </a:p>
        </p:txBody>
      </p:sp>
      <p:sp>
        <p:nvSpPr>
          <p:cNvPr id="4" name="Espace réservé du numéro de diapositive 3">
            <a:extLst>
              <a:ext uri="{FF2B5EF4-FFF2-40B4-BE49-F238E27FC236}">
                <a16:creationId xmlns:a16="http://schemas.microsoft.com/office/drawing/2014/main" id="{A72457CF-6501-1B48-893E-7ED1D5F92C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3119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0BC1D-A9F6-89DF-C07C-846905B95B1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226ED1-601B-3F03-BE4A-F6CB638579A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530EFEA-66FD-CFBC-538F-DA21B9FEF1A7}"/>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9BC5BA69-6509-EC10-9397-F09E1765D0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1532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4B967-826D-4C2D-31E0-6B11E415E0E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CB97AB-6E45-9689-A1E7-827191C3B2B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F13D347-086B-3BD8-FA27-DCD2A376D0D2}"/>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1D025BC8-D71C-22DD-066F-C196C9CFAD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3912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B31B-EBFB-5634-8689-8ACCD83FD1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F7F7D81-EACA-F9CF-13EA-3FB66DF9247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3FF1B8C-36A6-5B2D-2488-0DD99B52DEC7}"/>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D0A37ADF-1AFB-0C7F-922D-F834D37CD9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8780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198F9-5F52-3543-C679-081FE37676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E65EBB-410F-251A-2E9B-D96FE6EFB6E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0B93AD-1266-841F-6234-3927419765CD}"/>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B5CAA45B-2CAA-4CEF-8A24-5920F59211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9769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19B4F-8B20-5303-4EBA-986A7E0868E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94C84C-AED4-8A83-630D-6E1D6662B0E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17AEEE-E673-A286-7A3F-ED5824635370}"/>
              </a:ext>
            </a:extLst>
          </p:cNvPr>
          <p:cNvSpPr>
            <a:spLocks noGrp="1"/>
          </p:cNvSpPr>
          <p:nvPr>
            <p:ph type="body" idx="1"/>
          </p:nvPr>
        </p:nvSpPr>
        <p:spPr/>
        <p:txBody>
          <a:bodyPr/>
          <a:lstStyle/>
          <a:p>
            <a:r>
              <a:rPr lang="en-US" dirty="0"/>
              <a:t>Grammar requirement: products, features, reference systems, metadata which can </a:t>
            </a:r>
            <a:r>
              <a:rPr lang="en-US" dirty="0" err="1"/>
              <a:t>bedefined</a:t>
            </a:r>
            <a:r>
              <a:rPr lang="en-US" dirty="0"/>
              <a:t> flexibly between </a:t>
            </a:r>
            <a:r>
              <a:rPr lang="en-US" dirty="0" err="1"/>
              <a:t>parners</a:t>
            </a:r>
            <a:r>
              <a:rPr lang="en-US" dirty="0"/>
              <a:t> e.g.  Delivery statuses  I can expect to </a:t>
            </a:r>
            <a:r>
              <a:rPr lang="en-US" dirty="0" err="1"/>
              <a:t>recieve</a:t>
            </a:r>
            <a:endParaRPr lang="en-US" dirty="0"/>
          </a:p>
        </p:txBody>
      </p:sp>
      <p:sp>
        <p:nvSpPr>
          <p:cNvPr id="4" name="Espace réservé du numéro de diapositive 3">
            <a:extLst>
              <a:ext uri="{FF2B5EF4-FFF2-40B4-BE49-F238E27FC236}">
                <a16:creationId xmlns:a16="http://schemas.microsoft.com/office/drawing/2014/main" id="{9492D857-F0E1-860A-6DF3-B4C82B4CAC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2690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E6DA-268F-645F-3CBE-12DA7D510F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8A4FB0-9367-1CBE-A9F5-8400CC5BC71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3B60532-ACB0-F5B4-A27A-E29B642BBF56}"/>
              </a:ext>
            </a:extLst>
          </p:cNvPr>
          <p:cNvSpPr>
            <a:spLocks noGrp="1"/>
          </p:cNvSpPr>
          <p:nvPr>
            <p:ph type="body" idx="1"/>
          </p:nvPr>
        </p:nvSpPr>
        <p:spPr/>
        <p:txBody>
          <a:bodyPr/>
          <a:lstStyle/>
          <a:p>
            <a:r>
              <a:rPr lang="en-US" dirty="0"/>
              <a:t>Solutioning : </a:t>
            </a:r>
          </a:p>
          <a:p>
            <a:pPr marL="228600" indent="-228600">
              <a:buAutoNum type="arabicParenR"/>
            </a:pPr>
            <a:r>
              <a:rPr lang="en-US" dirty="0"/>
              <a:t>Develop the grammar (in such a way that the schemas are void of interpretation, including on how to serialize the  objects )</a:t>
            </a:r>
          </a:p>
          <a:p>
            <a:pPr marL="228600" indent="-228600">
              <a:buAutoNum type="arabicParenR"/>
            </a:pPr>
            <a:r>
              <a:rPr lang="en-US" dirty="0"/>
              <a:t>Develop the fully </a:t>
            </a:r>
            <a:r>
              <a:rPr lang="en-US" dirty="0" err="1"/>
              <a:t>speced</a:t>
            </a:r>
            <a:r>
              <a:rPr lang="en-US" dirty="0"/>
              <a:t> business schemas based on the grammar </a:t>
            </a:r>
          </a:p>
        </p:txBody>
      </p:sp>
      <p:sp>
        <p:nvSpPr>
          <p:cNvPr id="4" name="Espace réservé du numéro de diapositive 3">
            <a:extLst>
              <a:ext uri="{FF2B5EF4-FFF2-40B4-BE49-F238E27FC236}">
                <a16:creationId xmlns:a16="http://schemas.microsoft.com/office/drawing/2014/main" id="{2BA3992B-8F5E-C33B-582A-ECB80BCCE1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0423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CB56-0744-0D7B-06F0-22C80E04798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893F8E5-A54B-C519-02AA-B91F97E360A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4C214CC-5FEB-77FF-D3C5-A57F43FA9FD1}"/>
              </a:ext>
            </a:extLst>
          </p:cNvPr>
          <p:cNvSpPr>
            <a:spLocks noGrp="1"/>
          </p:cNvSpPr>
          <p:nvPr>
            <p:ph type="body" idx="1"/>
          </p:nvPr>
        </p:nvSpPr>
        <p:spPr/>
        <p:txBody>
          <a:bodyPr/>
          <a:lstStyle/>
          <a:p>
            <a:r>
              <a:rPr lang="en-US" dirty="0"/>
              <a:t>Solutioning: Implementation of the ISO standard ( own, choose from </a:t>
            </a:r>
            <a:r>
              <a:rPr lang="en-US" dirty="0" err="1"/>
              <a:t>skos</a:t>
            </a:r>
            <a:r>
              <a:rPr lang="en-US" dirty="0"/>
              <a:t> </a:t>
            </a:r>
            <a:r>
              <a:rPr lang="en-US" dirty="0" err="1"/>
              <a:t>etc</a:t>
            </a:r>
            <a:r>
              <a:rPr lang="en-US" dirty="0"/>
              <a:t> or something else in all cases we need a serialization of that as well and if possible a unique reference at IATA level  to be referenced</a:t>
            </a:r>
          </a:p>
        </p:txBody>
      </p:sp>
      <p:sp>
        <p:nvSpPr>
          <p:cNvPr id="4" name="Espace réservé du numéro de diapositive 3">
            <a:extLst>
              <a:ext uri="{FF2B5EF4-FFF2-40B4-BE49-F238E27FC236}">
                <a16:creationId xmlns:a16="http://schemas.microsoft.com/office/drawing/2014/main" id="{8BB803DF-FD8F-B9D0-C1F6-8DA5AC147E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6184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B0CF-57AD-1BF2-64F2-E5241C13475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0212DA4-4220-2AB0-03A4-9C65C5F6E2D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B80328C-E2F6-E8C0-C078-BC39492ACAE3}"/>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DEBFB40A-CB97-11D8-0397-3263059F0C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9449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201C4-7826-1C3E-DFE5-67AEEAE6AF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F95CE2-4556-6106-5584-2D9D801EA0C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C759E92-F42C-F43D-E6AF-5F077724E0B9}"/>
              </a:ext>
            </a:extLst>
          </p:cNvPr>
          <p:cNvSpPr>
            <a:spLocks noGrp="1"/>
          </p:cNvSpPr>
          <p:nvPr>
            <p:ph type="body" idx="1"/>
          </p:nvPr>
        </p:nvSpPr>
        <p:spPr/>
        <p:txBody>
          <a:bodyPr/>
          <a:lstStyle/>
          <a:p>
            <a:r>
              <a:rPr lang="en-US" sz="1200" b="1" dirty="0">
                <a:latin typeface="Montserrat" pitchFamily="2" charset="77"/>
              </a:rPr>
              <a:t>and where APMWG is in the lead and where handover is happening to implementation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ontserrat" pitchFamily="2" charset="77"/>
              </a:rPr>
              <a:t>For our purpose we shall only consider here the information objects ( catalogs and their information content, product definition, product schema, products as well as the taxonomy ) and highlight those in the LVL2 and LVL3 process designs as needed.</a:t>
            </a:r>
          </a:p>
          <a:p>
            <a:endParaRPr lang="en-US" dirty="0"/>
          </a:p>
        </p:txBody>
      </p:sp>
      <p:sp>
        <p:nvSpPr>
          <p:cNvPr id="4" name="Espace réservé du numéro de diapositive 3">
            <a:extLst>
              <a:ext uri="{FF2B5EF4-FFF2-40B4-BE49-F238E27FC236}">
                <a16:creationId xmlns:a16="http://schemas.microsoft.com/office/drawing/2014/main" id="{83C75C63-22C4-75A8-AC81-1CA3802938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F1CB-051C-214C-8967-44987813EE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8390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EC236-F1D3-1F92-BA1E-39DC7F406AC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A0F7B1A4-C274-DA1B-6EF9-16C6D19477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74502F37-6D93-0C05-61AC-80AF95BD7572}"/>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5" name="Espace réservé du pied de page 4">
            <a:extLst>
              <a:ext uri="{FF2B5EF4-FFF2-40B4-BE49-F238E27FC236}">
                <a16:creationId xmlns:a16="http://schemas.microsoft.com/office/drawing/2014/main" id="{65B2A8A9-A99A-E7E3-5089-F6957204464C}"/>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C9CC7D7D-8B9D-EBD9-B196-4AB81E1529FB}"/>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38324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785EAB-4F57-6D16-CBCB-4F59B30E6D9E}"/>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FD4844CF-DBDB-2AB6-B3FA-6B29E95CEA6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077489AA-C512-8274-20B0-7F9F19849197}"/>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5" name="Espace réservé du pied de page 4">
            <a:extLst>
              <a:ext uri="{FF2B5EF4-FFF2-40B4-BE49-F238E27FC236}">
                <a16:creationId xmlns:a16="http://schemas.microsoft.com/office/drawing/2014/main" id="{E14FEAFC-10E8-6740-10E4-D967F238C8C7}"/>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236539A4-0847-90DD-28B7-21CA617B1122}"/>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3902719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5FB5EB-98E7-5FFF-7F92-27AAF31A002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6ED2040B-B60B-D278-FB48-5DE7611675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FC2C032-42A6-8C18-BEDD-7C49685390E7}"/>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5" name="Espace réservé du pied de page 4">
            <a:extLst>
              <a:ext uri="{FF2B5EF4-FFF2-40B4-BE49-F238E27FC236}">
                <a16:creationId xmlns:a16="http://schemas.microsoft.com/office/drawing/2014/main" id="{B7295E7F-82CC-32FE-27FB-BDDF952F6E6F}"/>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3A97D643-C609-327F-7A7E-16075425D0A0}"/>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1965718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E68E51-9781-6B59-3117-6FA1E6481A98}"/>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F9A65E77-E776-BFFE-DDF1-13F2533866E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9128A4E2-FDA3-8BA2-5341-A1369412F8A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CAD15B51-2688-FED9-50A3-D51887011B2A}"/>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6" name="Espace réservé du pied de page 5">
            <a:extLst>
              <a:ext uri="{FF2B5EF4-FFF2-40B4-BE49-F238E27FC236}">
                <a16:creationId xmlns:a16="http://schemas.microsoft.com/office/drawing/2014/main" id="{2276A3BE-41D1-D0C2-071C-7577CD24A00C}"/>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4C38696B-3F32-79C2-0727-FC4AA4CB3C09}"/>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391567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EE4EE0-F46D-18CE-22B2-E61362ED281F}"/>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BDBF28B3-4B69-D262-6DFC-62CF2B0545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B526B6D-9F30-30D0-2C51-A63946866A5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3EDB9456-155D-48CE-FA92-635D1E3739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F2D954F-B467-C738-1165-9EC545F142C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F88BBA7E-CC2C-2246-2B2A-756A7187FEBC}"/>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8" name="Espace réservé du pied de page 7">
            <a:extLst>
              <a:ext uri="{FF2B5EF4-FFF2-40B4-BE49-F238E27FC236}">
                <a16:creationId xmlns:a16="http://schemas.microsoft.com/office/drawing/2014/main" id="{9013BA51-07C1-B98F-FD39-75B467C02AF1}"/>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A47FAE30-9ECF-0A51-0A0E-30B5F9727DCC}"/>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3218130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35EFDB-808E-B5D5-19EC-5CADC40AA753}"/>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761E36A2-0963-A975-19F2-E88A9FDE6470}"/>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4" name="Espace réservé du pied de page 3">
            <a:extLst>
              <a:ext uri="{FF2B5EF4-FFF2-40B4-BE49-F238E27FC236}">
                <a16:creationId xmlns:a16="http://schemas.microsoft.com/office/drawing/2014/main" id="{FF16C04D-D621-7041-D9D9-8F051CB633F5}"/>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EAA3C03E-8180-680A-492B-C068B3DC80E1}"/>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3835297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77D505A-9BC4-B15F-9BA6-E7DA7E027C3B}"/>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3" name="Espace réservé du pied de page 2">
            <a:extLst>
              <a:ext uri="{FF2B5EF4-FFF2-40B4-BE49-F238E27FC236}">
                <a16:creationId xmlns:a16="http://schemas.microsoft.com/office/drawing/2014/main" id="{C26A98AF-271E-F360-96E8-2E0842AA7D65}"/>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45B3D832-0C86-F5EE-96F7-CC5EC189BEB9}"/>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1121830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BE2E16-4212-67BD-B411-036943CFDE4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795402FF-FACF-BF3C-6AEE-AC65EDD27E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3B1AC64B-C549-42EA-67CF-01358EB161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3ADFC52-1946-8BE1-AF8C-59D9E5163067}"/>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6" name="Espace réservé du pied de page 5">
            <a:extLst>
              <a:ext uri="{FF2B5EF4-FFF2-40B4-BE49-F238E27FC236}">
                <a16:creationId xmlns:a16="http://schemas.microsoft.com/office/drawing/2014/main" id="{0BAD1E29-4343-8F4E-BEC4-8C099C27C0FE}"/>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7F8C782C-D8CC-8FB4-AFB4-418C72A6523C}"/>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143143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39D008-F64C-BD6F-2097-830ECFBDC2A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260D33D8-6C4B-B21A-1AA8-5999C67B36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Espace réservé du texte 3">
            <a:extLst>
              <a:ext uri="{FF2B5EF4-FFF2-40B4-BE49-F238E27FC236}">
                <a16:creationId xmlns:a16="http://schemas.microsoft.com/office/drawing/2014/main" id="{0BEBC25D-29F0-DD14-C97F-4D62494950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16841ED-C9F0-7B7F-7519-51B0177CABAF}"/>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6" name="Espace réservé du pied de page 5">
            <a:extLst>
              <a:ext uri="{FF2B5EF4-FFF2-40B4-BE49-F238E27FC236}">
                <a16:creationId xmlns:a16="http://schemas.microsoft.com/office/drawing/2014/main" id="{E26FD631-FD1B-57C0-ED8F-7B139939F1D9}"/>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1EE3ACE6-8172-9B5B-6967-AEEC4284DAFC}"/>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2200500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AD5AA2-51B5-D692-D6AD-BCE85C9B5011}"/>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C1AEC4D6-3CE4-9C6C-BD82-4D2CFD2B38C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1106D990-E0FA-6327-2E95-1A0B3B02C603}"/>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5" name="Espace réservé du pied de page 4">
            <a:extLst>
              <a:ext uri="{FF2B5EF4-FFF2-40B4-BE49-F238E27FC236}">
                <a16:creationId xmlns:a16="http://schemas.microsoft.com/office/drawing/2014/main" id="{82E578CA-9933-B0CD-416F-D1EFF715C1C2}"/>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E4BC03A3-B533-86F2-3018-7264C3ABD248}"/>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1167433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9995A75-D160-55C2-EA69-52A225AB1FF2}"/>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1E28F6A0-457D-AF55-421F-7E3B5520B59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DF744857-4673-5A75-8A92-741F2C04AAC4}"/>
              </a:ext>
            </a:extLst>
          </p:cNvPr>
          <p:cNvSpPr>
            <a:spLocks noGrp="1"/>
          </p:cNvSpPr>
          <p:nvPr>
            <p:ph type="dt" sz="half" idx="10"/>
          </p:nvPr>
        </p:nvSpPr>
        <p:spPr/>
        <p:txBody>
          <a:bodyPr/>
          <a:lstStyle/>
          <a:p>
            <a:fld id="{456F7E22-A064-754A-BE16-897BBD8B1001}" type="datetimeFigureOut">
              <a:rPr lang="en-US" smtClean="0"/>
              <a:t>10/3/25</a:t>
            </a:fld>
            <a:endParaRPr lang="en-US"/>
          </a:p>
        </p:txBody>
      </p:sp>
      <p:sp>
        <p:nvSpPr>
          <p:cNvPr id="5" name="Espace réservé du pied de page 4">
            <a:extLst>
              <a:ext uri="{FF2B5EF4-FFF2-40B4-BE49-F238E27FC236}">
                <a16:creationId xmlns:a16="http://schemas.microsoft.com/office/drawing/2014/main" id="{22A2C057-8B23-EB6B-1280-75CAACE646AF}"/>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966575F5-DF8C-4B19-82E5-9205C78B6B04}"/>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1988324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E8A367C-1D46-A7A9-362F-20604B25E2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12827668-986C-A8CA-E617-49D948EF75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703BA5A5-A46F-5BA8-EBFB-3D320CDA56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6F7E22-A064-754A-BE16-897BBD8B1001}" type="datetimeFigureOut">
              <a:rPr lang="en-US" smtClean="0"/>
              <a:t>10/3/25</a:t>
            </a:fld>
            <a:endParaRPr lang="en-US"/>
          </a:p>
        </p:txBody>
      </p:sp>
      <p:sp>
        <p:nvSpPr>
          <p:cNvPr id="5" name="Espace réservé du pied de page 4">
            <a:extLst>
              <a:ext uri="{FF2B5EF4-FFF2-40B4-BE49-F238E27FC236}">
                <a16:creationId xmlns:a16="http://schemas.microsoft.com/office/drawing/2014/main" id="{55AA5F5A-CA49-6229-5640-5FA19AC37E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588E4B15-B942-D56A-18B5-2F3FCA1BBC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D81A04-42D3-4040-9739-87479A4C722E}" type="slidenum">
              <a:rPr lang="en-US" smtClean="0"/>
              <a:t>‹N°›</a:t>
            </a:fld>
            <a:endParaRPr lang="en-US"/>
          </a:p>
        </p:txBody>
      </p:sp>
    </p:spTree>
    <p:extLst>
      <p:ext uri="{BB962C8B-B14F-4D97-AF65-F5344CB8AC3E}">
        <p14:creationId xmlns:p14="http://schemas.microsoft.com/office/powerpoint/2010/main" val="37584808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772248-DE23-007A-3B67-AEB261CF7B9C}"/>
              </a:ext>
            </a:extLst>
          </p:cNvPr>
          <p:cNvSpPr>
            <a:spLocks noGrp="1"/>
          </p:cNvSpPr>
          <p:nvPr>
            <p:ph type="ctrTitle"/>
          </p:nvPr>
        </p:nvSpPr>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Sous-titre 2">
            <a:extLst>
              <a:ext uri="{FF2B5EF4-FFF2-40B4-BE49-F238E27FC236}">
                <a16:creationId xmlns:a16="http://schemas.microsoft.com/office/drawing/2014/main" id="{EEC13FF7-C631-2D59-663C-D05AFF1C2103}"/>
              </a:ext>
            </a:extLst>
          </p:cNvPr>
          <p:cNvSpPr>
            <a:spLocks noGrp="1"/>
          </p:cNvSpPr>
          <p:nvPr>
            <p:ph type="subTitle" idx="1"/>
          </p:nvPr>
        </p:nvSpPr>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pic>
        <p:nvPicPr>
          <p:cNvPr id="4" name="Image 3">
            <a:extLst>
              <a:ext uri="{FF2B5EF4-FFF2-40B4-BE49-F238E27FC236}">
                <a16:creationId xmlns:a16="http://schemas.microsoft.com/office/drawing/2014/main" id="{A0F4711F-8956-38AF-EA93-31587724364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00528" y="274864"/>
            <a:ext cx="4268149" cy="2653393"/>
          </a:xfrm>
          <a:prstGeom prst="rect">
            <a:avLst/>
          </a:prstGeom>
        </p:spPr>
      </p:pic>
      <p:pic>
        <p:nvPicPr>
          <p:cNvPr id="1026" name="Picture 2" descr="white airplane, clouds, flight, the plane, sunrise, Aviation">
            <a:extLst>
              <a:ext uri="{FF2B5EF4-FFF2-40B4-BE49-F238E27FC236}">
                <a16:creationId xmlns:a16="http://schemas.microsoft.com/office/drawing/2014/main" id="{732CAEDC-ED6A-228F-45AB-173607824B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descr="Une image contenant capture d’écran, Police, Graphique, conception&#10;&#10;Description générée automatiquement">
            <a:extLst>
              <a:ext uri="{FF2B5EF4-FFF2-40B4-BE49-F238E27FC236}">
                <a16:creationId xmlns:a16="http://schemas.microsoft.com/office/drawing/2014/main" id="{826188CE-6081-0AD4-EEE4-D37869E492E9}"/>
              </a:ext>
            </a:extLst>
          </p:cNvPr>
          <p:cNvPicPr>
            <a:picLocks noChangeAspect="1"/>
          </p:cNvPicPr>
          <p:nvPr/>
        </p:nvPicPr>
        <p:blipFill>
          <a:blip r:embed="rId5">
            <a:duotone>
              <a:prstClr val="black"/>
              <a:schemeClr val="accent4">
                <a:tint val="45000"/>
                <a:satMod val="400000"/>
              </a:schemeClr>
            </a:duotone>
            <a:extLst>
              <a:ext uri="{BEBA8EAE-BF5A-486C-A8C5-ECC9F3942E4B}">
                <a14:imgProps xmlns:a14="http://schemas.microsoft.com/office/drawing/2010/main">
                  <a14:imgLayer r:embed="rId6">
                    <a14:imgEffect>
                      <a14:brightnessContrast bright="40000" contrast="20000"/>
                    </a14:imgEffect>
                  </a14:imgLayer>
                </a14:imgProps>
              </a:ext>
            </a:extLst>
          </a:blip>
          <a:stretch>
            <a:fillRect/>
          </a:stretch>
        </p:blipFill>
        <p:spPr>
          <a:xfrm>
            <a:off x="10979164" y="112735"/>
            <a:ext cx="1020929" cy="651352"/>
          </a:xfrm>
          <a:prstGeom prst="rect">
            <a:avLst/>
          </a:prstGeom>
        </p:spPr>
      </p:pic>
      <p:sp>
        <p:nvSpPr>
          <p:cNvPr id="5" name="Subtitle 8">
            <a:extLst>
              <a:ext uri="{FF2B5EF4-FFF2-40B4-BE49-F238E27FC236}">
                <a16:creationId xmlns:a16="http://schemas.microsoft.com/office/drawing/2014/main" id="{B7B2EB67-0250-700F-EAB7-805E940540A0}"/>
              </a:ext>
            </a:extLst>
          </p:cNvPr>
          <p:cNvSpPr txBox="1">
            <a:spLocks/>
          </p:cNvSpPr>
          <p:nvPr/>
        </p:nvSpPr>
        <p:spPr>
          <a:xfrm>
            <a:off x="4444" y="4158642"/>
            <a:ext cx="7452986" cy="1377862"/>
          </a:xfrm>
          <a:prstGeom prst="rect">
            <a:avLst/>
          </a:prstGeom>
          <a:gradFill flip="none" rotWithShape="1">
            <a:gsLst>
              <a:gs pos="0">
                <a:srgbClr val="763746"/>
              </a:gs>
              <a:gs pos="100000">
                <a:srgbClr val="D4694F"/>
              </a:gs>
            </a:gsLst>
            <a:lin ang="0" scaled="0"/>
            <a:tileRect/>
          </a:gradFill>
        </p:spPr>
        <p:txBody>
          <a:bodyPr vert="horz" lIns="91440" tIns="45720" rIns="91440" bIns="45720" rtlCol="0" anchor="t">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534988" marR="0" lvl="0" indent="0" algn="l" defTabSz="914400" rtl="0" eaLnBrk="1" fontAlgn="auto" latinLnBrk="0" hangingPunct="1">
              <a:lnSpc>
                <a:spcPct val="90000"/>
              </a:lnSpc>
              <a:spcBef>
                <a:spcPts val="1000"/>
              </a:spcBef>
              <a:spcAft>
                <a:spcPts val="800"/>
              </a:spcAft>
              <a:buClrTx/>
              <a:buSzTx/>
              <a:buFont typeface="Arial" panose="020B0604020202020204" pitchFamily="34" charset="0"/>
              <a:buNone/>
              <a:tabLst/>
              <a:defRPr/>
            </a:pPr>
            <a:endParaRPr kumimoji="0" lang="en-US" sz="700" b="0" i="0" u="none" strike="noStrike" kern="1200" cap="none" spc="0" normalizeH="0" baseline="0" noProof="0" dirty="0">
              <a:ln>
                <a:noFill/>
              </a:ln>
              <a:solidFill>
                <a:prstClr val="white"/>
              </a:solidFill>
              <a:effectLst/>
              <a:uLnTx/>
              <a:uFillTx/>
              <a:latin typeface="Montserrat" pitchFamily="2" charset="77"/>
              <a:ea typeface="Open Sans" panose="020B0606030504020204" pitchFamily="34" charset="0"/>
              <a:cs typeface="Open Sans" panose="020B0606030504020204" pitchFamily="34" charset="0"/>
            </a:endParaRPr>
          </a:p>
          <a:p>
            <a:pPr marL="534988" marR="0" lvl="0" indent="0" algn="l" defTabSz="914400" rtl="0" eaLnBrk="1" fontAlgn="auto" latinLnBrk="0" hangingPunct="1">
              <a:lnSpc>
                <a:spcPct val="90000"/>
              </a:lnSpc>
              <a:spcBef>
                <a:spcPts val="1000"/>
              </a:spcBef>
              <a:spcAft>
                <a:spcPts val="800"/>
              </a:spcAft>
              <a:buClrTx/>
              <a:buSzTx/>
              <a:buFont typeface="Arial" panose="020B0604020202020204" pitchFamily="34" charset="0"/>
              <a:buNone/>
              <a:tabLst/>
              <a:defRPr/>
            </a:pPr>
            <a:r>
              <a:rPr kumimoji="0" lang="en-US" sz="3600" b="0" i="0" u="none" strike="noStrike" kern="1200" cap="none" spc="0" normalizeH="0" baseline="0" noProof="0" dirty="0">
                <a:ln>
                  <a:noFill/>
                </a:ln>
                <a:solidFill>
                  <a:prstClr val="white"/>
                </a:solidFill>
                <a:effectLst/>
                <a:uLnTx/>
                <a:uFillTx/>
                <a:latin typeface="Montserrat" pitchFamily="2" charset="77"/>
                <a:ea typeface="Open Sans" panose="020B0606030504020204" pitchFamily="34" charset="0"/>
                <a:cs typeface="Open Sans" panose="020B0606030504020204" pitchFamily="34" charset="0"/>
              </a:rPr>
              <a:t>Introduction to </a:t>
            </a:r>
          </a:p>
          <a:p>
            <a:pPr marL="534988" marR="0" lvl="0" indent="0" algn="l" defTabSz="914400" rtl="0" eaLnBrk="1" fontAlgn="auto" latinLnBrk="0" hangingPunct="1">
              <a:lnSpc>
                <a:spcPct val="90000"/>
              </a:lnSpc>
              <a:spcBef>
                <a:spcPts val="1000"/>
              </a:spcBef>
              <a:spcAft>
                <a:spcPts val="800"/>
              </a:spcAft>
              <a:buClrTx/>
              <a:buSzTx/>
              <a:buFont typeface="Arial" panose="020B0604020202020204" pitchFamily="34" charset="0"/>
              <a:buNone/>
              <a:tabLst/>
              <a:defRPr/>
            </a:pPr>
            <a:r>
              <a:rPr kumimoji="0" lang="en-US" sz="3600" b="0" i="0" u="none" strike="noStrike" kern="1200" cap="none" spc="0" normalizeH="0" baseline="0" noProof="0" dirty="0">
                <a:ln>
                  <a:noFill/>
                </a:ln>
                <a:solidFill>
                  <a:prstClr val="white"/>
                </a:solidFill>
                <a:effectLst/>
                <a:uLnTx/>
                <a:uFillTx/>
                <a:latin typeface="Montserrat" pitchFamily="2" charset="77"/>
                <a:ea typeface="Open Sans" panose="020B0606030504020204" pitchFamily="34" charset="0"/>
                <a:cs typeface="Open Sans" panose="020B0606030504020204" pitchFamily="34" charset="0"/>
              </a:rPr>
              <a:t>Product Definition and Taxonomy</a:t>
            </a:r>
          </a:p>
        </p:txBody>
      </p:sp>
      <p:sp>
        <p:nvSpPr>
          <p:cNvPr id="6" name="Text Placeholder 4">
            <a:extLst>
              <a:ext uri="{FF2B5EF4-FFF2-40B4-BE49-F238E27FC236}">
                <a16:creationId xmlns:a16="http://schemas.microsoft.com/office/drawing/2014/main" id="{302DAC5E-7FCA-80AD-C469-6DA986026B0D}"/>
              </a:ext>
            </a:extLst>
          </p:cNvPr>
          <p:cNvSpPr txBox="1">
            <a:spLocks/>
          </p:cNvSpPr>
          <p:nvPr/>
        </p:nvSpPr>
        <p:spPr>
          <a:xfrm>
            <a:off x="475791" y="5528403"/>
            <a:ext cx="6144000" cy="768000"/>
          </a:xfrm>
          <a:prstGeom prst="rect">
            <a:avLst/>
          </a:prstGeom>
        </p:spPr>
        <p:txBody>
          <a:bodyPr vert="horz" lIns="91440" tIns="45720" rIns="91440" bIns="45720" rtlCol="0" anchor="ct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95000"/>
                  </a:prstClr>
                </a:solidFill>
                <a:effectLst/>
                <a:uLnTx/>
                <a:uFillTx/>
                <a:latin typeface="Open Sans" panose="020B0606030504020204" pitchFamily="34" charset="0"/>
                <a:ea typeface="Open Sans" panose="020B0606030504020204" pitchFamily="34" charset="0"/>
                <a:cs typeface="Open Sans" panose="020B0606030504020204" pitchFamily="34" charset="0"/>
              </a:rPr>
              <a:t>G. </a:t>
            </a:r>
            <a:r>
              <a:rPr kumimoji="0" lang="en-US" sz="1200" b="0" i="0" u="none" strike="noStrike" kern="1200" cap="none" spc="0" normalizeH="0" baseline="0" noProof="0" dirty="0" err="1">
                <a:ln>
                  <a:noFill/>
                </a:ln>
                <a:solidFill>
                  <a:prstClr val="white">
                    <a:lumMod val="95000"/>
                  </a:prstClr>
                </a:solidFill>
                <a:effectLst/>
                <a:uLnTx/>
                <a:uFillTx/>
                <a:latin typeface="Open Sans" panose="020B0606030504020204" pitchFamily="34" charset="0"/>
                <a:ea typeface="Open Sans" panose="020B0606030504020204" pitchFamily="34" charset="0"/>
                <a:cs typeface="Open Sans" panose="020B0606030504020204" pitchFamily="34" charset="0"/>
              </a:rPr>
              <a:t>Baues</a:t>
            </a:r>
            <a:r>
              <a:rPr kumimoji="0" lang="en-US" sz="1200" b="0" i="0" u="none" strike="noStrike" kern="1200" cap="none" spc="0" normalizeH="0" baseline="0" noProof="0" dirty="0">
                <a:ln>
                  <a:noFill/>
                </a:ln>
                <a:solidFill>
                  <a:prstClr val="white">
                    <a:lumMod val="95000"/>
                  </a:prstClr>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200" b="0" i="0" u="none" strike="noStrike" kern="1200" cap="none" spc="0" normalizeH="0" baseline="0" noProof="0" dirty="0" err="1">
                <a:ln>
                  <a:noFill/>
                </a:ln>
                <a:solidFill>
                  <a:prstClr val="white">
                    <a:lumMod val="95000"/>
                  </a:prstClr>
                </a:solidFill>
                <a:effectLst/>
                <a:uLnTx/>
                <a:uFillTx/>
                <a:latin typeface="Open Sans" panose="020B0606030504020204" pitchFamily="34" charset="0"/>
                <a:ea typeface="Open Sans" panose="020B0606030504020204" pitchFamily="34" charset="0"/>
                <a:cs typeface="Open Sans" panose="020B0606030504020204" pitchFamily="34" charset="0"/>
              </a:rPr>
              <a:t>AirFrance</a:t>
            </a:r>
            <a:r>
              <a:rPr kumimoji="0" lang="en-US" sz="1200" b="0" i="0" u="none" strike="noStrike" kern="1200" cap="none" spc="0" normalizeH="0" baseline="0" noProof="0" dirty="0">
                <a:ln>
                  <a:noFill/>
                </a:ln>
                <a:solidFill>
                  <a:prstClr val="white">
                    <a:lumMod val="95000"/>
                  </a:prstClr>
                </a:solidFill>
                <a:effectLst/>
                <a:uLnTx/>
                <a:uFillTx/>
                <a:latin typeface="Open Sans" panose="020B0606030504020204" pitchFamily="34" charset="0"/>
                <a:ea typeface="Open Sans" panose="020B0606030504020204" pitchFamily="34" charset="0"/>
                <a:cs typeface="Open Sans" panose="020B0606030504020204" pitchFamily="34" charset="0"/>
              </a:rPr>
              <a:t>/KLM</a:t>
            </a:r>
          </a:p>
        </p:txBody>
      </p:sp>
      <p:sp>
        <p:nvSpPr>
          <p:cNvPr id="11" name="ZoneTexte 10">
            <a:extLst>
              <a:ext uri="{FF2B5EF4-FFF2-40B4-BE49-F238E27FC236}">
                <a16:creationId xmlns:a16="http://schemas.microsoft.com/office/drawing/2014/main" id="{1BA6407A-59DB-74E6-866B-EA5D88751C7D}"/>
              </a:ext>
            </a:extLst>
          </p:cNvPr>
          <p:cNvSpPr txBox="1"/>
          <p:nvPr/>
        </p:nvSpPr>
        <p:spPr>
          <a:xfrm>
            <a:off x="-340021" y="847332"/>
            <a:ext cx="9085501" cy="430887"/>
          </a:xfrm>
          <a:prstGeom prst="rect">
            <a:avLst/>
          </a:prstGeom>
          <a:noFill/>
        </p:spPr>
        <p:txBody>
          <a:bodyPr wrap="none" lIns="0" tIns="0" rIns="0" bIns="0" rtlCol="0">
            <a:spAutoFit/>
          </a:bodyPr>
          <a:lstStyle/>
          <a:p>
            <a:pPr marL="594769" marR="0" lvl="0" indent="0" algn="l" defTabSz="121917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err="1">
                <a:ln>
                  <a:noFill/>
                </a:ln>
                <a:solidFill>
                  <a:srgbClr val="C00000"/>
                </a:solidFill>
                <a:effectLst/>
                <a:uLnTx/>
                <a:uFillTx/>
                <a:latin typeface="Montserrat" pitchFamily="2" charset="77"/>
                <a:ea typeface="Open Sans" panose="020B0606030504020204" pitchFamily="34" charset="0"/>
                <a:cs typeface="Open Sans" panose="020B0606030504020204" pitchFamily="34" charset="0"/>
              </a:rPr>
              <a:t>Airline</a:t>
            </a:r>
            <a:r>
              <a:rPr kumimoji="0" lang="fr-FR" sz="2800" b="1" i="0" u="none" strike="noStrike" kern="1200" cap="none" spc="0" normalizeH="0" baseline="0" noProof="0" dirty="0">
                <a:ln>
                  <a:noFill/>
                </a:ln>
                <a:solidFill>
                  <a:srgbClr val="C00000"/>
                </a:solidFill>
                <a:effectLst/>
                <a:uLnTx/>
                <a:uFillTx/>
                <a:latin typeface="Montserrat" pitchFamily="2" charset="77"/>
                <a:ea typeface="Open Sans" panose="020B0606030504020204" pitchFamily="34" charset="0"/>
                <a:cs typeface="Open Sans" panose="020B0606030504020204" pitchFamily="34" charset="0"/>
              </a:rPr>
              <a:t> Product Management </a:t>
            </a:r>
            <a:r>
              <a:rPr kumimoji="0" lang="fr-FR" sz="2800" b="1" i="0" u="none" strike="noStrike" kern="1200" cap="none" spc="0" normalizeH="0" baseline="0" noProof="0" dirty="0" err="1">
                <a:ln>
                  <a:noFill/>
                </a:ln>
                <a:solidFill>
                  <a:srgbClr val="C00000"/>
                </a:solidFill>
                <a:effectLst/>
                <a:uLnTx/>
                <a:uFillTx/>
                <a:latin typeface="Montserrat" pitchFamily="2" charset="77"/>
                <a:ea typeface="Open Sans" panose="020B0606030504020204" pitchFamily="34" charset="0"/>
                <a:cs typeface="Open Sans" panose="020B0606030504020204" pitchFamily="34" charset="0"/>
              </a:rPr>
              <a:t>Working</a:t>
            </a:r>
            <a:r>
              <a:rPr kumimoji="0" lang="fr-FR" sz="2800" b="1" i="0" u="none" strike="noStrike" kern="1200" cap="none" spc="0" normalizeH="0" baseline="0" noProof="0" dirty="0">
                <a:ln>
                  <a:noFill/>
                </a:ln>
                <a:solidFill>
                  <a:srgbClr val="C00000"/>
                </a:solidFill>
                <a:effectLst/>
                <a:uLnTx/>
                <a:uFillTx/>
                <a:latin typeface="Montserrat" pitchFamily="2" charset="77"/>
                <a:ea typeface="Open Sans" panose="020B0606030504020204" pitchFamily="34" charset="0"/>
                <a:cs typeface="Open Sans" panose="020B0606030504020204" pitchFamily="34" charset="0"/>
              </a:rPr>
              <a:t> Group</a:t>
            </a:r>
            <a:endParaRPr kumimoji="0" lang="fr-FR" sz="2000" b="1" i="0" u="none" strike="noStrike" kern="1200" cap="none" spc="0" normalizeH="0" baseline="0" noProof="0" dirty="0">
              <a:ln>
                <a:noFill/>
              </a:ln>
              <a:solidFill>
                <a:srgbClr val="C00000"/>
              </a:solidFill>
              <a:effectLst/>
              <a:uLnTx/>
              <a:uFillTx/>
              <a:latin typeface="Montserrat" pitchFamily="2" charset="77"/>
              <a:ea typeface="Open Sans" panose="020B0606030504020204" pitchFamily="34" charset="0"/>
              <a:cs typeface="Open Sans" panose="020B0606030504020204" pitchFamily="34" charset="0"/>
            </a:endParaRPr>
          </a:p>
        </p:txBody>
      </p:sp>
      <p:cxnSp>
        <p:nvCxnSpPr>
          <p:cNvPr id="13" name="Connecteur droit 12">
            <a:extLst>
              <a:ext uri="{FF2B5EF4-FFF2-40B4-BE49-F238E27FC236}">
                <a16:creationId xmlns:a16="http://schemas.microsoft.com/office/drawing/2014/main" id="{C2AE50A6-0215-FC75-3EAD-2E809C1C72D4}"/>
              </a:ext>
            </a:extLst>
          </p:cNvPr>
          <p:cNvCxnSpPr/>
          <p:nvPr/>
        </p:nvCxnSpPr>
        <p:spPr>
          <a:xfrm>
            <a:off x="0" y="1312606"/>
            <a:ext cx="725620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B3EB9B36-77F2-E79A-4FD1-64C4A8039287}"/>
              </a:ext>
            </a:extLst>
          </p:cNvPr>
          <p:cNvSpPr txBox="1"/>
          <p:nvPr/>
        </p:nvSpPr>
        <p:spPr>
          <a:xfrm>
            <a:off x="2795286" y="3247227"/>
            <a:ext cx="62619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9048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17C57C4-8965-5330-4BD7-39675F319531}"/>
              </a:ext>
            </a:extLst>
          </p:cNvPr>
          <p:cNvSpPr>
            <a:spLocks noGrp="1"/>
          </p:cNvSpPr>
          <p:nvPr>
            <p:ph idx="1"/>
          </p:nvPr>
        </p:nvSpPr>
        <p:spPr>
          <a:xfrm>
            <a:off x="838200" y="1518128"/>
            <a:ext cx="10515600" cy="4351338"/>
          </a:xfrm>
        </p:spPr>
        <p:txBody>
          <a:bodyPr>
            <a:normAutofit/>
          </a:bodyPr>
          <a:lstStyle/>
          <a:p>
            <a:r>
              <a:rPr lang="en-US" dirty="0">
                <a:latin typeface="Montserrat" pitchFamily="2" charset="77"/>
              </a:rPr>
              <a:t>Business problem</a:t>
            </a:r>
          </a:p>
          <a:p>
            <a:r>
              <a:rPr lang="en-US" dirty="0">
                <a:latin typeface="Montserrat" pitchFamily="2" charset="77"/>
              </a:rPr>
              <a:t>Base requirements</a:t>
            </a:r>
          </a:p>
          <a:p>
            <a:r>
              <a:rPr lang="en-US" dirty="0">
                <a:latin typeface="Montserrat" pitchFamily="2" charset="77"/>
              </a:rPr>
              <a:t>Base principles</a:t>
            </a:r>
          </a:p>
          <a:p>
            <a:r>
              <a:rPr lang="en-US" dirty="0">
                <a:latin typeface="Montserrat" pitchFamily="2" charset="77"/>
              </a:rPr>
              <a:t>Extended Requirements</a:t>
            </a:r>
          </a:p>
          <a:p>
            <a:r>
              <a:rPr lang="en-US" dirty="0">
                <a:latin typeface="Montserrat" pitchFamily="2" charset="77"/>
              </a:rPr>
              <a:t>Business processes </a:t>
            </a:r>
          </a:p>
          <a:p>
            <a:r>
              <a:rPr lang="en-US" dirty="0">
                <a:latin typeface="Montserrat" pitchFamily="2" charset="77"/>
              </a:rPr>
              <a:t>Business Information model layering</a:t>
            </a:r>
          </a:p>
        </p:txBody>
      </p:sp>
      <p:sp>
        <p:nvSpPr>
          <p:cNvPr id="4" name="Titre 1">
            <a:extLst>
              <a:ext uri="{FF2B5EF4-FFF2-40B4-BE49-F238E27FC236}">
                <a16:creationId xmlns:a16="http://schemas.microsoft.com/office/drawing/2014/main" id="{3168AA3B-4337-3EB0-4CB1-3FE18BF33A37}"/>
              </a:ext>
            </a:extLst>
          </p:cNvPr>
          <p:cNvSpPr txBox="1">
            <a:spLocks/>
          </p:cNvSpPr>
          <p:nvPr/>
        </p:nvSpPr>
        <p:spPr>
          <a:xfrm>
            <a:off x="0" y="0"/>
            <a:ext cx="10515600" cy="5573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Agenda	</a:t>
            </a:r>
          </a:p>
        </p:txBody>
      </p:sp>
    </p:spTree>
    <p:extLst>
      <p:ext uri="{BB962C8B-B14F-4D97-AF65-F5344CB8AC3E}">
        <p14:creationId xmlns:p14="http://schemas.microsoft.com/office/powerpoint/2010/main" val="3874763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5EDB4-FAE3-D68D-EE1A-119F05F483EB}"/>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C7E40D6E-59FF-A6F0-93EF-07819727C592}"/>
              </a:ext>
            </a:extLst>
          </p:cNvPr>
          <p:cNvPicPr>
            <a:picLocks noChangeAspect="1"/>
          </p:cNvPicPr>
          <p:nvPr/>
        </p:nvPicPr>
        <p:blipFill>
          <a:blip r:embed="rId3"/>
          <a:stretch>
            <a:fillRect/>
          </a:stretch>
        </p:blipFill>
        <p:spPr>
          <a:xfrm>
            <a:off x="2245990" y="3066654"/>
            <a:ext cx="963177" cy="963177"/>
          </a:xfrm>
          <a:prstGeom prst="rect">
            <a:avLst/>
          </a:prstGeom>
        </p:spPr>
      </p:pic>
      <p:pic>
        <p:nvPicPr>
          <p:cNvPr id="7" name="Image 6">
            <a:extLst>
              <a:ext uri="{FF2B5EF4-FFF2-40B4-BE49-F238E27FC236}">
                <a16:creationId xmlns:a16="http://schemas.microsoft.com/office/drawing/2014/main" id="{41B84B1F-6BEC-FB2B-3F49-655713C8861C}"/>
              </a:ext>
            </a:extLst>
          </p:cNvPr>
          <p:cNvPicPr>
            <a:picLocks noChangeAspect="1"/>
          </p:cNvPicPr>
          <p:nvPr/>
        </p:nvPicPr>
        <p:blipFill>
          <a:blip r:embed="rId4"/>
          <a:stretch>
            <a:fillRect/>
          </a:stretch>
        </p:blipFill>
        <p:spPr>
          <a:xfrm>
            <a:off x="3758300" y="2947184"/>
            <a:ext cx="1202117" cy="1202117"/>
          </a:xfrm>
          <a:prstGeom prst="rect">
            <a:avLst/>
          </a:prstGeom>
        </p:spPr>
      </p:pic>
      <p:pic>
        <p:nvPicPr>
          <p:cNvPr id="6" name="Image 5">
            <a:extLst>
              <a:ext uri="{FF2B5EF4-FFF2-40B4-BE49-F238E27FC236}">
                <a16:creationId xmlns:a16="http://schemas.microsoft.com/office/drawing/2014/main" id="{336674A1-4E35-9576-88F5-7099BCA39460}"/>
              </a:ext>
            </a:extLst>
          </p:cNvPr>
          <p:cNvPicPr>
            <a:picLocks noChangeAspect="1"/>
          </p:cNvPicPr>
          <p:nvPr/>
        </p:nvPicPr>
        <p:blipFill>
          <a:blip r:embed="rId3"/>
          <a:stretch>
            <a:fillRect/>
          </a:stretch>
        </p:blipFill>
        <p:spPr>
          <a:xfrm>
            <a:off x="9146360" y="3107409"/>
            <a:ext cx="963177" cy="963177"/>
          </a:xfrm>
          <a:prstGeom prst="rect">
            <a:avLst/>
          </a:prstGeom>
        </p:spPr>
      </p:pic>
      <p:pic>
        <p:nvPicPr>
          <p:cNvPr id="8" name="Image 7">
            <a:extLst>
              <a:ext uri="{FF2B5EF4-FFF2-40B4-BE49-F238E27FC236}">
                <a16:creationId xmlns:a16="http://schemas.microsoft.com/office/drawing/2014/main" id="{12B99AF5-937F-530A-29B4-CC2278663FB1}"/>
              </a:ext>
            </a:extLst>
          </p:cNvPr>
          <p:cNvPicPr>
            <a:picLocks noChangeAspect="1"/>
          </p:cNvPicPr>
          <p:nvPr/>
        </p:nvPicPr>
        <p:blipFill>
          <a:blip r:embed="rId4"/>
          <a:stretch>
            <a:fillRect/>
          </a:stretch>
        </p:blipFill>
        <p:spPr>
          <a:xfrm>
            <a:off x="7384193" y="2987939"/>
            <a:ext cx="1202117" cy="1202117"/>
          </a:xfrm>
          <a:prstGeom prst="rect">
            <a:avLst/>
          </a:prstGeom>
        </p:spPr>
      </p:pic>
      <p:pic>
        <p:nvPicPr>
          <p:cNvPr id="14" name="Image 13">
            <a:extLst>
              <a:ext uri="{FF2B5EF4-FFF2-40B4-BE49-F238E27FC236}">
                <a16:creationId xmlns:a16="http://schemas.microsoft.com/office/drawing/2014/main" id="{0C6B8010-9CBB-C45D-1A4C-CF702A104BBA}"/>
              </a:ext>
            </a:extLst>
          </p:cNvPr>
          <p:cNvPicPr>
            <a:picLocks noChangeAspect="1"/>
          </p:cNvPicPr>
          <p:nvPr/>
        </p:nvPicPr>
        <p:blipFill>
          <a:blip r:embed="rId5"/>
          <a:stretch>
            <a:fillRect/>
          </a:stretch>
        </p:blipFill>
        <p:spPr>
          <a:xfrm>
            <a:off x="3147801" y="1306189"/>
            <a:ext cx="1189529" cy="1189529"/>
          </a:xfrm>
          <a:prstGeom prst="rect">
            <a:avLst/>
          </a:prstGeom>
        </p:spPr>
      </p:pic>
      <p:sp>
        <p:nvSpPr>
          <p:cNvPr id="19" name="Ellipse 18">
            <a:extLst>
              <a:ext uri="{FF2B5EF4-FFF2-40B4-BE49-F238E27FC236}">
                <a16:creationId xmlns:a16="http://schemas.microsoft.com/office/drawing/2014/main" id="{FCF3E82D-95E0-7ECC-EA7E-981BA5D07162}"/>
              </a:ext>
            </a:extLst>
          </p:cNvPr>
          <p:cNvSpPr/>
          <p:nvPr/>
        </p:nvSpPr>
        <p:spPr>
          <a:xfrm>
            <a:off x="1942089" y="2646096"/>
            <a:ext cx="3544311" cy="1942088"/>
          </a:xfrm>
          <a:prstGeom prst="ellipse">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Ellipse 19">
            <a:extLst>
              <a:ext uri="{FF2B5EF4-FFF2-40B4-BE49-F238E27FC236}">
                <a16:creationId xmlns:a16="http://schemas.microsoft.com/office/drawing/2014/main" id="{5D45342F-21BD-6696-67A2-2C7597573742}"/>
              </a:ext>
            </a:extLst>
          </p:cNvPr>
          <p:cNvSpPr/>
          <p:nvPr/>
        </p:nvSpPr>
        <p:spPr>
          <a:xfrm>
            <a:off x="6998265" y="2693297"/>
            <a:ext cx="3544311" cy="1942088"/>
          </a:xfrm>
          <a:prstGeom prst="ellipse">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1" name="Image 20">
            <a:extLst>
              <a:ext uri="{FF2B5EF4-FFF2-40B4-BE49-F238E27FC236}">
                <a16:creationId xmlns:a16="http://schemas.microsoft.com/office/drawing/2014/main" id="{03EBE08D-6F10-5C24-8D3C-B7AAA9770BD0}"/>
              </a:ext>
            </a:extLst>
          </p:cNvPr>
          <p:cNvPicPr>
            <a:picLocks noChangeAspect="1"/>
          </p:cNvPicPr>
          <p:nvPr/>
        </p:nvPicPr>
        <p:blipFill>
          <a:blip r:embed="rId6"/>
          <a:stretch>
            <a:fillRect/>
          </a:stretch>
        </p:blipFill>
        <p:spPr>
          <a:xfrm>
            <a:off x="692319" y="3147799"/>
            <a:ext cx="805382" cy="805382"/>
          </a:xfrm>
          <a:prstGeom prst="rect">
            <a:avLst/>
          </a:prstGeom>
        </p:spPr>
      </p:pic>
      <p:pic>
        <p:nvPicPr>
          <p:cNvPr id="22" name="Image 21">
            <a:extLst>
              <a:ext uri="{FF2B5EF4-FFF2-40B4-BE49-F238E27FC236}">
                <a16:creationId xmlns:a16="http://schemas.microsoft.com/office/drawing/2014/main" id="{93C03DAE-1D63-E255-0E35-E427F47C1A90}"/>
              </a:ext>
            </a:extLst>
          </p:cNvPr>
          <p:cNvPicPr>
            <a:picLocks noChangeAspect="1"/>
          </p:cNvPicPr>
          <p:nvPr/>
        </p:nvPicPr>
        <p:blipFill>
          <a:blip r:embed="rId6"/>
          <a:stretch>
            <a:fillRect/>
          </a:stretch>
        </p:blipFill>
        <p:spPr>
          <a:xfrm>
            <a:off x="10886937" y="3186911"/>
            <a:ext cx="805382" cy="805382"/>
          </a:xfrm>
          <a:prstGeom prst="rect">
            <a:avLst/>
          </a:prstGeom>
        </p:spPr>
      </p:pic>
      <p:pic>
        <p:nvPicPr>
          <p:cNvPr id="23" name="Image 22">
            <a:extLst>
              <a:ext uri="{FF2B5EF4-FFF2-40B4-BE49-F238E27FC236}">
                <a16:creationId xmlns:a16="http://schemas.microsoft.com/office/drawing/2014/main" id="{2FC6A4CB-5453-DBB9-C894-F16A40735978}"/>
              </a:ext>
            </a:extLst>
          </p:cNvPr>
          <p:cNvPicPr>
            <a:picLocks noChangeAspect="1"/>
          </p:cNvPicPr>
          <p:nvPr/>
        </p:nvPicPr>
        <p:blipFill>
          <a:blip r:embed="rId5"/>
          <a:stretch>
            <a:fillRect/>
          </a:stretch>
        </p:blipFill>
        <p:spPr>
          <a:xfrm>
            <a:off x="8365815" y="1329116"/>
            <a:ext cx="1189529" cy="1189529"/>
          </a:xfrm>
          <a:prstGeom prst="rect">
            <a:avLst/>
          </a:prstGeom>
        </p:spPr>
      </p:pic>
      <p:cxnSp>
        <p:nvCxnSpPr>
          <p:cNvPr id="31" name="Connecteur en angle 30">
            <a:extLst>
              <a:ext uri="{FF2B5EF4-FFF2-40B4-BE49-F238E27FC236}">
                <a16:creationId xmlns:a16="http://schemas.microsoft.com/office/drawing/2014/main" id="{9D939F30-24E7-6703-DD35-0FB489439814}"/>
              </a:ext>
            </a:extLst>
          </p:cNvPr>
          <p:cNvCxnSpPr>
            <a:cxnSpLocks/>
            <a:stCxn id="8" idx="0"/>
            <a:endCxn id="5" idx="0"/>
          </p:cNvCxnSpPr>
          <p:nvPr/>
        </p:nvCxnSpPr>
        <p:spPr>
          <a:xfrm rot="16200000" flipH="1" flipV="1">
            <a:off x="5317058" y="398459"/>
            <a:ext cx="78715" cy="5257673"/>
          </a:xfrm>
          <a:prstGeom prst="bentConnector3">
            <a:avLst>
              <a:gd name="adj1" fmla="val -29041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eur en angle 33">
            <a:extLst>
              <a:ext uri="{FF2B5EF4-FFF2-40B4-BE49-F238E27FC236}">
                <a16:creationId xmlns:a16="http://schemas.microsoft.com/office/drawing/2014/main" id="{0F7206DD-3DA4-A786-45BE-183371D07888}"/>
              </a:ext>
            </a:extLst>
          </p:cNvPr>
          <p:cNvCxnSpPr>
            <a:cxnSpLocks/>
            <a:stCxn id="7" idx="2"/>
            <a:endCxn id="6" idx="2"/>
          </p:cNvCxnSpPr>
          <p:nvPr/>
        </p:nvCxnSpPr>
        <p:spPr>
          <a:xfrm rot="5400000" flipH="1" flipV="1">
            <a:off x="6954296" y="1475649"/>
            <a:ext cx="78715" cy="5268590"/>
          </a:xfrm>
          <a:prstGeom prst="bentConnector3">
            <a:avLst>
              <a:gd name="adj1" fmla="val -29041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36">
            <a:extLst>
              <a:ext uri="{FF2B5EF4-FFF2-40B4-BE49-F238E27FC236}">
                <a16:creationId xmlns:a16="http://schemas.microsoft.com/office/drawing/2014/main" id="{25DABA02-890E-0BEF-0DDC-F5803379FC31}"/>
              </a:ext>
            </a:extLst>
          </p:cNvPr>
          <p:cNvCxnSpPr>
            <a:stCxn id="14" idx="3"/>
            <a:endCxn id="23" idx="1"/>
          </p:cNvCxnSpPr>
          <p:nvPr/>
        </p:nvCxnSpPr>
        <p:spPr>
          <a:xfrm>
            <a:off x="4337330" y="1900954"/>
            <a:ext cx="4028485" cy="2292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FAD678E9-31D3-8043-9161-1489A9934923}"/>
              </a:ext>
            </a:extLst>
          </p:cNvPr>
          <p:cNvSpPr txBox="1"/>
          <p:nvPr/>
        </p:nvSpPr>
        <p:spPr>
          <a:xfrm>
            <a:off x="5737254" y="1675050"/>
            <a:ext cx="153279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rPr>
              <a:t>Retail agreement</a:t>
            </a:r>
            <a:endParaRPr kumimoji="0" lang="en-US" sz="18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sp>
        <p:nvSpPr>
          <p:cNvPr id="40" name="ZoneTexte 39">
            <a:extLst>
              <a:ext uri="{FF2B5EF4-FFF2-40B4-BE49-F238E27FC236}">
                <a16:creationId xmlns:a16="http://schemas.microsoft.com/office/drawing/2014/main" id="{A43AB24B-9646-4B70-3CC5-5678CBB12EAF}"/>
              </a:ext>
            </a:extLst>
          </p:cNvPr>
          <p:cNvSpPr txBox="1"/>
          <p:nvPr/>
        </p:nvSpPr>
        <p:spPr>
          <a:xfrm>
            <a:off x="3186914" y="1066798"/>
            <a:ext cx="80342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Montserrat" pitchFamily="2" charset="77"/>
                <a:ea typeface="+mn-ea"/>
                <a:cs typeface="+mn-cs"/>
              </a:rPr>
              <a:t>Coorp</a:t>
            </a:r>
            <a:r>
              <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rPr>
              <a:t> A</a:t>
            </a:r>
            <a:endParaRPr kumimoji="0" lang="en-US" sz="18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sp>
        <p:nvSpPr>
          <p:cNvPr id="41" name="ZoneTexte 40">
            <a:extLst>
              <a:ext uri="{FF2B5EF4-FFF2-40B4-BE49-F238E27FC236}">
                <a16:creationId xmlns:a16="http://schemas.microsoft.com/office/drawing/2014/main" id="{0C98F670-7614-6AA2-10DE-4E9B3B445C8F}"/>
              </a:ext>
            </a:extLst>
          </p:cNvPr>
          <p:cNvSpPr txBox="1"/>
          <p:nvPr/>
        </p:nvSpPr>
        <p:spPr>
          <a:xfrm>
            <a:off x="8542493" y="1105910"/>
            <a:ext cx="8082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Montserrat" pitchFamily="2" charset="77"/>
                <a:ea typeface="+mn-ea"/>
                <a:cs typeface="+mn-cs"/>
              </a:rPr>
              <a:t>Coorp</a:t>
            </a:r>
            <a:r>
              <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rPr>
              <a:t> B</a:t>
            </a:r>
            <a:endParaRPr kumimoji="0" lang="en-US" sz="18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cxnSp>
        <p:nvCxnSpPr>
          <p:cNvPr id="43" name="Connecteur droit avec flèche 42">
            <a:extLst>
              <a:ext uri="{FF2B5EF4-FFF2-40B4-BE49-F238E27FC236}">
                <a16:creationId xmlns:a16="http://schemas.microsoft.com/office/drawing/2014/main" id="{501B2A18-3AF9-44D0-268E-317B98857271}"/>
              </a:ext>
            </a:extLst>
          </p:cNvPr>
          <p:cNvCxnSpPr>
            <a:cxnSpLocks/>
            <a:stCxn id="6" idx="3"/>
            <a:endCxn id="22" idx="1"/>
          </p:cNvCxnSpPr>
          <p:nvPr/>
        </p:nvCxnSpPr>
        <p:spPr>
          <a:xfrm>
            <a:off x="10109537" y="3588998"/>
            <a:ext cx="777400" cy="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6AA19FD4-2969-BCCA-74C4-AC44A979A39A}"/>
              </a:ext>
            </a:extLst>
          </p:cNvPr>
          <p:cNvCxnSpPr>
            <a:stCxn id="5" idx="1"/>
            <a:endCxn id="21" idx="3"/>
          </p:cNvCxnSpPr>
          <p:nvPr/>
        </p:nvCxnSpPr>
        <p:spPr>
          <a:xfrm flipH="1">
            <a:off x="1497701" y="3548243"/>
            <a:ext cx="748289" cy="2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Image 52">
            <a:extLst>
              <a:ext uri="{FF2B5EF4-FFF2-40B4-BE49-F238E27FC236}">
                <a16:creationId xmlns:a16="http://schemas.microsoft.com/office/drawing/2014/main" id="{0614F84B-00A2-398C-1B24-EADEACA0B581}"/>
              </a:ext>
            </a:extLst>
          </p:cNvPr>
          <p:cNvPicPr>
            <a:picLocks noChangeAspect="1"/>
          </p:cNvPicPr>
          <p:nvPr/>
        </p:nvPicPr>
        <p:blipFill>
          <a:blip r:embed="rId7"/>
          <a:stretch>
            <a:fillRect/>
          </a:stretch>
        </p:blipFill>
        <p:spPr>
          <a:xfrm>
            <a:off x="3944867" y="4584827"/>
            <a:ext cx="5984060" cy="159575"/>
          </a:xfrm>
          <a:prstGeom prst="rect">
            <a:avLst/>
          </a:prstGeom>
        </p:spPr>
      </p:pic>
      <p:pic>
        <p:nvPicPr>
          <p:cNvPr id="54" name="Image 53">
            <a:extLst>
              <a:ext uri="{FF2B5EF4-FFF2-40B4-BE49-F238E27FC236}">
                <a16:creationId xmlns:a16="http://schemas.microsoft.com/office/drawing/2014/main" id="{0A6060ED-BD15-43D3-B455-03D32E4F6B42}"/>
              </a:ext>
            </a:extLst>
          </p:cNvPr>
          <p:cNvPicPr>
            <a:picLocks noChangeAspect="1"/>
          </p:cNvPicPr>
          <p:nvPr/>
        </p:nvPicPr>
        <p:blipFill>
          <a:blip r:embed="rId8"/>
          <a:stretch>
            <a:fillRect/>
          </a:stretch>
        </p:blipFill>
        <p:spPr>
          <a:xfrm>
            <a:off x="2423565" y="2552648"/>
            <a:ext cx="6024520" cy="160654"/>
          </a:xfrm>
          <a:prstGeom prst="rect">
            <a:avLst/>
          </a:prstGeom>
        </p:spPr>
      </p:pic>
      <p:pic>
        <p:nvPicPr>
          <p:cNvPr id="55" name="Image 54">
            <a:extLst>
              <a:ext uri="{FF2B5EF4-FFF2-40B4-BE49-F238E27FC236}">
                <a16:creationId xmlns:a16="http://schemas.microsoft.com/office/drawing/2014/main" id="{317B7A59-77D8-1163-197C-DA5A6B11A5F7}"/>
              </a:ext>
            </a:extLst>
          </p:cNvPr>
          <p:cNvPicPr>
            <a:picLocks noChangeAspect="1"/>
          </p:cNvPicPr>
          <p:nvPr/>
        </p:nvPicPr>
        <p:blipFill>
          <a:blip r:embed="rId9"/>
          <a:stretch>
            <a:fillRect/>
          </a:stretch>
        </p:blipFill>
        <p:spPr>
          <a:xfrm>
            <a:off x="2743706" y="4037492"/>
            <a:ext cx="2378552" cy="164748"/>
          </a:xfrm>
          <a:prstGeom prst="rect">
            <a:avLst/>
          </a:prstGeom>
        </p:spPr>
      </p:pic>
      <p:pic>
        <p:nvPicPr>
          <p:cNvPr id="56" name="Image 55">
            <a:extLst>
              <a:ext uri="{FF2B5EF4-FFF2-40B4-BE49-F238E27FC236}">
                <a16:creationId xmlns:a16="http://schemas.microsoft.com/office/drawing/2014/main" id="{E6E7B548-284D-065A-4CB5-7E2AC0919CDB}"/>
              </a:ext>
            </a:extLst>
          </p:cNvPr>
          <p:cNvPicPr>
            <a:picLocks noChangeAspect="1"/>
          </p:cNvPicPr>
          <p:nvPr/>
        </p:nvPicPr>
        <p:blipFill>
          <a:blip r:embed="rId10"/>
          <a:stretch>
            <a:fillRect/>
          </a:stretch>
        </p:blipFill>
        <p:spPr>
          <a:xfrm>
            <a:off x="7775210" y="4102661"/>
            <a:ext cx="2129354" cy="148129"/>
          </a:xfrm>
          <a:prstGeom prst="rect">
            <a:avLst/>
          </a:prstGeom>
        </p:spPr>
      </p:pic>
      <p:sp>
        <p:nvSpPr>
          <p:cNvPr id="57" name="ZoneTexte 56">
            <a:extLst>
              <a:ext uri="{FF2B5EF4-FFF2-40B4-BE49-F238E27FC236}">
                <a16:creationId xmlns:a16="http://schemas.microsoft.com/office/drawing/2014/main" id="{5144ECAB-2721-79E8-DD77-7D528D93520A}"/>
              </a:ext>
            </a:extLst>
          </p:cNvPr>
          <p:cNvSpPr txBox="1"/>
          <p:nvPr/>
        </p:nvSpPr>
        <p:spPr>
          <a:xfrm>
            <a:off x="2175409" y="4975252"/>
            <a:ext cx="124104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rPr>
              <a:t>Shop A retails</a:t>
            </a:r>
            <a:endParaRPr kumimoji="0" lang="en-US" sz="18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sp>
        <p:nvSpPr>
          <p:cNvPr id="58" name="ZoneTexte 57">
            <a:extLst>
              <a:ext uri="{FF2B5EF4-FFF2-40B4-BE49-F238E27FC236}">
                <a16:creationId xmlns:a16="http://schemas.microsoft.com/office/drawing/2014/main" id="{189EF907-EE76-1196-CCE4-B27AD6E33A64}"/>
              </a:ext>
            </a:extLst>
          </p:cNvPr>
          <p:cNvSpPr txBox="1"/>
          <p:nvPr/>
        </p:nvSpPr>
        <p:spPr>
          <a:xfrm>
            <a:off x="9019924" y="5071007"/>
            <a:ext cx="124104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rPr>
              <a:t>Shop B retails</a:t>
            </a:r>
            <a:endParaRPr kumimoji="0" lang="en-US" sz="18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pic>
        <p:nvPicPr>
          <p:cNvPr id="59" name="Image 58">
            <a:extLst>
              <a:ext uri="{FF2B5EF4-FFF2-40B4-BE49-F238E27FC236}">
                <a16:creationId xmlns:a16="http://schemas.microsoft.com/office/drawing/2014/main" id="{CC32831E-1B9E-49D4-118A-0820C8FD3BAF}"/>
              </a:ext>
            </a:extLst>
          </p:cNvPr>
          <p:cNvPicPr>
            <a:picLocks noChangeAspect="1"/>
          </p:cNvPicPr>
          <p:nvPr/>
        </p:nvPicPr>
        <p:blipFill>
          <a:blip r:embed="rId11"/>
          <a:stretch>
            <a:fillRect/>
          </a:stretch>
        </p:blipFill>
        <p:spPr>
          <a:xfrm>
            <a:off x="1954002" y="5370077"/>
            <a:ext cx="1778000" cy="228600"/>
          </a:xfrm>
          <a:prstGeom prst="rect">
            <a:avLst/>
          </a:prstGeom>
        </p:spPr>
      </p:pic>
      <p:pic>
        <p:nvPicPr>
          <p:cNvPr id="60" name="Image 59">
            <a:extLst>
              <a:ext uri="{FF2B5EF4-FFF2-40B4-BE49-F238E27FC236}">
                <a16:creationId xmlns:a16="http://schemas.microsoft.com/office/drawing/2014/main" id="{6E9542F1-3D79-2EDB-1815-609FE9881910}"/>
              </a:ext>
            </a:extLst>
          </p:cNvPr>
          <p:cNvPicPr>
            <a:picLocks noChangeAspect="1"/>
          </p:cNvPicPr>
          <p:nvPr/>
        </p:nvPicPr>
        <p:blipFill>
          <a:blip r:embed="rId12"/>
          <a:stretch>
            <a:fillRect/>
          </a:stretch>
        </p:blipFill>
        <p:spPr>
          <a:xfrm>
            <a:off x="8833974" y="5434813"/>
            <a:ext cx="1790700" cy="228600"/>
          </a:xfrm>
          <a:prstGeom prst="rect">
            <a:avLst/>
          </a:prstGeom>
        </p:spPr>
      </p:pic>
      <p:sp>
        <p:nvSpPr>
          <p:cNvPr id="64" name="Titre 1">
            <a:extLst>
              <a:ext uri="{FF2B5EF4-FFF2-40B4-BE49-F238E27FC236}">
                <a16:creationId xmlns:a16="http://schemas.microsoft.com/office/drawing/2014/main" id="{4C62FC7D-4435-03BA-4915-ECCDF3610C7D}"/>
              </a:ext>
            </a:extLst>
          </p:cNvPr>
          <p:cNvSpPr>
            <a:spLocks noGrp="1"/>
          </p:cNvSpPr>
          <p:nvPr>
            <p:ph type="title"/>
          </p:nvPr>
        </p:nvSpPr>
        <p:spPr>
          <a:xfrm>
            <a:off x="0" y="0"/>
            <a:ext cx="10515600" cy="557367"/>
          </a:xfrm>
        </p:spPr>
        <p:txBody>
          <a:bodyPr>
            <a:noAutofit/>
          </a:bodyPr>
          <a:lstStyle/>
          <a:p>
            <a:r>
              <a:rPr lang="en-US" sz="2800" b="1" dirty="0">
                <a:latin typeface="Montserrat" pitchFamily="2" charset="77"/>
                <a:ea typeface="Fira Code" pitchFamily="49" charset="0"/>
                <a:cs typeface="Fira Code" pitchFamily="49" charset="0"/>
              </a:rPr>
              <a:t>Business problem to solve	</a:t>
            </a:r>
          </a:p>
        </p:txBody>
      </p:sp>
      <p:cxnSp>
        <p:nvCxnSpPr>
          <p:cNvPr id="67" name="Connecteur droit avec flèche 66">
            <a:extLst>
              <a:ext uri="{FF2B5EF4-FFF2-40B4-BE49-F238E27FC236}">
                <a16:creationId xmlns:a16="http://schemas.microsoft.com/office/drawing/2014/main" id="{840C034B-72B1-5B7B-7AAE-93C287258083}"/>
              </a:ext>
            </a:extLst>
          </p:cNvPr>
          <p:cNvCxnSpPr>
            <a:stCxn id="7" idx="1"/>
            <a:endCxn id="5" idx="3"/>
          </p:cNvCxnSpPr>
          <p:nvPr/>
        </p:nvCxnSpPr>
        <p:spPr>
          <a:xfrm flipH="1">
            <a:off x="3209167" y="3548243"/>
            <a:ext cx="549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Connecteur droit avec flèche 70">
            <a:extLst>
              <a:ext uri="{FF2B5EF4-FFF2-40B4-BE49-F238E27FC236}">
                <a16:creationId xmlns:a16="http://schemas.microsoft.com/office/drawing/2014/main" id="{02A6CD20-D5F1-C407-F835-135DB7630436}"/>
              </a:ext>
            </a:extLst>
          </p:cNvPr>
          <p:cNvCxnSpPr>
            <a:stCxn id="8" idx="3"/>
            <a:endCxn id="6" idx="1"/>
          </p:cNvCxnSpPr>
          <p:nvPr/>
        </p:nvCxnSpPr>
        <p:spPr>
          <a:xfrm>
            <a:off x="8586310" y="3588998"/>
            <a:ext cx="560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555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39" grpId="0"/>
      <p:bldP spid="40" grpId="0"/>
      <p:bldP spid="41" grpId="0"/>
      <p:bldP spid="57" grpId="0"/>
      <p:bldP spid="5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A7975-9D24-1E32-9A4B-6B1A0597DD63}"/>
            </a:ext>
          </a:extLst>
        </p:cNvPr>
        <p:cNvGrpSpPr/>
        <p:nvPr/>
      </p:nvGrpSpPr>
      <p:grpSpPr>
        <a:xfrm>
          <a:off x="0" y="0"/>
          <a:ext cx="0" cy="0"/>
          <a:chOff x="0" y="0"/>
          <a:chExt cx="0" cy="0"/>
        </a:xfrm>
      </p:grpSpPr>
      <p:sp>
        <p:nvSpPr>
          <p:cNvPr id="76" name="Rectangle 75">
            <a:extLst>
              <a:ext uri="{FF2B5EF4-FFF2-40B4-BE49-F238E27FC236}">
                <a16:creationId xmlns:a16="http://schemas.microsoft.com/office/drawing/2014/main" id="{50E6CF2C-AF26-0EE0-8895-FD277A8DBFED}"/>
              </a:ext>
            </a:extLst>
          </p:cNvPr>
          <p:cNvSpPr/>
          <p:nvPr/>
        </p:nvSpPr>
        <p:spPr>
          <a:xfrm>
            <a:off x="267037" y="4887588"/>
            <a:ext cx="11555427" cy="1626499"/>
          </a:xfrm>
          <a:prstGeom prst="rect">
            <a:avLst/>
          </a:prstGeom>
          <a:solidFill>
            <a:srgbClr val="0070C0">
              <a:alpha val="6270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 4">
            <a:extLst>
              <a:ext uri="{FF2B5EF4-FFF2-40B4-BE49-F238E27FC236}">
                <a16:creationId xmlns:a16="http://schemas.microsoft.com/office/drawing/2014/main" id="{C7DEF36C-3EE0-7200-697B-C4C838ACF5FB}"/>
              </a:ext>
            </a:extLst>
          </p:cNvPr>
          <p:cNvPicPr>
            <a:picLocks noChangeAspect="1"/>
          </p:cNvPicPr>
          <p:nvPr/>
        </p:nvPicPr>
        <p:blipFill>
          <a:blip r:embed="rId3"/>
          <a:stretch>
            <a:fillRect/>
          </a:stretch>
        </p:blipFill>
        <p:spPr>
          <a:xfrm>
            <a:off x="3856305" y="2386923"/>
            <a:ext cx="963177" cy="963177"/>
          </a:xfrm>
          <a:prstGeom prst="rect">
            <a:avLst/>
          </a:prstGeom>
        </p:spPr>
      </p:pic>
      <p:pic>
        <p:nvPicPr>
          <p:cNvPr id="7" name="Image 6">
            <a:extLst>
              <a:ext uri="{FF2B5EF4-FFF2-40B4-BE49-F238E27FC236}">
                <a16:creationId xmlns:a16="http://schemas.microsoft.com/office/drawing/2014/main" id="{C16E74FF-55D9-EB78-697B-A676347DBA5E}"/>
              </a:ext>
            </a:extLst>
          </p:cNvPr>
          <p:cNvPicPr>
            <a:picLocks noChangeAspect="1"/>
          </p:cNvPicPr>
          <p:nvPr/>
        </p:nvPicPr>
        <p:blipFill>
          <a:blip r:embed="rId4"/>
          <a:stretch>
            <a:fillRect/>
          </a:stretch>
        </p:blipFill>
        <p:spPr>
          <a:xfrm>
            <a:off x="3736835" y="3680751"/>
            <a:ext cx="1202117" cy="1202117"/>
          </a:xfrm>
          <a:prstGeom prst="rect">
            <a:avLst/>
          </a:prstGeom>
        </p:spPr>
      </p:pic>
      <p:pic>
        <p:nvPicPr>
          <p:cNvPr id="8" name="Image 7">
            <a:extLst>
              <a:ext uri="{FF2B5EF4-FFF2-40B4-BE49-F238E27FC236}">
                <a16:creationId xmlns:a16="http://schemas.microsoft.com/office/drawing/2014/main" id="{F8E08C1A-D1B6-2E84-AF5A-FAE4B555E481}"/>
              </a:ext>
            </a:extLst>
          </p:cNvPr>
          <p:cNvPicPr>
            <a:picLocks noChangeAspect="1"/>
          </p:cNvPicPr>
          <p:nvPr/>
        </p:nvPicPr>
        <p:blipFill>
          <a:blip r:embed="rId4"/>
          <a:stretch>
            <a:fillRect/>
          </a:stretch>
        </p:blipFill>
        <p:spPr>
          <a:xfrm>
            <a:off x="7432746" y="971429"/>
            <a:ext cx="1202117" cy="1202117"/>
          </a:xfrm>
          <a:prstGeom prst="rect">
            <a:avLst/>
          </a:prstGeom>
        </p:spPr>
      </p:pic>
      <p:pic>
        <p:nvPicPr>
          <p:cNvPr id="14" name="Image 13">
            <a:extLst>
              <a:ext uri="{FF2B5EF4-FFF2-40B4-BE49-F238E27FC236}">
                <a16:creationId xmlns:a16="http://schemas.microsoft.com/office/drawing/2014/main" id="{FBF69034-78E6-F9A0-45FC-CF2DF3772809}"/>
              </a:ext>
            </a:extLst>
          </p:cNvPr>
          <p:cNvPicPr>
            <a:picLocks noChangeAspect="1"/>
          </p:cNvPicPr>
          <p:nvPr/>
        </p:nvPicPr>
        <p:blipFill>
          <a:blip r:embed="rId5"/>
          <a:stretch>
            <a:fillRect/>
          </a:stretch>
        </p:blipFill>
        <p:spPr>
          <a:xfrm>
            <a:off x="3851808" y="901587"/>
            <a:ext cx="1189529" cy="1189529"/>
          </a:xfrm>
          <a:prstGeom prst="rect">
            <a:avLst/>
          </a:prstGeom>
        </p:spPr>
      </p:pic>
      <p:sp>
        <p:nvSpPr>
          <p:cNvPr id="19" name="Ellipse 18">
            <a:extLst>
              <a:ext uri="{FF2B5EF4-FFF2-40B4-BE49-F238E27FC236}">
                <a16:creationId xmlns:a16="http://schemas.microsoft.com/office/drawing/2014/main" id="{18ABB57B-DB2F-8D96-3C2E-9D8E0E3D8AA5}"/>
              </a:ext>
            </a:extLst>
          </p:cNvPr>
          <p:cNvSpPr/>
          <p:nvPr/>
        </p:nvSpPr>
        <p:spPr>
          <a:xfrm>
            <a:off x="2646096" y="2241494"/>
            <a:ext cx="3544311" cy="2468070"/>
          </a:xfrm>
          <a:prstGeom prst="ellipse">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1" name="Image 20">
            <a:extLst>
              <a:ext uri="{FF2B5EF4-FFF2-40B4-BE49-F238E27FC236}">
                <a16:creationId xmlns:a16="http://schemas.microsoft.com/office/drawing/2014/main" id="{ABC34B05-290B-D338-D310-2E19209F2C9F}"/>
              </a:ext>
            </a:extLst>
          </p:cNvPr>
          <p:cNvPicPr>
            <a:picLocks noChangeAspect="1"/>
          </p:cNvPicPr>
          <p:nvPr/>
        </p:nvPicPr>
        <p:blipFill>
          <a:blip r:embed="rId6"/>
          <a:stretch>
            <a:fillRect/>
          </a:stretch>
        </p:blipFill>
        <p:spPr>
          <a:xfrm>
            <a:off x="1396326" y="2459976"/>
            <a:ext cx="805382" cy="805382"/>
          </a:xfrm>
          <a:prstGeom prst="rect">
            <a:avLst/>
          </a:prstGeom>
        </p:spPr>
      </p:pic>
      <p:sp>
        <p:nvSpPr>
          <p:cNvPr id="40" name="ZoneTexte 39">
            <a:extLst>
              <a:ext uri="{FF2B5EF4-FFF2-40B4-BE49-F238E27FC236}">
                <a16:creationId xmlns:a16="http://schemas.microsoft.com/office/drawing/2014/main" id="{569EAAD1-DA95-DA92-AF3B-01E602E33FF2}"/>
              </a:ext>
            </a:extLst>
          </p:cNvPr>
          <p:cNvSpPr txBox="1"/>
          <p:nvPr/>
        </p:nvSpPr>
        <p:spPr>
          <a:xfrm>
            <a:off x="3890921" y="662196"/>
            <a:ext cx="80342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Montserrat" pitchFamily="2" charset="77"/>
                <a:ea typeface="+mn-ea"/>
                <a:cs typeface="+mn-cs"/>
              </a:rPr>
              <a:t>Coorp</a:t>
            </a:r>
            <a:r>
              <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rPr>
              <a:t> A</a:t>
            </a:r>
            <a:endParaRPr kumimoji="0" lang="en-US" sz="18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cxnSp>
        <p:nvCxnSpPr>
          <p:cNvPr id="47" name="Connecteur droit avec flèche 46">
            <a:extLst>
              <a:ext uri="{FF2B5EF4-FFF2-40B4-BE49-F238E27FC236}">
                <a16:creationId xmlns:a16="http://schemas.microsoft.com/office/drawing/2014/main" id="{BB70439C-A74F-2DEB-E147-96B11C58721E}"/>
              </a:ext>
            </a:extLst>
          </p:cNvPr>
          <p:cNvCxnSpPr>
            <a:stCxn id="5" idx="1"/>
            <a:endCxn id="21" idx="3"/>
          </p:cNvCxnSpPr>
          <p:nvPr/>
        </p:nvCxnSpPr>
        <p:spPr>
          <a:xfrm flipH="1" flipV="1">
            <a:off x="2201708" y="2862667"/>
            <a:ext cx="1654597" cy="5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ZoneTexte 62">
            <a:extLst>
              <a:ext uri="{FF2B5EF4-FFF2-40B4-BE49-F238E27FC236}">
                <a16:creationId xmlns:a16="http://schemas.microsoft.com/office/drawing/2014/main" id="{72E6397C-5810-58C1-4D4C-2B67979CB0B6}"/>
              </a:ext>
            </a:extLst>
          </p:cNvPr>
          <p:cNvSpPr txBox="1"/>
          <p:nvPr/>
        </p:nvSpPr>
        <p:spPr>
          <a:xfrm>
            <a:off x="372234" y="5066949"/>
            <a:ext cx="11314316"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Montserrat" pitchFamily="2" charset="77"/>
                <a:ea typeface="+mn-ea"/>
                <a:cs typeface="+mn-cs"/>
              </a:rPr>
              <a:t>Base requirements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ontserrat" pitchFamily="2" charset="77"/>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Understand (read and interpret) the product management information contained in the </a:t>
            </a:r>
            <a:r>
              <a:rPr kumimoji="0" lang="en-US" sz="1600" b="1" i="0" u="none" strike="noStrike" kern="1200" cap="none" spc="0" normalizeH="0" baseline="0" noProof="0" dirty="0">
                <a:ln>
                  <a:noFill/>
                </a:ln>
                <a:solidFill>
                  <a:prstClr val="black"/>
                </a:solidFill>
                <a:effectLst/>
                <a:uLnTx/>
                <a:uFillTx/>
                <a:latin typeface="Montserrat" pitchFamily="2" charset="77"/>
                <a:ea typeface="+mn-ea"/>
                <a:cs typeface="+mn-cs"/>
              </a:rPr>
              <a:t>n</a:t>
            </a: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 suppliers sets,</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Align all sets including our own, so that the shop can retail them.</a:t>
            </a:r>
          </a:p>
        </p:txBody>
      </p:sp>
      <p:pic>
        <p:nvPicPr>
          <p:cNvPr id="3" name="Image 2">
            <a:extLst>
              <a:ext uri="{FF2B5EF4-FFF2-40B4-BE49-F238E27FC236}">
                <a16:creationId xmlns:a16="http://schemas.microsoft.com/office/drawing/2014/main" id="{E689277D-E32E-21A9-D258-5B4CA33B0D0A}"/>
              </a:ext>
            </a:extLst>
          </p:cNvPr>
          <p:cNvPicPr>
            <a:picLocks noChangeAspect="1"/>
          </p:cNvPicPr>
          <p:nvPr/>
        </p:nvPicPr>
        <p:blipFill>
          <a:blip r:embed="rId4"/>
          <a:stretch>
            <a:fillRect/>
          </a:stretch>
        </p:blipFill>
        <p:spPr>
          <a:xfrm>
            <a:off x="7585146" y="1123829"/>
            <a:ext cx="1202117" cy="1202117"/>
          </a:xfrm>
          <a:prstGeom prst="rect">
            <a:avLst/>
          </a:prstGeom>
        </p:spPr>
      </p:pic>
      <p:pic>
        <p:nvPicPr>
          <p:cNvPr id="4" name="Image 3">
            <a:extLst>
              <a:ext uri="{FF2B5EF4-FFF2-40B4-BE49-F238E27FC236}">
                <a16:creationId xmlns:a16="http://schemas.microsoft.com/office/drawing/2014/main" id="{8D84D8A9-FA19-BCB6-49D4-D0D7C1C14500}"/>
              </a:ext>
            </a:extLst>
          </p:cNvPr>
          <p:cNvPicPr>
            <a:picLocks noChangeAspect="1"/>
          </p:cNvPicPr>
          <p:nvPr/>
        </p:nvPicPr>
        <p:blipFill>
          <a:blip r:embed="rId4"/>
          <a:stretch>
            <a:fillRect/>
          </a:stretch>
        </p:blipFill>
        <p:spPr>
          <a:xfrm>
            <a:off x="7737546" y="1276229"/>
            <a:ext cx="1202117" cy="1202117"/>
          </a:xfrm>
          <a:prstGeom prst="rect">
            <a:avLst/>
          </a:prstGeom>
        </p:spPr>
      </p:pic>
      <p:pic>
        <p:nvPicPr>
          <p:cNvPr id="9" name="Image 8">
            <a:extLst>
              <a:ext uri="{FF2B5EF4-FFF2-40B4-BE49-F238E27FC236}">
                <a16:creationId xmlns:a16="http://schemas.microsoft.com/office/drawing/2014/main" id="{A36C8B50-29ED-CDA3-E0C1-234C3710C6B8}"/>
              </a:ext>
            </a:extLst>
          </p:cNvPr>
          <p:cNvPicPr>
            <a:picLocks noChangeAspect="1"/>
          </p:cNvPicPr>
          <p:nvPr/>
        </p:nvPicPr>
        <p:blipFill>
          <a:blip r:embed="rId4"/>
          <a:stretch>
            <a:fillRect/>
          </a:stretch>
        </p:blipFill>
        <p:spPr>
          <a:xfrm>
            <a:off x="7889946" y="1428629"/>
            <a:ext cx="1202117" cy="1202117"/>
          </a:xfrm>
          <a:prstGeom prst="rect">
            <a:avLst/>
          </a:prstGeom>
        </p:spPr>
      </p:pic>
      <p:pic>
        <p:nvPicPr>
          <p:cNvPr id="10" name="Image 9">
            <a:extLst>
              <a:ext uri="{FF2B5EF4-FFF2-40B4-BE49-F238E27FC236}">
                <a16:creationId xmlns:a16="http://schemas.microsoft.com/office/drawing/2014/main" id="{8EB4615D-1A00-FFC3-9E57-AA916AE816F4}"/>
              </a:ext>
            </a:extLst>
          </p:cNvPr>
          <p:cNvPicPr>
            <a:picLocks noChangeAspect="1"/>
          </p:cNvPicPr>
          <p:nvPr/>
        </p:nvPicPr>
        <p:blipFill>
          <a:blip r:embed="rId4"/>
          <a:stretch>
            <a:fillRect/>
          </a:stretch>
        </p:blipFill>
        <p:spPr>
          <a:xfrm>
            <a:off x="8042346" y="1581029"/>
            <a:ext cx="1202117" cy="1202117"/>
          </a:xfrm>
          <a:prstGeom prst="rect">
            <a:avLst/>
          </a:prstGeom>
        </p:spPr>
      </p:pic>
      <p:pic>
        <p:nvPicPr>
          <p:cNvPr id="11" name="Image 10">
            <a:extLst>
              <a:ext uri="{FF2B5EF4-FFF2-40B4-BE49-F238E27FC236}">
                <a16:creationId xmlns:a16="http://schemas.microsoft.com/office/drawing/2014/main" id="{726AFFAC-690D-CDBD-7895-C45BCF99EA92}"/>
              </a:ext>
            </a:extLst>
          </p:cNvPr>
          <p:cNvPicPr>
            <a:picLocks noChangeAspect="1"/>
          </p:cNvPicPr>
          <p:nvPr/>
        </p:nvPicPr>
        <p:blipFill>
          <a:blip r:embed="rId4"/>
          <a:stretch>
            <a:fillRect/>
          </a:stretch>
        </p:blipFill>
        <p:spPr>
          <a:xfrm>
            <a:off x="8194746" y="1733429"/>
            <a:ext cx="1202117" cy="1202117"/>
          </a:xfrm>
          <a:prstGeom prst="rect">
            <a:avLst/>
          </a:prstGeom>
        </p:spPr>
      </p:pic>
      <p:pic>
        <p:nvPicPr>
          <p:cNvPr id="12" name="Image 11">
            <a:extLst>
              <a:ext uri="{FF2B5EF4-FFF2-40B4-BE49-F238E27FC236}">
                <a16:creationId xmlns:a16="http://schemas.microsoft.com/office/drawing/2014/main" id="{1574A987-B9F0-E87B-4EAE-6FA265EC6D2D}"/>
              </a:ext>
            </a:extLst>
          </p:cNvPr>
          <p:cNvPicPr>
            <a:picLocks noChangeAspect="1"/>
          </p:cNvPicPr>
          <p:nvPr/>
        </p:nvPicPr>
        <p:blipFill>
          <a:blip r:embed="rId4"/>
          <a:stretch>
            <a:fillRect/>
          </a:stretch>
        </p:blipFill>
        <p:spPr>
          <a:xfrm>
            <a:off x="8347146" y="1885829"/>
            <a:ext cx="1202117" cy="1202117"/>
          </a:xfrm>
          <a:prstGeom prst="rect">
            <a:avLst/>
          </a:prstGeom>
        </p:spPr>
      </p:pic>
      <p:pic>
        <p:nvPicPr>
          <p:cNvPr id="13" name="Image 12">
            <a:extLst>
              <a:ext uri="{FF2B5EF4-FFF2-40B4-BE49-F238E27FC236}">
                <a16:creationId xmlns:a16="http://schemas.microsoft.com/office/drawing/2014/main" id="{13C18588-721D-4FB0-EFA4-DCA686EC2CE2}"/>
              </a:ext>
            </a:extLst>
          </p:cNvPr>
          <p:cNvPicPr>
            <a:picLocks noChangeAspect="1"/>
          </p:cNvPicPr>
          <p:nvPr/>
        </p:nvPicPr>
        <p:blipFill>
          <a:blip r:embed="rId4"/>
          <a:stretch>
            <a:fillRect/>
          </a:stretch>
        </p:blipFill>
        <p:spPr>
          <a:xfrm>
            <a:off x="8499546" y="2038229"/>
            <a:ext cx="1202117" cy="1202117"/>
          </a:xfrm>
          <a:prstGeom prst="rect">
            <a:avLst/>
          </a:prstGeom>
        </p:spPr>
      </p:pic>
      <p:pic>
        <p:nvPicPr>
          <p:cNvPr id="15" name="Image 14">
            <a:extLst>
              <a:ext uri="{FF2B5EF4-FFF2-40B4-BE49-F238E27FC236}">
                <a16:creationId xmlns:a16="http://schemas.microsoft.com/office/drawing/2014/main" id="{563A564E-460A-4651-64F9-74DEA4382E2F}"/>
              </a:ext>
            </a:extLst>
          </p:cNvPr>
          <p:cNvPicPr>
            <a:picLocks noChangeAspect="1"/>
          </p:cNvPicPr>
          <p:nvPr/>
        </p:nvPicPr>
        <p:blipFill>
          <a:blip r:embed="rId4"/>
          <a:stretch>
            <a:fillRect/>
          </a:stretch>
        </p:blipFill>
        <p:spPr>
          <a:xfrm>
            <a:off x="8651946" y="2190629"/>
            <a:ext cx="1202117" cy="1202117"/>
          </a:xfrm>
          <a:prstGeom prst="rect">
            <a:avLst/>
          </a:prstGeom>
        </p:spPr>
      </p:pic>
      <p:pic>
        <p:nvPicPr>
          <p:cNvPr id="16" name="Image 15">
            <a:extLst>
              <a:ext uri="{FF2B5EF4-FFF2-40B4-BE49-F238E27FC236}">
                <a16:creationId xmlns:a16="http://schemas.microsoft.com/office/drawing/2014/main" id="{F1F25B62-E176-FB0D-B2D7-434995B494B5}"/>
              </a:ext>
            </a:extLst>
          </p:cNvPr>
          <p:cNvPicPr>
            <a:picLocks noChangeAspect="1"/>
          </p:cNvPicPr>
          <p:nvPr/>
        </p:nvPicPr>
        <p:blipFill>
          <a:blip r:embed="rId4"/>
          <a:stretch>
            <a:fillRect/>
          </a:stretch>
        </p:blipFill>
        <p:spPr>
          <a:xfrm>
            <a:off x="8804346" y="2343029"/>
            <a:ext cx="1202117" cy="1202117"/>
          </a:xfrm>
          <a:prstGeom prst="rect">
            <a:avLst/>
          </a:prstGeom>
        </p:spPr>
      </p:pic>
      <p:pic>
        <p:nvPicPr>
          <p:cNvPr id="17" name="Image 16">
            <a:extLst>
              <a:ext uri="{FF2B5EF4-FFF2-40B4-BE49-F238E27FC236}">
                <a16:creationId xmlns:a16="http://schemas.microsoft.com/office/drawing/2014/main" id="{60858A68-6637-E410-F281-317D5DA6AD04}"/>
              </a:ext>
            </a:extLst>
          </p:cNvPr>
          <p:cNvPicPr>
            <a:picLocks noChangeAspect="1"/>
          </p:cNvPicPr>
          <p:nvPr/>
        </p:nvPicPr>
        <p:blipFill>
          <a:blip r:embed="rId4"/>
          <a:stretch>
            <a:fillRect/>
          </a:stretch>
        </p:blipFill>
        <p:spPr>
          <a:xfrm>
            <a:off x="8956746" y="2495429"/>
            <a:ext cx="1202117" cy="1202117"/>
          </a:xfrm>
          <a:prstGeom prst="rect">
            <a:avLst/>
          </a:prstGeom>
        </p:spPr>
      </p:pic>
      <p:pic>
        <p:nvPicPr>
          <p:cNvPr id="18" name="Image 17">
            <a:extLst>
              <a:ext uri="{FF2B5EF4-FFF2-40B4-BE49-F238E27FC236}">
                <a16:creationId xmlns:a16="http://schemas.microsoft.com/office/drawing/2014/main" id="{FBAD9FE3-91AE-41B9-C8FA-5C3CB61490F9}"/>
              </a:ext>
            </a:extLst>
          </p:cNvPr>
          <p:cNvPicPr>
            <a:picLocks noChangeAspect="1"/>
          </p:cNvPicPr>
          <p:nvPr/>
        </p:nvPicPr>
        <p:blipFill>
          <a:blip r:embed="rId4"/>
          <a:stretch>
            <a:fillRect/>
          </a:stretch>
        </p:blipFill>
        <p:spPr>
          <a:xfrm>
            <a:off x="9109146" y="2647829"/>
            <a:ext cx="1202117" cy="1202117"/>
          </a:xfrm>
          <a:prstGeom prst="rect">
            <a:avLst/>
          </a:prstGeom>
        </p:spPr>
      </p:pic>
      <p:pic>
        <p:nvPicPr>
          <p:cNvPr id="24" name="Image 23">
            <a:extLst>
              <a:ext uri="{FF2B5EF4-FFF2-40B4-BE49-F238E27FC236}">
                <a16:creationId xmlns:a16="http://schemas.microsoft.com/office/drawing/2014/main" id="{DADE0B1C-B123-4295-B186-BC89B33C478F}"/>
              </a:ext>
            </a:extLst>
          </p:cNvPr>
          <p:cNvPicPr>
            <a:picLocks noChangeAspect="1"/>
          </p:cNvPicPr>
          <p:nvPr/>
        </p:nvPicPr>
        <p:blipFill>
          <a:blip r:embed="rId4"/>
          <a:stretch>
            <a:fillRect/>
          </a:stretch>
        </p:blipFill>
        <p:spPr>
          <a:xfrm>
            <a:off x="9261546" y="2800229"/>
            <a:ext cx="1202117" cy="1202117"/>
          </a:xfrm>
          <a:prstGeom prst="rect">
            <a:avLst/>
          </a:prstGeom>
        </p:spPr>
      </p:pic>
      <p:pic>
        <p:nvPicPr>
          <p:cNvPr id="25" name="Image 24">
            <a:extLst>
              <a:ext uri="{FF2B5EF4-FFF2-40B4-BE49-F238E27FC236}">
                <a16:creationId xmlns:a16="http://schemas.microsoft.com/office/drawing/2014/main" id="{CAE1449E-9EF7-61E5-3086-51A42E3F521B}"/>
              </a:ext>
            </a:extLst>
          </p:cNvPr>
          <p:cNvPicPr>
            <a:picLocks noChangeAspect="1"/>
          </p:cNvPicPr>
          <p:nvPr/>
        </p:nvPicPr>
        <p:blipFill>
          <a:blip r:embed="rId4"/>
          <a:stretch>
            <a:fillRect/>
          </a:stretch>
        </p:blipFill>
        <p:spPr>
          <a:xfrm>
            <a:off x="9413946" y="2952629"/>
            <a:ext cx="1202117" cy="1202117"/>
          </a:xfrm>
          <a:prstGeom prst="rect">
            <a:avLst/>
          </a:prstGeom>
        </p:spPr>
      </p:pic>
      <p:pic>
        <p:nvPicPr>
          <p:cNvPr id="26" name="Image 25">
            <a:extLst>
              <a:ext uri="{FF2B5EF4-FFF2-40B4-BE49-F238E27FC236}">
                <a16:creationId xmlns:a16="http://schemas.microsoft.com/office/drawing/2014/main" id="{D8677B21-3263-0A67-0695-2BDFBC9059E2}"/>
              </a:ext>
            </a:extLst>
          </p:cNvPr>
          <p:cNvPicPr>
            <a:picLocks noChangeAspect="1"/>
          </p:cNvPicPr>
          <p:nvPr/>
        </p:nvPicPr>
        <p:blipFill>
          <a:blip r:embed="rId4"/>
          <a:stretch>
            <a:fillRect/>
          </a:stretch>
        </p:blipFill>
        <p:spPr>
          <a:xfrm>
            <a:off x="9566346" y="3105029"/>
            <a:ext cx="1202117" cy="1202117"/>
          </a:xfrm>
          <a:prstGeom prst="rect">
            <a:avLst/>
          </a:prstGeom>
        </p:spPr>
      </p:pic>
      <p:pic>
        <p:nvPicPr>
          <p:cNvPr id="27" name="Image 26">
            <a:extLst>
              <a:ext uri="{FF2B5EF4-FFF2-40B4-BE49-F238E27FC236}">
                <a16:creationId xmlns:a16="http://schemas.microsoft.com/office/drawing/2014/main" id="{5C2A1AD6-3060-6736-EFC6-6DD870C0D67C}"/>
              </a:ext>
            </a:extLst>
          </p:cNvPr>
          <p:cNvPicPr>
            <a:picLocks noChangeAspect="1"/>
          </p:cNvPicPr>
          <p:nvPr/>
        </p:nvPicPr>
        <p:blipFill>
          <a:blip r:embed="rId4"/>
          <a:stretch>
            <a:fillRect/>
          </a:stretch>
        </p:blipFill>
        <p:spPr>
          <a:xfrm>
            <a:off x="9718746" y="3257429"/>
            <a:ext cx="1202117" cy="1202117"/>
          </a:xfrm>
          <a:prstGeom prst="rect">
            <a:avLst/>
          </a:prstGeom>
        </p:spPr>
      </p:pic>
      <p:pic>
        <p:nvPicPr>
          <p:cNvPr id="28" name="Image 27">
            <a:extLst>
              <a:ext uri="{FF2B5EF4-FFF2-40B4-BE49-F238E27FC236}">
                <a16:creationId xmlns:a16="http://schemas.microsoft.com/office/drawing/2014/main" id="{26A6FC30-2F1C-1BAA-919C-B59FA35E8B8B}"/>
              </a:ext>
            </a:extLst>
          </p:cNvPr>
          <p:cNvPicPr>
            <a:picLocks noChangeAspect="1"/>
          </p:cNvPicPr>
          <p:nvPr/>
        </p:nvPicPr>
        <p:blipFill>
          <a:blip r:embed="rId4"/>
          <a:stretch>
            <a:fillRect/>
          </a:stretch>
        </p:blipFill>
        <p:spPr>
          <a:xfrm>
            <a:off x="9871146" y="3409829"/>
            <a:ext cx="1202117" cy="1202117"/>
          </a:xfrm>
          <a:prstGeom prst="rect">
            <a:avLst/>
          </a:prstGeom>
        </p:spPr>
      </p:pic>
      <p:grpSp>
        <p:nvGrpSpPr>
          <p:cNvPr id="82" name="Groupe 81">
            <a:extLst>
              <a:ext uri="{FF2B5EF4-FFF2-40B4-BE49-F238E27FC236}">
                <a16:creationId xmlns:a16="http://schemas.microsoft.com/office/drawing/2014/main" id="{C959B105-A164-AD70-316D-4421EF648DA2}"/>
              </a:ext>
            </a:extLst>
          </p:cNvPr>
          <p:cNvGrpSpPr/>
          <p:nvPr/>
        </p:nvGrpSpPr>
        <p:grpSpPr>
          <a:xfrm>
            <a:off x="4819482" y="1724888"/>
            <a:ext cx="5204064" cy="2438400"/>
            <a:chOff x="4819482" y="1724888"/>
            <a:chExt cx="5204064" cy="2438400"/>
          </a:xfrm>
        </p:grpSpPr>
        <p:cxnSp>
          <p:nvCxnSpPr>
            <p:cNvPr id="35" name="Connecteur droit avec flèche 34">
              <a:extLst>
                <a:ext uri="{FF2B5EF4-FFF2-40B4-BE49-F238E27FC236}">
                  <a16:creationId xmlns:a16="http://schemas.microsoft.com/office/drawing/2014/main" id="{0BF3920E-DCC7-DD5D-3B44-7BE3220489D4}"/>
                </a:ext>
              </a:extLst>
            </p:cNvPr>
            <p:cNvCxnSpPr>
              <a:stCxn id="3" idx="1"/>
              <a:endCxn id="5" idx="3"/>
            </p:cNvCxnSpPr>
            <p:nvPr/>
          </p:nvCxnSpPr>
          <p:spPr>
            <a:xfrm flipH="1">
              <a:off x="4819482" y="1724888"/>
              <a:ext cx="2765664" cy="1143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729372F1-0018-5C80-09DD-72EFB6B58DA1}"/>
                </a:ext>
              </a:extLst>
            </p:cNvPr>
            <p:cNvCxnSpPr>
              <a:cxnSpLocks/>
              <a:endCxn id="5" idx="3"/>
            </p:cNvCxnSpPr>
            <p:nvPr/>
          </p:nvCxnSpPr>
          <p:spPr>
            <a:xfrm flipH="1">
              <a:off x="4819482" y="2055377"/>
              <a:ext cx="3062160" cy="813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9DAA3711-7F2A-B946-EB6B-34308E9D9C31}"/>
                </a:ext>
              </a:extLst>
            </p:cNvPr>
            <p:cNvCxnSpPr>
              <a:stCxn id="4" idx="1"/>
              <a:endCxn id="5" idx="3"/>
            </p:cNvCxnSpPr>
            <p:nvPr/>
          </p:nvCxnSpPr>
          <p:spPr>
            <a:xfrm flipH="1">
              <a:off x="4819482" y="1877288"/>
              <a:ext cx="2918064" cy="991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78D1DC4D-1FB2-09FB-2659-FFF47F64208E}"/>
                </a:ext>
              </a:extLst>
            </p:cNvPr>
            <p:cNvCxnSpPr>
              <a:stCxn id="28" idx="1"/>
              <a:endCxn id="5" idx="3"/>
            </p:cNvCxnSpPr>
            <p:nvPr/>
          </p:nvCxnSpPr>
          <p:spPr>
            <a:xfrm flipH="1" flipV="1">
              <a:off x="4819482" y="2868512"/>
              <a:ext cx="5051664" cy="1142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CA34AE1B-6369-3604-EB0E-4BC2E64D3B08}"/>
                </a:ext>
              </a:extLst>
            </p:cNvPr>
            <p:cNvCxnSpPr>
              <a:cxnSpLocks/>
              <a:endCxn id="5" idx="3"/>
            </p:cNvCxnSpPr>
            <p:nvPr/>
          </p:nvCxnSpPr>
          <p:spPr>
            <a:xfrm flipH="1" flipV="1">
              <a:off x="4819482" y="2868512"/>
              <a:ext cx="5204064" cy="1294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CD270BBC-7C7C-C4F2-3C01-46A02E132660}"/>
                </a:ext>
              </a:extLst>
            </p:cNvPr>
            <p:cNvCxnSpPr>
              <a:cxnSpLocks/>
              <a:stCxn id="25" idx="1"/>
              <a:endCxn id="5" idx="3"/>
            </p:cNvCxnSpPr>
            <p:nvPr/>
          </p:nvCxnSpPr>
          <p:spPr>
            <a:xfrm flipH="1" flipV="1">
              <a:off x="4819482" y="2868512"/>
              <a:ext cx="4594464" cy="685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F08F0EBA-1EC9-117E-3660-CBA4D0BE9D47}"/>
                </a:ext>
              </a:extLst>
            </p:cNvPr>
            <p:cNvCxnSpPr>
              <a:cxnSpLocks/>
              <a:stCxn id="27" idx="1"/>
              <a:endCxn id="5" idx="3"/>
            </p:cNvCxnSpPr>
            <p:nvPr/>
          </p:nvCxnSpPr>
          <p:spPr>
            <a:xfrm flipH="1" flipV="1">
              <a:off x="4819482" y="2868512"/>
              <a:ext cx="4899264" cy="989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Connecteur droit avec flèche 65">
              <a:extLst>
                <a:ext uri="{FF2B5EF4-FFF2-40B4-BE49-F238E27FC236}">
                  <a16:creationId xmlns:a16="http://schemas.microsoft.com/office/drawing/2014/main" id="{6AD708B0-90D2-7375-D178-503A95021E59}"/>
                </a:ext>
              </a:extLst>
            </p:cNvPr>
            <p:cNvCxnSpPr>
              <a:cxnSpLocks/>
              <a:endCxn id="5" idx="3"/>
            </p:cNvCxnSpPr>
            <p:nvPr/>
          </p:nvCxnSpPr>
          <p:spPr>
            <a:xfrm flipH="1" flipV="1">
              <a:off x="4819482" y="2868512"/>
              <a:ext cx="4746864" cy="837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69" name="Connecteur droit avec flèche 68">
            <a:extLst>
              <a:ext uri="{FF2B5EF4-FFF2-40B4-BE49-F238E27FC236}">
                <a16:creationId xmlns:a16="http://schemas.microsoft.com/office/drawing/2014/main" id="{7174845A-D7DA-C8B7-DC8A-95D04EE66E7D}"/>
              </a:ext>
            </a:extLst>
          </p:cNvPr>
          <p:cNvCxnSpPr>
            <a:cxnSpLocks/>
            <a:stCxn id="7" idx="0"/>
            <a:endCxn id="5" idx="2"/>
          </p:cNvCxnSpPr>
          <p:nvPr/>
        </p:nvCxnSpPr>
        <p:spPr>
          <a:xfrm flipV="1">
            <a:off x="4337894" y="3350100"/>
            <a:ext cx="0" cy="330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2" name="Image 71">
            <a:extLst>
              <a:ext uri="{FF2B5EF4-FFF2-40B4-BE49-F238E27FC236}">
                <a16:creationId xmlns:a16="http://schemas.microsoft.com/office/drawing/2014/main" id="{0985937B-690D-D182-7131-D1DBBEF9B2E1}"/>
              </a:ext>
            </a:extLst>
          </p:cNvPr>
          <p:cNvPicPr>
            <a:picLocks noChangeAspect="1"/>
          </p:cNvPicPr>
          <p:nvPr/>
        </p:nvPicPr>
        <p:blipFill>
          <a:blip r:embed="rId7"/>
          <a:stretch>
            <a:fillRect/>
          </a:stretch>
        </p:blipFill>
        <p:spPr>
          <a:xfrm>
            <a:off x="6988144" y="2469870"/>
            <a:ext cx="825500" cy="558800"/>
          </a:xfrm>
          <a:prstGeom prst="rect">
            <a:avLst/>
          </a:prstGeom>
        </p:spPr>
      </p:pic>
      <p:pic>
        <p:nvPicPr>
          <p:cNvPr id="73" name="Image 72">
            <a:extLst>
              <a:ext uri="{FF2B5EF4-FFF2-40B4-BE49-F238E27FC236}">
                <a16:creationId xmlns:a16="http://schemas.microsoft.com/office/drawing/2014/main" id="{20C51168-9562-F38A-96DD-FA55BD302DF8}"/>
              </a:ext>
            </a:extLst>
          </p:cNvPr>
          <p:cNvPicPr>
            <a:picLocks noChangeAspect="1"/>
          </p:cNvPicPr>
          <p:nvPr/>
        </p:nvPicPr>
        <p:blipFill>
          <a:blip r:embed="rId8"/>
          <a:stretch>
            <a:fillRect/>
          </a:stretch>
        </p:blipFill>
        <p:spPr>
          <a:xfrm>
            <a:off x="2954099" y="3527694"/>
            <a:ext cx="2378552" cy="164748"/>
          </a:xfrm>
          <a:prstGeom prst="rect">
            <a:avLst/>
          </a:prstGeom>
        </p:spPr>
      </p:pic>
      <p:sp>
        <p:nvSpPr>
          <p:cNvPr id="75" name="ZoneTexte 74">
            <a:extLst>
              <a:ext uri="{FF2B5EF4-FFF2-40B4-BE49-F238E27FC236}">
                <a16:creationId xmlns:a16="http://schemas.microsoft.com/office/drawing/2014/main" id="{C6211125-EA93-F124-3BEB-6688EB8C8BF5}"/>
              </a:ext>
            </a:extLst>
          </p:cNvPr>
          <p:cNvSpPr txBox="1"/>
          <p:nvPr/>
        </p:nvSpPr>
        <p:spPr>
          <a:xfrm>
            <a:off x="6732430" y="324107"/>
            <a:ext cx="403668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Assuming we have </a:t>
            </a:r>
            <a:r>
              <a:rPr kumimoji="0" lang="en-US" sz="1600" b="1" i="0" u="none" strike="noStrike" kern="1200" cap="none" spc="0" normalizeH="0" baseline="0" noProof="0" dirty="0">
                <a:ln>
                  <a:noFill/>
                </a:ln>
                <a:solidFill>
                  <a:prstClr val="black"/>
                </a:solidFill>
                <a:effectLst/>
                <a:uLnTx/>
                <a:uFillTx/>
                <a:latin typeface="Montserrat" pitchFamily="2" charset="77"/>
                <a:ea typeface="+mn-ea"/>
                <a:cs typeface="+mn-cs"/>
              </a:rPr>
              <a:t>n</a:t>
            </a: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 partners whose </a:t>
            </a:r>
            <a:b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b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products we can retail</a:t>
            </a:r>
          </a:p>
        </p:txBody>
      </p:sp>
      <p:sp>
        <p:nvSpPr>
          <p:cNvPr id="77" name="Titre 1">
            <a:extLst>
              <a:ext uri="{FF2B5EF4-FFF2-40B4-BE49-F238E27FC236}">
                <a16:creationId xmlns:a16="http://schemas.microsoft.com/office/drawing/2014/main" id="{7BEEDEAD-8E4F-A068-6766-249D24DB2244}"/>
              </a:ext>
            </a:extLst>
          </p:cNvPr>
          <p:cNvSpPr>
            <a:spLocks noGrp="1"/>
          </p:cNvSpPr>
          <p:nvPr>
            <p:ph type="title"/>
          </p:nvPr>
        </p:nvSpPr>
        <p:spPr>
          <a:xfrm>
            <a:off x="0" y="0"/>
            <a:ext cx="10515600" cy="825389"/>
          </a:xfrm>
        </p:spPr>
        <p:txBody>
          <a:bodyPr>
            <a:noAutofit/>
          </a:bodyPr>
          <a:lstStyle/>
          <a:p>
            <a:r>
              <a:rPr lang="en-US" sz="2800" b="1" dirty="0">
                <a:latin typeface="Montserrat" pitchFamily="2" charset="77"/>
                <a:ea typeface="Fira Code" pitchFamily="49" charset="0"/>
                <a:cs typeface="Fira Code" pitchFamily="49" charset="0"/>
              </a:rPr>
              <a:t>Base requirements	</a:t>
            </a:r>
            <a:br>
              <a:rPr lang="en-US" sz="2800" b="1" dirty="0">
                <a:latin typeface="Montserrat" pitchFamily="2" charset="77"/>
                <a:ea typeface="Fira Code" pitchFamily="49" charset="0"/>
                <a:cs typeface="Fira Code" pitchFamily="49" charset="0"/>
              </a:rPr>
            </a:br>
            <a:r>
              <a:rPr lang="en-US" sz="1600" dirty="0">
                <a:latin typeface="Montserrat" pitchFamily="2" charset="77"/>
                <a:ea typeface="Fira Code" pitchFamily="49" charset="0"/>
                <a:cs typeface="Fira Code" pitchFamily="49" charset="0"/>
              </a:rPr>
              <a:t>Retailer </a:t>
            </a:r>
            <a:r>
              <a:rPr lang="en-US" sz="1600" dirty="0">
                <a:latin typeface="Montserrat" pitchFamily="2" charset="77"/>
                <a:ea typeface="Fira Code" pitchFamily="49" charset="0"/>
                <a:cs typeface="Fira Code" pitchFamily="49" charset="0"/>
                <a:sym typeface="Wingdings" pitchFamily="2" charset="2"/>
              </a:rPr>
              <a:t> Supplier</a:t>
            </a:r>
            <a:endParaRPr lang="en-US" sz="2800" b="1" dirty="0">
              <a:latin typeface="Montserrat" pitchFamily="2" charset="77"/>
              <a:ea typeface="Fira Code" pitchFamily="49" charset="0"/>
              <a:cs typeface="Fira Code" pitchFamily="49" charset="0"/>
            </a:endParaRPr>
          </a:p>
        </p:txBody>
      </p:sp>
      <p:grpSp>
        <p:nvGrpSpPr>
          <p:cNvPr id="81" name="Groupe 80">
            <a:extLst>
              <a:ext uri="{FF2B5EF4-FFF2-40B4-BE49-F238E27FC236}">
                <a16:creationId xmlns:a16="http://schemas.microsoft.com/office/drawing/2014/main" id="{BAD14642-E1B5-EB51-7F3A-E116885F1FA4}"/>
              </a:ext>
            </a:extLst>
          </p:cNvPr>
          <p:cNvGrpSpPr/>
          <p:nvPr/>
        </p:nvGrpSpPr>
        <p:grpSpPr>
          <a:xfrm>
            <a:off x="1677232" y="1705233"/>
            <a:ext cx="1951588" cy="598506"/>
            <a:chOff x="1071751" y="1285103"/>
            <a:chExt cx="1951588" cy="598506"/>
          </a:xfrm>
        </p:grpSpPr>
        <p:pic>
          <p:nvPicPr>
            <p:cNvPr id="78" name="Image 77">
              <a:extLst>
                <a:ext uri="{FF2B5EF4-FFF2-40B4-BE49-F238E27FC236}">
                  <a16:creationId xmlns:a16="http://schemas.microsoft.com/office/drawing/2014/main" id="{32A62061-421C-CC75-9B51-4C23078C1014}"/>
                </a:ext>
              </a:extLst>
            </p:cNvPr>
            <p:cNvPicPr>
              <a:picLocks noChangeAspect="1"/>
            </p:cNvPicPr>
            <p:nvPr/>
          </p:nvPicPr>
          <p:blipFill>
            <a:blip r:embed="rId9"/>
            <a:stretch>
              <a:fillRect/>
            </a:stretch>
          </p:blipFill>
          <p:spPr>
            <a:xfrm>
              <a:off x="1071751" y="1453641"/>
              <a:ext cx="1778000" cy="228600"/>
            </a:xfrm>
            <a:prstGeom prst="rect">
              <a:avLst/>
            </a:prstGeom>
          </p:spPr>
        </p:pic>
        <p:sp>
          <p:nvSpPr>
            <p:cNvPr id="79" name="Rectangle 78">
              <a:extLst>
                <a:ext uri="{FF2B5EF4-FFF2-40B4-BE49-F238E27FC236}">
                  <a16:creationId xmlns:a16="http://schemas.microsoft.com/office/drawing/2014/main" id="{EDE8BD5D-C703-0E39-7BF4-65F3B17A45B5}"/>
                </a:ext>
              </a:extLst>
            </p:cNvPr>
            <p:cNvSpPr/>
            <p:nvPr/>
          </p:nvSpPr>
          <p:spPr>
            <a:xfrm>
              <a:off x="2162432" y="1285103"/>
              <a:ext cx="852616" cy="53134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0" name="Image 79">
              <a:extLst>
                <a:ext uri="{FF2B5EF4-FFF2-40B4-BE49-F238E27FC236}">
                  <a16:creationId xmlns:a16="http://schemas.microsoft.com/office/drawing/2014/main" id="{549B2D59-B585-891F-065A-FD3E835DCB43}"/>
                </a:ext>
              </a:extLst>
            </p:cNvPr>
            <p:cNvPicPr>
              <a:picLocks noChangeAspect="1"/>
            </p:cNvPicPr>
            <p:nvPr/>
          </p:nvPicPr>
          <p:blipFill>
            <a:blip r:embed="rId7"/>
            <a:stretch>
              <a:fillRect/>
            </a:stretch>
          </p:blipFill>
          <p:spPr>
            <a:xfrm>
              <a:off x="2197839" y="1324809"/>
              <a:ext cx="825500" cy="558800"/>
            </a:xfrm>
            <a:prstGeom prst="rect">
              <a:avLst/>
            </a:prstGeom>
          </p:spPr>
        </p:pic>
      </p:grpSp>
    </p:spTree>
    <p:extLst>
      <p:ext uri="{BB962C8B-B14F-4D97-AF65-F5344CB8AC3E}">
        <p14:creationId xmlns:p14="http://schemas.microsoft.com/office/powerpoint/2010/main" val="24604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19" grpId="0" animBg="1"/>
      <p:bldP spid="40" grpId="0"/>
      <p:bldP spid="63" grpId="0"/>
      <p:bldP spid="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724DA-C3CB-2A15-82CE-6A2F2E5C34C9}"/>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50D6148A-16AA-F707-DF8F-05C20F2F1725}"/>
              </a:ext>
            </a:extLst>
          </p:cNvPr>
          <p:cNvPicPr>
            <a:picLocks noChangeAspect="1"/>
          </p:cNvPicPr>
          <p:nvPr/>
        </p:nvPicPr>
        <p:blipFill>
          <a:blip r:embed="rId3"/>
          <a:stretch>
            <a:fillRect/>
          </a:stretch>
        </p:blipFill>
        <p:spPr>
          <a:xfrm>
            <a:off x="3888675" y="3659568"/>
            <a:ext cx="963177" cy="963177"/>
          </a:xfrm>
          <a:prstGeom prst="rect">
            <a:avLst/>
          </a:prstGeom>
        </p:spPr>
      </p:pic>
      <p:pic>
        <p:nvPicPr>
          <p:cNvPr id="7" name="Image 6">
            <a:extLst>
              <a:ext uri="{FF2B5EF4-FFF2-40B4-BE49-F238E27FC236}">
                <a16:creationId xmlns:a16="http://schemas.microsoft.com/office/drawing/2014/main" id="{89CC5C63-BFE9-B06D-1056-DC474FA53864}"/>
              </a:ext>
            </a:extLst>
          </p:cNvPr>
          <p:cNvPicPr>
            <a:picLocks noChangeAspect="1"/>
          </p:cNvPicPr>
          <p:nvPr/>
        </p:nvPicPr>
        <p:blipFill>
          <a:blip r:embed="rId4"/>
          <a:stretch>
            <a:fillRect/>
          </a:stretch>
        </p:blipFill>
        <p:spPr>
          <a:xfrm>
            <a:off x="3761110" y="2183725"/>
            <a:ext cx="1202117" cy="1202117"/>
          </a:xfrm>
          <a:prstGeom prst="rect">
            <a:avLst/>
          </a:prstGeom>
        </p:spPr>
      </p:pic>
      <p:pic>
        <p:nvPicPr>
          <p:cNvPr id="14" name="Image 13">
            <a:extLst>
              <a:ext uri="{FF2B5EF4-FFF2-40B4-BE49-F238E27FC236}">
                <a16:creationId xmlns:a16="http://schemas.microsoft.com/office/drawing/2014/main" id="{00591FE9-759A-2B93-474F-A0F19FF08EED}"/>
              </a:ext>
            </a:extLst>
          </p:cNvPr>
          <p:cNvPicPr>
            <a:picLocks noChangeAspect="1"/>
          </p:cNvPicPr>
          <p:nvPr/>
        </p:nvPicPr>
        <p:blipFill>
          <a:blip r:embed="rId5"/>
          <a:stretch>
            <a:fillRect/>
          </a:stretch>
        </p:blipFill>
        <p:spPr>
          <a:xfrm>
            <a:off x="3851808" y="901587"/>
            <a:ext cx="1189529" cy="1189529"/>
          </a:xfrm>
          <a:prstGeom prst="rect">
            <a:avLst/>
          </a:prstGeom>
        </p:spPr>
      </p:pic>
      <p:sp>
        <p:nvSpPr>
          <p:cNvPr id="19" name="Ellipse 18">
            <a:extLst>
              <a:ext uri="{FF2B5EF4-FFF2-40B4-BE49-F238E27FC236}">
                <a16:creationId xmlns:a16="http://schemas.microsoft.com/office/drawing/2014/main" id="{627F9992-34DD-E775-6D03-371567FFA9CE}"/>
              </a:ext>
            </a:extLst>
          </p:cNvPr>
          <p:cNvSpPr/>
          <p:nvPr/>
        </p:nvSpPr>
        <p:spPr>
          <a:xfrm>
            <a:off x="2646096" y="2241494"/>
            <a:ext cx="3544311" cy="2468070"/>
          </a:xfrm>
          <a:prstGeom prst="ellipse">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1" name="Image 20">
            <a:extLst>
              <a:ext uri="{FF2B5EF4-FFF2-40B4-BE49-F238E27FC236}">
                <a16:creationId xmlns:a16="http://schemas.microsoft.com/office/drawing/2014/main" id="{BCE7CF72-EB7A-504D-083F-07011EB07891}"/>
              </a:ext>
            </a:extLst>
          </p:cNvPr>
          <p:cNvPicPr>
            <a:picLocks noChangeAspect="1"/>
          </p:cNvPicPr>
          <p:nvPr/>
        </p:nvPicPr>
        <p:blipFill>
          <a:blip r:embed="rId6"/>
          <a:stretch>
            <a:fillRect/>
          </a:stretch>
        </p:blipFill>
        <p:spPr>
          <a:xfrm>
            <a:off x="1541983" y="3730425"/>
            <a:ext cx="805382" cy="805382"/>
          </a:xfrm>
          <a:prstGeom prst="rect">
            <a:avLst/>
          </a:prstGeom>
        </p:spPr>
      </p:pic>
      <p:sp>
        <p:nvSpPr>
          <p:cNvPr id="40" name="ZoneTexte 39">
            <a:extLst>
              <a:ext uri="{FF2B5EF4-FFF2-40B4-BE49-F238E27FC236}">
                <a16:creationId xmlns:a16="http://schemas.microsoft.com/office/drawing/2014/main" id="{0604D018-21D9-8259-BF8B-D8ABBD89DBB8}"/>
              </a:ext>
            </a:extLst>
          </p:cNvPr>
          <p:cNvSpPr txBox="1"/>
          <p:nvPr/>
        </p:nvSpPr>
        <p:spPr>
          <a:xfrm>
            <a:off x="3890921" y="662196"/>
            <a:ext cx="80342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Montserrat" pitchFamily="2" charset="77"/>
                <a:ea typeface="+mn-ea"/>
                <a:cs typeface="+mn-cs"/>
              </a:rPr>
              <a:t>Coorp</a:t>
            </a:r>
            <a:r>
              <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rPr>
              <a:t> A</a:t>
            </a:r>
            <a:endParaRPr kumimoji="0" lang="en-US" sz="18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cxnSp>
        <p:nvCxnSpPr>
          <p:cNvPr id="47" name="Connecteur droit avec flèche 46">
            <a:extLst>
              <a:ext uri="{FF2B5EF4-FFF2-40B4-BE49-F238E27FC236}">
                <a16:creationId xmlns:a16="http://schemas.microsoft.com/office/drawing/2014/main" id="{087B7E29-7064-6E14-10E2-A3CB0F254971}"/>
              </a:ext>
            </a:extLst>
          </p:cNvPr>
          <p:cNvCxnSpPr>
            <a:stCxn id="5" idx="1"/>
            <a:endCxn id="21" idx="3"/>
          </p:cNvCxnSpPr>
          <p:nvPr/>
        </p:nvCxnSpPr>
        <p:spPr>
          <a:xfrm flipH="1" flipV="1">
            <a:off x="2347365" y="4133116"/>
            <a:ext cx="1541310" cy="8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3" name="Groupe 112">
            <a:extLst>
              <a:ext uri="{FF2B5EF4-FFF2-40B4-BE49-F238E27FC236}">
                <a16:creationId xmlns:a16="http://schemas.microsoft.com/office/drawing/2014/main" id="{D82D6392-92C1-BE8D-FAFF-62D712C71D86}"/>
              </a:ext>
            </a:extLst>
          </p:cNvPr>
          <p:cNvGrpSpPr/>
          <p:nvPr/>
        </p:nvGrpSpPr>
        <p:grpSpPr>
          <a:xfrm>
            <a:off x="301871" y="4854219"/>
            <a:ext cx="11555427" cy="1391831"/>
            <a:chOff x="301871" y="4854219"/>
            <a:chExt cx="11555427" cy="1391831"/>
          </a:xfrm>
        </p:grpSpPr>
        <p:sp>
          <p:nvSpPr>
            <p:cNvPr id="76" name="Rectangle 75">
              <a:extLst>
                <a:ext uri="{FF2B5EF4-FFF2-40B4-BE49-F238E27FC236}">
                  <a16:creationId xmlns:a16="http://schemas.microsoft.com/office/drawing/2014/main" id="{AD3AFFB1-B4CD-69C4-4926-0C2B723CA165}"/>
                </a:ext>
              </a:extLst>
            </p:cNvPr>
            <p:cNvSpPr/>
            <p:nvPr/>
          </p:nvSpPr>
          <p:spPr>
            <a:xfrm>
              <a:off x="301871" y="4854219"/>
              <a:ext cx="11555427" cy="1391831"/>
            </a:xfrm>
            <a:prstGeom prst="rect">
              <a:avLst/>
            </a:prstGeom>
            <a:solidFill>
              <a:srgbClr val="0070C0">
                <a:alpha val="6270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ZoneTexte 62">
              <a:extLst>
                <a:ext uri="{FF2B5EF4-FFF2-40B4-BE49-F238E27FC236}">
                  <a16:creationId xmlns:a16="http://schemas.microsoft.com/office/drawing/2014/main" id="{76A42A9F-D686-D0A2-9AB6-2145B6F2C181}"/>
                </a:ext>
              </a:extLst>
            </p:cNvPr>
            <p:cNvSpPr txBox="1"/>
            <p:nvPr/>
          </p:nvSpPr>
          <p:spPr>
            <a:xfrm>
              <a:off x="415160" y="4912259"/>
              <a:ext cx="10580140"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Montserrat" pitchFamily="2" charset="77"/>
                  <a:ea typeface="+mn-ea"/>
                  <a:cs typeface="+mn-cs"/>
                </a:rPr>
                <a:t>Base requirements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ontserrat" pitchFamily="2" charset="77"/>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Create and transfer </a:t>
              </a:r>
              <a:r>
                <a:rPr kumimoji="0" lang="en-US" sz="1600" b="1" i="0" u="none" strike="noStrike" kern="1200" cap="none" spc="0" normalizeH="0" baseline="0" noProof="0" dirty="0">
                  <a:ln>
                    <a:noFill/>
                  </a:ln>
                  <a:solidFill>
                    <a:prstClr val="black"/>
                  </a:solidFill>
                  <a:effectLst/>
                  <a:uLnTx/>
                  <a:uFillTx/>
                  <a:latin typeface="Montserrat" pitchFamily="2" charset="77"/>
                  <a:ea typeface="+mn-ea"/>
                  <a:cs typeface="+mn-cs"/>
                </a:rPr>
                <a:t>m</a:t>
              </a: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 sets in such a way that all can read and interpret them, </a:t>
              </a:r>
              <a:r>
                <a:rPr kumimoji="0" lang="en-US" sz="1600" b="1" i="0" u="none" strike="noStrike" kern="1200" cap="none" spc="0" normalizeH="0" baseline="0" noProof="0" dirty="0">
                  <a:ln>
                    <a:noFill/>
                  </a:ln>
                  <a:solidFill>
                    <a:prstClr val="black"/>
                  </a:solidFill>
                  <a:effectLst/>
                  <a:uLnTx/>
                  <a:uFillTx/>
                  <a:latin typeface="Montserrat" pitchFamily="2" charset="77"/>
                  <a:ea typeface="+mn-ea"/>
                  <a:cs typeface="+mn-cs"/>
                </a:rPr>
                <a:t>m</a:t>
              </a: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 is the number of </a:t>
              </a:r>
              <a:b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b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partners who can retail our products </a:t>
              </a:r>
              <a:r>
                <a:rPr kumimoji="0" lang="en-US" sz="1050" b="0" i="0" u="none" strike="noStrike" kern="1200" cap="none" spc="0" normalizeH="0" baseline="0" noProof="0" dirty="0">
                  <a:ln>
                    <a:noFill/>
                  </a:ln>
                  <a:solidFill>
                    <a:prstClr val="black"/>
                  </a:solidFill>
                  <a:effectLst/>
                  <a:uLnTx/>
                  <a:uFillTx/>
                  <a:latin typeface="Montserrat" pitchFamily="2" charset="77"/>
                  <a:ea typeface="+mn-ea"/>
                  <a:cs typeface="+mn-cs"/>
                </a:rPr>
                <a:t>(not shown here on the schema) </a:t>
              </a:r>
              <a:endPar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Maintain up-to-date all </a:t>
              </a:r>
              <a:r>
                <a:rPr kumimoji="0" lang="en-US" sz="1600" b="1" i="0" u="none" strike="noStrike" kern="1200" cap="none" spc="0" normalizeH="0" baseline="0" noProof="0" dirty="0">
                  <a:ln>
                    <a:noFill/>
                  </a:ln>
                  <a:solidFill>
                    <a:prstClr val="black"/>
                  </a:solidFill>
                  <a:effectLst/>
                  <a:uLnTx/>
                  <a:uFillTx/>
                  <a:latin typeface="Montserrat" pitchFamily="2" charset="77"/>
                  <a:ea typeface="+mn-ea"/>
                  <a:cs typeface="+mn-cs"/>
                </a:rPr>
                <a:t>m</a:t>
              </a: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 sets of product management information with the retailer(s)</a:t>
              </a:r>
              <a:endParaRPr kumimoji="0" lang="en-US" sz="28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grpSp>
      <p:cxnSp>
        <p:nvCxnSpPr>
          <p:cNvPr id="35" name="Connecteur droit avec flèche 34">
            <a:extLst>
              <a:ext uri="{FF2B5EF4-FFF2-40B4-BE49-F238E27FC236}">
                <a16:creationId xmlns:a16="http://schemas.microsoft.com/office/drawing/2014/main" id="{ABB83B74-06B9-E2D6-ABFA-B1B4D3EF672B}"/>
              </a:ext>
            </a:extLst>
          </p:cNvPr>
          <p:cNvCxnSpPr>
            <a:cxnSpLocks/>
            <a:stCxn id="32" idx="1"/>
            <a:endCxn id="7" idx="3"/>
          </p:cNvCxnSpPr>
          <p:nvPr/>
        </p:nvCxnSpPr>
        <p:spPr>
          <a:xfrm flipH="1">
            <a:off x="4963227" y="1319986"/>
            <a:ext cx="3091495" cy="1464798"/>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F9A8CA3E-6E8A-2694-B16F-B3C2FDB9D715}"/>
              </a:ext>
            </a:extLst>
          </p:cNvPr>
          <p:cNvCxnSpPr>
            <a:cxnSpLocks/>
            <a:stCxn id="52" idx="1"/>
            <a:endCxn id="7" idx="3"/>
          </p:cNvCxnSpPr>
          <p:nvPr/>
        </p:nvCxnSpPr>
        <p:spPr>
          <a:xfrm flipH="1">
            <a:off x="4963227" y="1472386"/>
            <a:ext cx="3243895" cy="1312398"/>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E1D6B18-D649-85B2-F25C-988108B44537}"/>
              </a:ext>
            </a:extLst>
          </p:cNvPr>
          <p:cNvCxnSpPr>
            <a:cxnSpLocks/>
            <a:stCxn id="65" idx="1"/>
            <a:endCxn id="7" idx="3"/>
          </p:cNvCxnSpPr>
          <p:nvPr/>
        </p:nvCxnSpPr>
        <p:spPr>
          <a:xfrm flipH="1" flipV="1">
            <a:off x="4963227" y="2784784"/>
            <a:ext cx="4920295" cy="364002"/>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DA40C6A0-372F-06A1-EFB0-F7BC97C9A8CD}"/>
              </a:ext>
            </a:extLst>
          </p:cNvPr>
          <p:cNvCxnSpPr>
            <a:cxnSpLocks/>
            <a:stCxn id="68" idx="1"/>
            <a:endCxn id="7" idx="3"/>
          </p:cNvCxnSpPr>
          <p:nvPr/>
        </p:nvCxnSpPr>
        <p:spPr>
          <a:xfrm flipH="1" flipV="1">
            <a:off x="4963227" y="2784784"/>
            <a:ext cx="5225095" cy="668802"/>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864B572F-ED4C-CA75-8A3D-B3AA6186BF52}"/>
              </a:ext>
            </a:extLst>
          </p:cNvPr>
          <p:cNvCxnSpPr>
            <a:cxnSpLocks/>
            <a:stCxn id="53" idx="1"/>
            <a:endCxn id="7" idx="3"/>
          </p:cNvCxnSpPr>
          <p:nvPr/>
        </p:nvCxnSpPr>
        <p:spPr>
          <a:xfrm flipH="1">
            <a:off x="4963227" y="1624786"/>
            <a:ext cx="3396295" cy="1159998"/>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623EEE1A-1736-0CE2-4FFD-8F49AF2E887E}"/>
              </a:ext>
            </a:extLst>
          </p:cNvPr>
          <p:cNvCxnSpPr>
            <a:cxnSpLocks/>
            <a:stCxn id="64" idx="1"/>
            <a:endCxn id="7" idx="3"/>
          </p:cNvCxnSpPr>
          <p:nvPr/>
        </p:nvCxnSpPr>
        <p:spPr>
          <a:xfrm flipH="1" flipV="1">
            <a:off x="4963227" y="2784784"/>
            <a:ext cx="4767895" cy="211602"/>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66" name="Connecteur droit avec flèche 65">
            <a:extLst>
              <a:ext uri="{FF2B5EF4-FFF2-40B4-BE49-F238E27FC236}">
                <a16:creationId xmlns:a16="http://schemas.microsoft.com/office/drawing/2014/main" id="{6B6B3F9B-2CCF-F2D2-D3DD-3D7CF4805240}"/>
              </a:ext>
            </a:extLst>
          </p:cNvPr>
          <p:cNvCxnSpPr>
            <a:cxnSpLocks/>
            <a:stCxn id="67" idx="1"/>
            <a:endCxn id="7" idx="3"/>
          </p:cNvCxnSpPr>
          <p:nvPr/>
        </p:nvCxnSpPr>
        <p:spPr>
          <a:xfrm flipH="1" flipV="1">
            <a:off x="4963227" y="2784784"/>
            <a:ext cx="5072695" cy="516402"/>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sp>
        <p:nvSpPr>
          <p:cNvPr id="75" name="ZoneTexte 74">
            <a:extLst>
              <a:ext uri="{FF2B5EF4-FFF2-40B4-BE49-F238E27FC236}">
                <a16:creationId xmlns:a16="http://schemas.microsoft.com/office/drawing/2014/main" id="{FFC6A54D-8441-1E84-8B21-8DFB9B0D4A9D}"/>
              </a:ext>
            </a:extLst>
          </p:cNvPr>
          <p:cNvSpPr txBox="1"/>
          <p:nvPr/>
        </p:nvSpPr>
        <p:spPr>
          <a:xfrm>
            <a:off x="7111552" y="267026"/>
            <a:ext cx="336823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There are </a:t>
            </a:r>
            <a:r>
              <a:rPr kumimoji="0" lang="en-US" sz="1600" b="1" i="0" u="none" strike="noStrike" kern="1200" cap="none" spc="0" normalizeH="0" baseline="0" noProof="0" dirty="0">
                <a:ln>
                  <a:noFill/>
                </a:ln>
                <a:solidFill>
                  <a:prstClr val="black"/>
                </a:solidFill>
                <a:effectLst/>
                <a:uLnTx/>
                <a:uFillTx/>
                <a:latin typeface="Montserrat" pitchFamily="2" charset="77"/>
                <a:ea typeface="+mn-ea"/>
                <a:cs typeface="+mn-cs"/>
              </a:rPr>
              <a:t>m </a:t>
            </a: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partners retailing </a:t>
            </a:r>
            <a:b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br>
            <a:r>
              <a:rPr kumimoji="0" lang="en-US" sz="1600" b="0" i="0" u="none" strike="noStrike" kern="1200" cap="none" spc="0" normalizeH="0" baseline="0" noProof="0" dirty="0" err="1">
                <a:ln>
                  <a:noFill/>
                </a:ln>
                <a:solidFill>
                  <a:prstClr val="black"/>
                </a:solidFill>
                <a:effectLst/>
                <a:uLnTx/>
                <a:uFillTx/>
                <a:latin typeface="Montserrat" pitchFamily="2" charset="77"/>
                <a:ea typeface="+mn-ea"/>
                <a:cs typeface="+mn-cs"/>
              </a:rPr>
              <a:t>Coorp</a:t>
            </a:r>
            <a:r>
              <a:rPr kumimoji="0" lang="en-US" sz="1600" b="0" i="0" u="none" strike="noStrike" kern="1200" cap="none" spc="0" normalizeH="0" baseline="0" noProof="0" dirty="0">
                <a:ln>
                  <a:noFill/>
                </a:ln>
                <a:solidFill>
                  <a:prstClr val="black"/>
                </a:solidFill>
                <a:effectLst/>
                <a:uLnTx/>
                <a:uFillTx/>
                <a:latin typeface="Montserrat" pitchFamily="2" charset="77"/>
                <a:ea typeface="+mn-ea"/>
                <a:cs typeface="+mn-cs"/>
              </a:rPr>
              <a:t> A products</a:t>
            </a:r>
          </a:p>
        </p:txBody>
      </p:sp>
      <p:sp>
        <p:nvSpPr>
          <p:cNvPr id="77" name="Titre 1">
            <a:extLst>
              <a:ext uri="{FF2B5EF4-FFF2-40B4-BE49-F238E27FC236}">
                <a16:creationId xmlns:a16="http://schemas.microsoft.com/office/drawing/2014/main" id="{3B234553-E7AE-9889-EB08-BC75A0BD289F}"/>
              </a:ext>
            </a:extLst>
          </p:cNvPr>
          <p:cNvSpPr>
            <a:spLocks noGrp="1"/>
          </p:cNvSpPr>
          <p:nvPr>
            <p:ph type="title"/>
          </p:nvPr>
        </p:nvSpPr>
        <p:spPr>
          <a:xfrm>
            <a:off x="0" y="0"/>
            <a:ext cx="10515600" cy="825389"/>
          </a:xfrm>
        </p:spPr>
        <p:txBody>
          <a:bodyPr>
            <a:noAutofit/>
          </a:bodyPr>
          <a:lstStyle/>
          <a:p>
            <a:r>
              <a:rPr lang="en-US" sz="2800" b="1" dirty="0">
                <a:latin typeface="Montserrat" pitchFamily="2" charset="77"/>
                <a:ea typeface="Fira Code" pitchFamily="49" charset="0"/>
                <a:cs typeface="Fira Code" pitchFamily="49" charset="0"/>
              </a:rPr>
              <a:t>Base requirements	</a:t>
            </a:r>
            <a:br>
              <a:rPr lang="en-US" sz="2800" b="1" dirty="0">
                <a:latin typeface="Montserrat" pitchFamily="2" charset="77"/>
                <a:ea typeface="Fira Code" pitchFamily="49" charset="0"/>
                <a:cs typeface="Fira Code" pitchFamily="49" charset="0"/>
              </a:rPr>
            </a:br>
            <a:r>
              <a:rPr lang="en-US" sz="1600" dirty="0">
                <a:latin typeface="Montserrat" pitchFamily="2" charset="77"/>
                <a:ea typeface="Fira Code" pitchFamily="49" charset="0"/>
                <a:cs typeface="Fira Code" pitchFamily="49" charset="0"/>
              </a:rPr>
              <a:t>Supplier </a:t>
            </a:r>
            <a:r>
              <a:rPr lang="en-US" sz="1600" dirty="0">
                <a:latin typeface="Montserrat" pitchFamily="2" charset="77"/>
                <a:ea typeface="Fira Code" pitchFamily="49" charset="0"/>
                <a:cs typeface="Fira Code" pitchFamily="49" charset="0"/>
                <a:sym typeface="Wingdings" pitchFamily="2" charset="2"/>
              </a:rPr>
              <a:t> Retailer</a:t>
            </a:r>
            <a:endParaRPr lang="en-US" sz="2800" b="1" dirty="0">
              <a:latin typeface="Montserrat" pitchFamily="2" charset="77"/>
              <a:ea typeface="Fira Code" pitchFamily="49" charset="0"/>
              <a:cs typeface="Fira Code" pitchFamily="49" charset="0"/>
            </a:endParaRPr>
          </a:p>
        </p:txBody>
      </p:sp>
      <p:pic>
        <p:nvPicPr>
          <p:cNvPr id="32" name="Image 31">
            <a:extLst>
              <a:ext uri="{FF2B5EF4-FFF2-40B4-BE49-F238E27FC236}">
                <a16:creationId xmlns:a16="http://schemas.microsoft.com/office/drawing/2014/main" id="{9D963E41-842C-EA4D-E121-254019266B0E}"/>
              </a:ext>
            </a:extLst>
          </p:cNvPr>
          <p:cNvPicPr>
            <a:picLocks noChangeAspect="1"/>
          </p:cNvPicPr>
          <p:nvPr/>
        </p:nvPicPr>
        <p:blipFill>
          <a:blip r:embed="rId3"/>
          <a:stretch>
            <a:fillRect/>
          </a:stretch>
        </p:blipFill>
        <p:spPr>
          <a:xfrm>
            <a:off x="8054722" y="915020"/>
            <a:ext cx="768123" cy="809932"/>
          </a:xfrm>
          <a:prstGeom prst="rect">
            <a:avLst/>
          </a:prstGeom>
        </p:spPr>
      </p:pic>
      <p:pic>
        <p:nvPicPr>
          <p:cNvPr id="52" name="Image 51">
            <a:extLst>
              <a:ext uri="{FF2B5EF4-FFF2-40B4-BE49-F238E27FC236}">
                <a16:creationId xmlns:a16="http://schemas.microsoft.com/office/drawing/2014/main" id="{2424AA27-A2AE-E8BA-2DE2-B48B30897D92}"/>
              </a:ext>
            </a:extLst>
          </p:cNvPr>
          <p:cNvPicPr>
            <a:picLocks noChangeAspect="1"/>
          </p:cNvPicPr>
          <p:nvPr/>
        </p:nvPicPr>
        <p:blipFill>
          <a:blip r:embed="rId3"/>
          <a:stretch>
            <a:fillRect/>
          </a:stretch>
        </p:blipFill>
        <p:spPr>
          <a:xfrm>
            <a:off x="8207122" y="1067420"/>
            <a:ext cx="768123" cy="809932"/>
          </a:xfrm>
          <a:prstGeom prst="rect">
            <a:avLst/>
          </a:prstGeom>
        </p:spPr>
      </p:pic>
      <p:pic>
        <p:nvPicPr>
          <p:cNvPr id="53" name="Image 52">
            <a:extLst>
              <a:ext uri="{FF2B5EF4-FFF2-40B4-BE49-F238E27FC236}">
                <a16:creationId xmlns:a16="http://schemas.microsoft.com/office/drawing/2014/main" id="{F853B460-9237-CD12-44C2-684AA08312EE}"/>
              </a:ext>
            </a:extLst>
          </p:cNvPr>
          <p:cNvPicPr>
            <a:picLocks noChangeAspect="1"/>
          </p:cNvPicPr>
          <p:nvPr/>
        </p:nvPicPr>
        <p:blipFill>
          <a:blip r:embed="rId3"/>
          <a:stretch>
            <a:fillRect/>
          </a:stretch>
        </p:blipFill>
        <p:spPr>
          <a:xfrm>
            <a:off x="8359522" y="1219820"/>
            <a:ext cx="768123" cy="809932"/>
          </a:xfrm>
          <a:prstGeom prst="rect">
            <a:avLst/>
          </a:prstGeom>
        </p:spPr>
      </p:pic>
      <p:pic>
        <p:nvPicPr>
          <p:cNvPr id="54" name="Image 53">
            <a:extLst>
              <a:ext uri="{FF2B5EF4-FFF2-40B4-BE49-F238E27FC236}">
                <a16:creationId xmlns:a16="http://schemas.microsoft.com/office/drawing/2014/main" id="{75D5C9E0-7F66-48B3-4654-D8A29A2B7D20}"/>
              </a:ext>
            </a:extLst>
          </p:cNvPr>
          <p:cNvPicPr>
            <a:picLocks noChangeAspect="1"/>
          </p:cNvPicPr>
          <p:nvPr/>
        </p:nvPicPr>
        <p:blipFill>
          <a:blip r:embed="rId3"/>
          <a:stretch>
            <a:fillRect/>
          </a:stretch>
        </p:blipFill>
        <p:spPr>
          <a:xfrm>
            <a:off x="8511922" y="1372220"/>
            <a:ext cx="768123" cy="809932"/>
          </a:xfrm>
          <a:prstGeom prst="rect">
            <a:avLst/>
          </a:prstGeom>
        </p:spPr>
      </p:pic>
      <p:pic>
        <p:nvPicPr>
          <p:cNvPr id="55" name="Image 54">
            <a:extLst>
              <a:ext uri="{FF2B5EF4-FFF2-40B4-BE49-F238E27FC236}">
                <a16:creationId xmlns:a16="http://schemas.microsoft.com/office/drawing/2014/main" id="{99E99DE4-4879-5A3B-2A26-3470140EA34C}"/>
              </a:ext>
            </a:extLst>
          </p:cNvPr>
          <p:cNvPicPr>
            <a:picLocks noChangeAspect="1"/>
          </p:cNvPicPr>
          <p:nvPr/>
        </p:nvPicPr>
        <p:blipFill>
          <a:blip r:embed="rId3"/>
          <a:stretch>
            <a:fillRect/>
          </a:stretch>
        </p:blipFill>
        <p:spPr>
          <a:xfrm>
            <a:off x="8664322" y="1524620"/>
            <a:ext cx="768123" cy="809932"/>
          </a:xfrm>
          <a:prstGeom prst="rect">
            <a:avLst/>
          </a:prstGeom>
        </p:spPr>
      </p:pic>
      <p:pic>
        <p:nvPicPr>
          <p:cNvPr id="56" name="Image 55">
            <a:extLst>
              <a:ext uri="{FF2B5EF4-FFF2-40B4-BE49-F238E27FC236}">
                <a16:creationId xmlns:a16="http://schemas.microsoft.com/office/drawing/2014/main" id="{BF88CB56-4494-AB16-98E3-AB2EDD5F4997}"/>
              </a:ext>
            </a:extLst>
          </p:cNvPr>
          <p:cNvPicPr>
            <a:picLocks noChangeAspect="1"/>
          </p:cNvPicPr>
          <p:nvPr/>
        </p:nvPicPr>
        <p:blipFill>
          <a:blip r:embed="rId3"/>
          <a:stretch>
            <a:fillRect/>
          </a:stretch>
        </p:blipFill>
        <p:spPr>
          <a:xfrm>
            <a:off x="8816722" y="1677020"/>
            <a:ext cx="768123" cy="809932"/>
          </a:xfrm>
          <a:prstGeom prst="rect">
            <a:avLst/>
          </a:prstGeom>
        </p:spPr>
      </p:pic>
      <p:pic>
        <p:nvPicPr>
          <p:cNvPr id="57" name="Image 56">
            <a:extLst>
              <a:ext uri="{FF2B5EF4-FFF2-40B4-BE49-F238E27FC236}">
                <a16:creationId xmlns:a16="http://schemas.microsoft.com/office/drawing/2014/main" id="{5A145296-C4AC-6522-1E02-C237B284298C}"/>
              </a:ext>
            </a:extLst>
          </p:cNvPr>
          <p:cNvPicPr>
            <a:picLocks noChangeAspect="1"/>
          </p:cNvPicPr>
          <p:nvPr/>
        </p:nvPicPr>
        <p:blipFill>
          <a:blip r:embed="rId3"/>
          <a:stretch>
            <a:fillRect/>
          </a:stretch>
        </p:blipFill>
        <p:spPr>
          <a:xfrm>
            <a:off x="8969122" y="1829420"/>
            <a:ext cx="768123" cy="809932"/>
          </a:xfrm>
          <a:prstGeom prst="rect">
            <a:avLst/>
          </a:prstGeom>
        </p:spPr>
      </p:pic>
      <p:pic>
        <p:nvPicPr>
          <p:cNvPr id="58" name="Image 57">
            <a:extLst>
              <a:ext uri="{FF2B5EF4-FFF2-40B4-BE49-F238E27FC236}">
                <a16:creationId xmlns:a16="http://schemas.microsoft.com/office/drawing/2014/main" id="{5B4CA25D-16CB-C92D-8265-924F9E66736E}"/>
              </a:ext>
            </a:extLst>
          </p:cNvPr>
          <p:cNvPicPr>
            <a:picLocks noChangeAspect="1"/>
          </p:cNvPicPr>
          <p:nvPr/>
        </p:nvPicPr>
        <p:blipFill>
          <a:blip r:embed="rId3"/>
          <a:stretch>
            <a:fillRect/>
          </a:stretch>
        </p:blipFill>
        <p:spPr>
          <a:xfrm>
            <a:off x="9121522" y="1981820"/>
            <a:ext cx="768123" cy="809932"/>
          </a:xfrm>
          <a:prstGeom prst="rect">
            <a:avLst/>
          </a:prstGeom>
        </p:spPr>
      </p:pic>
      <p:pic>
        <p:nvPicPr>
          <p:cNvPr id="59" name="Image 58">
            <a:extLst>
              <a:ext uri="{FF2B5EF4-FFF2-40B4-BE49-F238E27FC236}">
                <a16:creationId xmlns:a16="http://schemas.microsoft.com/office/drawing/2014/main" id="{6B09EB1E-6D24-4EAD-F1EA-379673EA5432}"/>
              </a:ext>
            </a:extLst>
          </p:cNvPr>
          <p:cNvPicPr>
            <a:picLocks noChangeAspect="1"/>
          </p:cNvPicPr>
          <p:nvPr/>
        </p:nvPicPr>
        <p:blipFill>
          <a:blip r:embed="rId3"/>
          <a:stretch>
            <a:fillRect/>
          </a:stretch>
        </p:blipFill>
        <p:spPr>
          <a:xfrm>
            <a:off x="9273922" y="2134220"/>
            <a:ext cx="768123" cy="809932"/>
          </a:xfrm>
          <a:prstGeom prst="rect">
            <a:avLst/>
          </a:prstGeom>
        </p:spPr>
      </p:pic>
      <p:pic>
        <p:nvPicPr>
          <p:cNvPr id="60" name="Image 59">
            <a:extLst>
              <a:ext uri="{FF2B5EF4-FFF2-40B4-BE49-F238E27FC236}">
                <a16:creationId xmlns:a16="http://schemas.microsoft.com/office/drawing/2014/main" id="{BDF0DBFE-5746-41E1-6DC2-96989C44595F}"/>
              </a:ext>
            </a:extLst>
          </p:cNvPr>
          <p:cNvPicPr>
            <a:picLocks noChangeAspect="1"/>
          </p:cNvPicPr>
          <p:nvPr/>
        </p:nvPicPr>
        <p:blipFill>
          <a:blip r:embed="rId3"/>
          <a:stretch>
            <a:fillRect/>
          </a:stretch>
        </p:blipFill>
        <p:spPr>
          <a:xfrm>
            <a:off x="9426322" y="2286620"/>
            <a:ext cx="768123" cy="809932"/>
          </a:xfrm>
          <a:prstGeom prst="rect">
            <a:avLst/>
          </a:prstGeom>
        </p:spPr>
      </p:pic>
      <p:pic>
        <p:nvPicPr>
          <p:cNvPr id="61" name="Image 60">
            <a:extLst>
              <a:ext uri="{FF2B5EF4-FFF2-40B4-BE49-F238E27FC236}">
                <a16:creationId xmlns:a16="http://schemas.microsoft.com/office/drawing/2014/main" id="{7DA96690-73CB-0A84-F230-D1D38E393721}"/>
              </a:ext>
            </a:extLst>
          </p:cNvPr>
          <p:cNvPicPr>
            <a:picLocks noChangeAspect="1"/>
          </p:cNvPicPr>
          <p:nvPr/>
        </p:nvPicPr>
        <p:blipFill>
          <a:blip r:embed="rId3"/>
          <a:stretch>
            <a:fillRect/>
          </a:stretch>
        </p:blipFill>
        <p:spPr>
          <a:xfrm>
            <a:off x="9578722" y="2439020"/>
            <a:ext cx="768123" cy="809932"/>
          </a:xfrm>
          <a:prstGeom prst="rect">
            <a:avLst/>
          </a:prstGeom>
        </p:spPr>
      </p:pic>
      <p:pic>
        <p:nvPicPr>
          <p:cNvPr id="64" name="Image 63">
            <a:extLst>
              <a:ext uri="{FF2B5EF4-FFF2-40B4-BE49-F238E27FC236}">
                <a16:creationId xmlns:a16="http://schemas.microsoft.com/office/drawing/2014/main" id="{A67586E1-761A-7A63-54DF-7F224BECCDA8}"/>
              </a:ext>
            </a:extLst>
          </p:cNvPr>
          <p:cNvPicPr>
            <a:picLocks noChangeAspect="1"/>
          </p:cNvPicPr>
          <p:nvPr/>
        </p:nvPicPr>
        <p:blipFill>
          <a:blip r:embed="rId3"/>
          <a:stretch>
            <a:fillRect/>
          </a:stretch>
        </p:blipFill>
        <p:spPr>
          <a:xfrm>
            <a:off x="9731122" y="2591420"/>
            <a:ext cx="768123" cy="809932"/>
          </a:xfrm>
          <a:prstGeom prst="rect">
            <a:avLst/>
          </a:prstGeom>
        </p:spPr>
      </p:pic>
      <p:pic>
        <p:nvPicPr>
          <p:cNvPr id="65" name="Image 64">
            <a:extLst>
              <a:ext uri="{FF2B5EF4-FFF2-40B4-BE49-F238E27FC236}">
                <a16:creationId xmlns:a16="http://schemas.microsoft.com/office/drawing/2014/main" id="{40D68F98-5AD0-FCA2-78A8-59B8366F9D08}"/>
              </a:ext>
            </a:extLst>
          </p:cNvPr>
          <p:cNvPicPr>
            <a:picLocks noChangeAspect="1"/>
          </p:cNvPicPr>
          <p:nvPr/>
        </p:nvPicPr>
        <p:blipFill>
          <a:blip r:embed="rId3"/>
          <a:stretch>
            <a:fillRect/>
          </a:stretch>
        </p:blipFill>
        <p:spPr>
          <a:xfrm>
            <a:off x="9883522" y="2743820"/>
            <a:ext cx="768123" cy="809932"/>
          </a:xfrm>
          <a:prstGeom prst="rect">
            <a:avLst/>
          </a:prstGeom>
        </p:spPr>
      </p:pic>
      <p:pic>
        <p:nvPicPr>
          <p:cNvPr id="67" name="Image 66">
            <a:extLst>
              <a:ext uri="{FF2B5EF4-FFF2-40B4-BE49-F238E27FC236}">
                <a16:creationId xmlns:a16="http://schemas.microsoft.com/office/drawing/2014/main" id="{E2F2D450-9F6A-6902-9CDC-6243AA4E3797}"/>
              </a:ext>
            </a:extLst>
          </p:cNvPr>
          <p:cNvPicPr>
            <a:picLocks noChangeAspect="1"/>
          </p:cNvPicPr>
          <p:nvPr/>
        </p:nvPicPr>
        <p:blipFill>
          <a:blip r:embed="rId3"/>
          <a:stretch>
            <a:fillRect/>
          </a:stretch>
        </p:blipFill>
        <p:spPr>
          <a:xfrm>
            <a:off x="10035922" y="2896220"/>
            <a:ext cx="768123" cy="809932"/>
          </a:xfrm>
          <a:prstGeom prst="rect">
            <a:avLst/>
          </a:prstGeom>
        </p:spPr>
      </p:pic>
      <p:pic>
        <p:nvPicPr>
          <p:cNvPr id="68" name="Image 67">
            <a:extLst>
              <a:ext uri="{FF2B5EF4-FFF2-40B4-BE49-F238E27FC236}">
                <a16:creationId xmlns:a16="http://schemas.microsoft.com/office/drawing/2014/main" id="{35AF2B7D-EE63-1217-6027-5E12AC8A0D0D}"/>
              </a:ext>
            </a:extLst>
          </p:cNvPr>
          <p:cNvPicPr>
            <a:picLocks noChangeAspect="1"/>
          </p:cNvPicPr>
          <p:nvPr/>
        </p:nvPicPr>
        <p:blipFill>
          <a:blip r:embed="rId3"/>
          <a:stretch>
            <a:fillRect/>
          </a:stretch>
        </p:blipFill>
        <p:spPr>
          <a:xfrm>
            <a:off x="10188322" y="3048620"/>
            <a:ext cx="768123" cy="809932"/>
          </a:xfrm>
          <a:prstGeom prst="rect">
            <a:avLst/>
          </a:prstGeom>
        </p:spPr>
      </p:pic>
      <p:cxnSp>
        <p:nvCxnSpPr>
          <p:cNvPr id="98" name="Connecteur droit avec flèche 97">
            <a:extLst>
              <a:ext uri="{FF2B5EF4-FFF2-40B4-BE49-F238E27FC236}">
                <a16:creationId xmlns:a16="http://schemas.microsoft.com/office/drawing/2014/main" id="{FA723A59-5CA6-51DA-F9A9-16989FE76262}"/>
              </a:ext>
            </a:extLst>
          </p:cNvPr>
          <p:cNvCxnSpPr>
            <a:cxnSpLocks/>
            <a:stCxn id="7" idx="2"/>
            <a:endCxn id="5" idx="0"/>
          </p:cNvCxnSpPr>
          <p:nvPr/>
        </p:nvCxnSpPr>
        <p:spPr>
          <a:xfrm>
            <a:off x="4362169" y="3385842"/>
            <a:ext cx="8095" cy="273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9" name="Image 98">
            <a:extLst>
              <a:ext uri="{FF2B5EF4-FFF2-40B4-BE49-F238E27FC236}">
                <a16:creationId xmlns:a16="http://schemas.microsoft.com/office/drawing/2014/main" id="{7C34585E-8F9F-5199-C385-49DAF802D645}"/>
              </a:ext>
            </a:extLst>
          </p:cNvPr>
          <p:cNvPicPr>
            <a:picLocks noChangeAspect="1"/>
          </p:cNvPicPr>
          <p:nvPr/>
        </p:nvPicPr>
        <p:blipFill>
          <a:blip r:embed="rId7"/>
          <a:stretch>
            <a:fillRect/>
          </a:stretch>
        </p:blipFill>
        <p:spPr>
          <a:xfrm>
            <a:off x="3334424" y="3373946"/>
            <a:ext cx="2378552" cy="164748"/>
          </a:xfrm>
          <a:prstGeom prst="rect">
            <a:avLst/>
          </a:prstGeom>
        </p:spPr>
      </p:pic>
      <p:pic>
        <p:nvPicPr>
          <p:cNvPr id="109" name="Image 108">
            <a:extLst>
              <a:ext uri="{FF2B5EF4-FFF2-40B4-BE49-F238E27FC236}">
                <a16:creationId xmlns:a16="http://schemas.microsoft.com/office/drawing/2014/main" id="{F55807D9-0A61-A65D-F872-FC4DB46B9335}"/>
              </a:ext>
            </a:extLst>
          </p:cNvPr>
          <p:cNvPicPr>
            <a:picLocks noChangeAspect="1"/>
          </p:cNvPicPr>
          <p:nvPr/>
        </p:nvPicPr>
        <p:blipFill>
          <a:blip r:embed="rId8"/>
          <a:stretch>
            <a:fillRect/>
          </a:stretch>
        </p:blipFill>
        <p:spPr>
          <a:xfrm>
            <a:off x="6399837" y="3800593"/>
            <a:ext cx="5530906" cy="147491"/>
          </a:xfrm>
          <a:prstGeom prst="rect">
            <a:avLst/>
          </a:prstGeom>
        </p:spPr>
      </p:pic>
      <p:sp>
        <p:nvSpPr>
          <p:cNvPr id="110" name="ZoneTexte 109">
            <a:extLst>
              <a:ext uri="{FF2B5EF4-FFF2-40B4-BE49-F238E27FC236}">
                <a16:creationId xmlns:a16="http://schemas.microsoft.com/office/drawing/2014/main" id="{3C80BC58-55EB-4DC8-BD27-5F6BDE8DFB40}"/>
              </a:ext>
            </a:extLst>
          </p:cNvPr>
          <p:cNvSpPr txBox="1"/>
          <p:nvPr/>
        </p:nvSpPr>
        <p:spPr>
          <a:xfrm>
            <a:off x="148045" y="6596390"/>
            <a:ext cx="488146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ontserrat" pitchFamily="2" charset="77"/>
                <a:ea typeface="+mn-ea"/>
                <a:cs typeface="+mn-cs"/>
              </a:rPr>
              <a:t>I didn’t parametrize the formula it should read B</a:t>
            </a:r>
            <a:r>
              <a:rPr kumimoji="0" lang="en-US" sz="1100" b="0" i="0" u="none" strike="noStrike" kern="1200" cap="none" spc="0" normalizeH="0" baseline="-25000" noProof="0" dirty="0">
                <a:ln>
                  <a:noFill/>
                </a:ln>
                <a:solidFill>
                  <a:prstClr val="black"/>
                </a:solidFill>
                <a:effectLst/>
                <a:uLnTx/>
                <a:uFillTx/>
                <a:latin typeface="Montserrat" pitchFamily="2" charset="77"/>
                <a:ea typeface="+mn-ea"/>
                <a:cs typeface="+mn-cs"/>
              </a:rPr>
              <a:t>i </a:t>
            </a:r>
            <a:r>
              <a:rPr kumimoji="0" lang="en-US" sz="1100" b="0" i="0" u="none" strike="noStrike" kern="1200" cap="none" spc="0" normalizeH="0" baseline="0" noProof="0" dirty="0">
                <a:ln>
                  <a:noFill/>
                </a:ln>
                <a:solidFill>
                  <a:prstClr val="black"/>
                </a:solidFill>
                <a:effectLst/>
                <a:uLnTx/>
                <a:uFillTx/>
                <a:latin typeface="Montserrat" pitchFamily="2" charset="77"/>
                <a:ea typeface="+mn-ea"/>
                <a:cs typeface="+mn-cs"/>
              </a:rPr>
              <a:t>; with 1 &lt;= I </a:t>
            </a:r>
            <a:r>
              <a:rPr kumimoji="0" lang="en-US" sz="1100" b="0"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sym typeface="Wingdings" pitchFamily="2" charset="2"/>
              </a:rPr>
              <a:t>&lt;=</a:t>
            </a:r>
            <a:r>
              <a:rPr kumimoji="0" lang="en-US" sz="1100" b="0" i="0" u="none" strike="noStrike" kern="1200" cap="none" spc="0" normalizeH="0" baseline="0" noProof="0" dirty="0">
                <a:ln>
                  <a:noFill/>
                </a:ln>
                <a:solidFill>
                  <a:prstClr val="black"/>
                </a:solidFill>
                <a:effectLst/>
                <a:uLnTx/>
                <a:uFillTx/>
                <a:latin typeface="Montserrat" pitchFamily="2" charset="77"/>
                <a:ea typeface="+mn-ea"/>
                <a:cs typeface="+mn-cs"/>
              </a:rPr>
              <a:t> m</a:t>
            </a:r>
          </a:p>
        </p:txBody>
      </p:sp>
      <p:sp>
        <p:nvSpPr>
          <p:cNvPr id="111" name="ZoneTexte 110">
            <a:extLst>
              <a:ext uri="{FF2B5EF4-FFF2-40B4-BE49-F238E27FC236}">
                <a16:creationId xmlns:a16="http://schemas.microsoft.com/office/drawing/2014/main" id="{D9157BE4-58F8-483A-9A19-4671C6620285}"/>
              </a:ext>
            </a:extLst>
          </p:cNvPr>
          <p:cNvSpPr txBox="1"/>
          <p:nvPr/>
        </p:nvSpPr>
        <p:spPr>
          <a:xfrm>
            <a:off x="11830959" y="3683728"/>
            <a:ext cx="24397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rPr>
              <a:t>*</a:t>
            </a:r>
          </a:p>
        </p:txBody>
      </p:sp>
      <p:sp>
        <p:nvSpPr>
          <p:cNvPr id="112" name="ZoneTexte 111">
            <a:extLst>
              <a:ext uri="{FF2B5EF4-FFF2-40B4-BE49-F238E27FC236}">
                <a16:creationId xmlns:a16="http://schemas.microsoft.com/office/drawing/2014/main" id="{3CE81920-3923-53D2-4528-197C39E9A0BB}"/>
              </a:ext>
            </a:extLst>
          </p:cNvPr>
          <p:cNvSpPr txBox="1"/>
          <p:nvPr/>
        </p:nvSpPr>
        <p:spPr>
          <a:xfrm>
            <a:off x="78378" y="6572292"/>
            <a:ext cx="24397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rPr>
              <a:t>*</a:t>
            </a:r>
          </a:p>
        </p:txBody>
      </p:sp>
    </p:spTree>
    <p:extLst>
      <p:ext uri="{BB962C8B-B14F-4D97-AF65-F5344CB8AC3E}">
        <p14:creationId xmlns:p14="http://schemas.microsoft.com/office/powerpoint/2010/main" val="186674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4EA90-65D4-ED99-6CD4-D0209421314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F424086-0B00-B234-85A7-9AEED732D37F}"/>
              </a:ext>
            </a:extLst>
          </p:cNvPr>
          <p:cNvSpPr>
            <a:spLocks noGrp="1"/>
          </p:cNvSpPr>
          <p:nvPr>
            <p:ph idx="1"/>
          </p:nvPr>
        </p:nvSpPr>
        <p:spPr>
          <a:xfrm>
            <a:off x="717101" y="837905"/>
            <a:ext cx="10515600" cy="4351338"/>
          </a:xfrm>
        </p:spPr>
        <p:txBody>
          <a:bodyPr>
            <a:normAutofit/>
          </a:bodyPr>
          <a:lstStyle/>
          <a:p>
            <a:pPr marL="457200" lvl="1" indent="0">
              <a:buNone/>
            </a:pPr>
            <a:endParaRPr lang="en-US" sz="1800" dirty="0">
              <a:latin typeface="Montserrat" pitchFamily="2" charset="77"/>
            </a:endParaRPr>
          </a:p>
          <a:p>
            <a:r>
              <a:rPr lang="en-US" sz="1800" dirty="0">
                <a:latin typeface="Montserrat" pitchFamily="2" charset="77"/>
              </a:rPr>
              <a:t>All product management information exchange is based done on a bilateral agreement.</a:t>
            </a:r>
          </a:p>
          <a:p>
            <a:r>
              <a:rPr lang="en-US" sz="1800" dirty="0">
                <a:latin typeface="Montserrat" pitchFamily="2" charset="77"/>
              </a:rPr>
              <a:t>This agreement shall contain all cover all information required to be able to exchange product information and retail those products, such as, but not limited to, </a:t>
            </a:r>
          </a:p>
          <a:p>
            <a:pPr lvl="1"/>
            <a:r>
              <a:rPr lang="en-US" sz="1400" dirty="0">
                <a:latin typeface="Montserrat" pitchFamily="2" charset="77"/>
              </a:rPr>
              <a:t>Specific product attributes ( extensions of the std IATA model)</a:t>
            </a:r>
          </a:p>
          <a:p>
            <a:pPr lvl="1"/>
            <a:r>
              <a:rPr lang="en-US" sz="1400" dirty="0">
                <a:latin typeface="Montserrat" pitchFamily="2" charset="77"/>
              </a:rPr>
              <a:t>A</a:t>
            </a:r>
            <a:r>
              <a:rPr lang="en-US" sz="1400">
                <a:latin typeface="Montserrat" pitchFamily="2" charset="77"/>
              </a:rPr>
              <a:t>lignment </a:t>
            </a:r>
            <a:r>
              <a:rPr lang="en-US" sz="1400" dirty="0">
                <a:latin typeface="Montserrat" pitchFamily="2" charset="77"/>
              </a:rPr>
              <a:t>on language, taxonomy</a:t>
            </a:r>
          </a:p>
          <a:p>
            <a:pPr lvl="1"/>
            <a:r>
              <a:rPr lang="en-US" sz="1400" dirty="0">
                <a:latin typeface="Montserrat" pitchFamily="2" charset="77"/>
              </a:rPr>
              <a:t>Rules and constraints related to the products for use by the retailer in offer construction</a:t>
            </a:r>
          </a:p>
          <a:p>
            <a:r>
              <a:rPr lang="en-US" sz="1800" dirty="0">
                <a:latin typeface="Montserrat" pitchFamily="2" charset="77"/>
              </a:rPr>
              <a:t>In order for the agreement and the exchange to work a </a:t>
            </a:r>
            <a:r>
              <a:rPr lang="en-US" sz="1800" b="1" dirty="0">
                <a:latin typeface="Montserrat" pitchFamily="2" charset="77"/>
              </a:rPr>
              <a:t>common flexible and extensible framework </a:t>
            </a:r>
            <a:r>
              <a:rPr lang="en-US" sz="1800" dirty="0">
                <a:latin typeface="Montserrat" pitchFamily="2" charset="77"/>
              </a:rPr>
              <a:t>has to be established to enable the base requirements as outlined before. </a:t>
            </a:r>
          </a:p>
          <a:p>
            <a:endParaRPr lang="en-US" sz="1800" dirty="0">
              <a:latin typeface="Montserrat" pitchFamily="2" charset="77"/>
            </a:endParaRPr>
          </a:p>
          <a:p>
            <a:pPr marL="0" indent="0">
              <a:buNone/>
            </a:pPr>
            <a:r>
              <a:rPr lang="en-US" sz="1800" dirty="0">
                <a:latin typeface="Montserrat" pitchFamily="2" charset="77"/>
              </a:rPr>
              <a:t>A complete set of principles is available in the Product Information Exchange BRD</a:t>
            </a:r>
          </a:p>
          <a:p>
            <a:pPr marL="0" indent="0">
              <a:buNone/>
            </a:pPr>
            <a:endParaRPr lang="en-US" dirty="0"/>
          </a:p>
        </p:txBody>
      </p:sp>
      <p:sp>
        <p:nvSpPr>
          <p:cNvPr id="4" name="Titre 1">
            <a:extLst>
              <a:ext uri="{FF2B5EF4-FFF2-40B4-BE49-F238E27FC236}">
                <a16:creationId xmlns:a16="http://schemas.microsoft.com/office/drawing/2014/main" id="{45888847-611B-8562-2B23-61841DAE4EF5}"/>
              </a:ext>
            </a:extLst>
          </p:cNvPr>
          <p:cNvSpPr txBox="1">
            <a:spLocks/>
          </p:cNvSpPr>
          <p:nvPr/>
        </p:nvSpPr>
        <p:spPr>
          <a:xfrm>
            <a:off x="0" y="0"/>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Base principles</a:t>
            </a:r>
          </a:p>
        </p:txBody>
      </p:sp>
    </p:spTree>
    <p:extLst>
      <p:ext uri="{BB962C8B-B14F-4D97-AF65-F5344CB8AC3E}">
        <p14:creationId xmlns:p14="http://schemas.microsoft.com/office/powerpoint/2010/main" val="2588532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457F4-064C-027E-2D13-4BE7DB50017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435A90A-17D0-B9B3-55F4-ABADB059B6A3}"/>
              </a:ext>
            </a:extLst>
          </p:cNvPr>
          <p:cNvSpPr>
            <a:spLocks noGrp="1"/>
          </p:cNvSpPr>
          <p:nvPr>
            <p:ph idx="1"/>
          </p:nvPr>
        </p:nvSpPr>
        <p:spPr>
          <a:xfrm>
            <a:off x="336494" y="1092425"/>
            <a:ext cx="10515600" cy="5591596"/>
          </a:xfrm>
        </p:spPr>
        <p:txBody>
          <a:bodyPr>
            <a:normAutofit fontScale="92500" lnSpcReduction="10000"/>
          </a:bodyPr>
          <a:lstStyle/>
          <a:p>
            <a:r>
              <a:rPr lang="en-US" sz="1800" b="1" dirty="0">
                <a:latin typeface="Montserrat" pitchFamily="2" charset="77"/>
              </a:rPr>
              <a:t>It is required that every participant in the retailer / supplier eco-system can</a:t>
            </a:r>
            <a:r>
              <a:rPr lang="en-US" sz="1800" dirty="0">
                <a:latin typeface="Montserrat" pitchFamily="2" charset="77"/>
              </a:rPr>
              <a:t> :</a:t>
            </a:r>
          </a:p>
          <a:p>
            <a:endParaRPr lang="en-US" sz="1800" dirty="0">
              <a:latin typeface="Montserrat" pitchFamily="2" charset="77"/>
            </a:endParaRPr>
          </a:p>
          <a:p>
            <a:pPr lvl="1"/>
            <a:r>
              <a:rPr lang="en-US" sz="1400" b="1" dirty="0">
                <a:latin typeface="Montserrat" pitchFamily="2" charset="77"/>
              </a:rPr>
              <a:t>Create, Update, deprecate and delete their products</a:t>
            </a:r>
            <a:r>
              <a:rPr lang="en-US" sz="1400" dirty="0">
                <a:latin typeface="Montserrat" pitchFamily="2" charset="77"/>
              </a:rPr>
              <a:t>, in general maintain full control on the lifecycle of their products at any time.</a:t>
            </a:r>
          </a:p>
          <a:p>
            <a:pPr lvl="1"/>
            <a:endParaRPr lang="en-US" sz="1400" dirty="0">
              <a:latin typeface="Montserrat" pitchFamily="2" charset="77"/>
            </a:endParaRPr>
          </a:p>
          <a:p>
            <a:pPr lvl="1"/>
            <a:r>
              <a:rPr lang="en-US" sz="1400" b="1" dirty="0">
                <a:latin typeface="Montserrat" pitchFamily="2" charset="77"/>
              </a:rPr>
              <a:t>Define any product management information needed and possibly shared between partners </a:t>
            </a:r>
            <a:r>
              <a:rPr lang="en-US" sz="1400" dirty="0">
                <a:latin typeface="Montserrat" pitchFamily="2" charset="77"/>
              </a:rPr>
              <a:t>such as but not limited to:</a:t>
            </a:r>
          </a:p>
          <a:p>
            <a:pPr lvl="2"/>
            <a:r>
              <a:rPr lang="en-US" sz="1000" dirty="0">
                <a:latin typeface="Montserrat" pitchFamily="2" charset="77"/>
              </a:rPr>
              <a:t>Features and attributes of their products as they see fit. </a:t>
            </a:r>
          </a:p>
          <a:p>
            <a:pPr lvl="2"/>
            <a:r>
              <a:rPr lang="en-US" sz="1000" dirty="0">
                <a:latin typeface="Montserrat" pitchFamily="2" charset="77"/>
              </a:rPr>
              <a:t>The lifecycle states of their products as they see fit.</a:t>
            </a:r>
          </a:p>
          <a:p>
            <a:pPr lvl="2"/>
            <a:r>
              <a:rPr lang="en-US" sz="1000" dirty="0">
                <a:latin typeface="Montserrat" pitchFamily="2" charset="77"/>
              </a:rPr>
              <a:t>Add any other type of information they require for their business processes</a:t>
            </a:r>
          </a:p>
          <a:p>
            <a:pPr lvl="1"/>
            <a:endParaRPr lang="en-US" sz="1400" dirty="0">
              <a:latin typeface="Montserrat" pitchFamily="2" charset="77"/>
            </a:endParaRPr>
          </a:p>
          <a:p>
            <a:pPr lvl="1"/>
            <a:r>
              <a:rPr lang="en-US" sz="1400" dirty="0">
                <a:latin typeface="Montserrat" pitchFamily="2" charset="77"/>
              </a:rPr>
              <a:t>In the case of </a:t>
            </a:r>
            <a:r>
              <a:rPr lang="en-US" sz="1400" b="1" dirty="0">
                <a:latin typeface="Montserrat" pitchFamily="2" charset="77"/>
              </a:rPr>
              <a:t>the retailer, all the information received,  can be used in any form or shape or combination </a:t>
            </a:r>
            <a:r>
              <a:rPr lang="en-US" sz="1400" dirty="0">
                <a:latin typeface="Montserrat" pitchFamily="2" charset="77"/>
              </a:rPr>
              <a:t>to request offers from the supplier. Offer requests shall stay within the limits of the product management information made available by the supplier.</a:t>
            </a:r>
          </a:p>
          <a:p>
            <a:pPr lvl="1"/>
            <a:endParaRPr lang="en-US" sz="1400" dirty="0">
              <a:latin typeface="Montserrat" pitchFamily="2" charset="77"/>
            </a:endParaRPr>
          </a:p>
          <a:p>
            <a:r>
              <a:rPr lang="en-US" sz="1800" b="1" dirty="0">
                <a:latin typeface="Montserrat" pitchFamily="2" charset="77"/>
              </a:rPr>
              <a:t>Considering the nature of the </a:t>
            </a:r>
            <a:r>
              <a:rPr lang="en-US" sz="1800" b="1" dirty="0" err="1">
                <a:latin typeface="Montserrat" pitchFamily="2" charset="77"/>
              </a:rPr>
              <a:t>n:m</a:t>
            </a:r>
            <a:r>
              <a:rPr lang="en-US" sz="1800" b="1" dirty="0">
                <a:latin typeface="Montserrat" pitchFamily="2" charset="77"/>
              </a:rPr>
              <a:t> exchanges it is required that :</a:t>
            </a:r>
          </a:p>
          <a:p>
            <a:endParaRPr lang="en-US" sz="1800" b="1" dirty="0">
              <a:latin typeface="Montserrat" pitchFamily="2" charset="77"/>
            </a:endParaRPr>
          </a:p>
          <a:p>
            <a:pPr lvl="1"/>
            <a:r>
              <a:rPr lang="en-US" sz="1400" b="1" dirty="0">
                <a:latin typeface="Montserrat" pitchFamily="2" charset="77"/>
              </a:rPr>
              <a:t>A common language and business process </a:t>
            </a:r>
            <a:r>
              <a:rPr lang="en-US" sz="1400" dirty="0">
                <a:latin typeface="Montserrat" pitchFamily="2" charset="77"/>
              </a:rPr>
              <a:t>is designed for reading and interpretation of received product management information considering that it would be unfeasible to treat every single bilateral agreement based on different syntax and semantics.</a:t>
            </a:r>
          </a:p>
          <a:p>
            <a:pPr lvl="2"/>
            <a:r>
              <a:rPr lang="en-US" sz="1000" dirty="0">
                <a:latin typeface="Montserrat" pitchFamily="2" charset="77"/>
              </a:rPr>
              <a:t>Based upon the above capabilities of the retailer / supplier ecosystem  this framework has to have the capability to be flexible and extensible allowing for any type of product management information to be added, amended, deleted, etc. at any time.</a:t>
            </a:r>
          </a:p>
          <a:p>
            <a:pPr lvl="1"/>
            <a:endParaRPr lang="en-US" sz="1400" dirty="0">
              <a:latin typeface="Montserrat" pitchFamily="2" charset="77"/>
            </a:endParaRPr>
          </a:p>
          <a:p>
            <a:pPr lvl="1"/>
            <a:r>
              <a:rPr lang="en-US" sz="1400" dirty="0">
                <a:latin typeface="Montserrat" pitchFamily="2" charset="77"/>
              </a:rPr>
              <a:t>It is required </a:t>
            </a:r>
            <a:r>
              <a:rPr lang="en-US" sz="1400" b="1" dirty="0">
                <a:latin typeface="Montserrat" pitchFamily="2" charset="77"/>
              </a:rPr>
              <a:t>to design a flexible integration architecture </a:t>
            </a:r>
            <a:r>
              <a:rPr lang="en-US" sz="1400" dirty="0">
                <a:latin typeface="Montserrat" pitchFamily="2" charset="77"/>
              </a:rPr>
              <a:t>allowing for different types of interaction between any two partners to be chosen from as they see fit ( point to point, hub and spoke </a:t>
            </a:r>
            <a:r>
              <a:rPr lang="en-US" sz="1400" dirty="0" err="1">
                <a:latin typeface="Montserrat" pitchFamily="2" charset="77"/>
              </a:rPr>
              <a:t>etc</a:t>
            </a:r>
            <a:r>
              <a:rPr lang="en-US" sz="1400" dirty="0">
                <a:latin typeface="Montserrat" pitchFamily="2" charset="77"/>
              </a:rPr>
              <a:t> … ) </a:t>
            </a:r>
            <a:endParaRPr lang="en-US" sz="3200" dirty="0">
              <a:latin typeface="Montserrat" pitchFamily="2" charset="77"/>
            </a:endParaRPr>
          </a:p>
          <a:p>
            <a:pPr lvl="2"/>
            <a:r>
              <a:rPr lang="en-US" sz="1000" dirty="0">
                <a:latin typeface="Montserrat" pitchFamily="2" charset="77"/>
              </a:rPr>
              <a:t>The schema on slide 4/5 denotes the complexity of bilateral point to point integration with a possibly very large number of integrations creating a considerable amount of configuration / administrative work.</a:t>
            </a:r>
          </a:p>
          <a:p>
            <a:pPr marL="0" indent="0">
              <a:buNone/>
            </a:pPr>
            <a:endParaRPr lang="en-US" dirty="0"/>
          </a:p>
        </p:txBody>
      </p:sp>
      <p:sp>
        <p:nvSpPr>
          <p:cNvPr id="4" name="Titre 1">
            <a:extLst>
              <a:ext uri="{FF2B5EF4-FFF2-40B4-BE49-F238E27FC236}">
                <a16:creationId xmlns:a16="http://schemas.microsoft.com/office/drawing/2014/main" id="{8A470354-952B-A4DD-6E5C-35BD6B7F66F9}"/>
              </a:ext>
            </a:extLst>
          </p:cNvPr>
          <p:cNvSpPr txBox="1">
            <a:spLocks/>
          </p:cNvSpPr>
          <p:nvPr/>
        </p:nvSpPr>
        <p:spPr>
          <a:xfrm>
            <a:off x="118009" y="138548"/>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a:ln>
                  <a:noFill/>
                </a:ln>
                <a:solidFill>
                  <a:prstClr val="black"/>
                </a:solidFill>
                <a:effectLst/>
                <a:uLnTx/>
                <a:uFillTx/>
                <a:latin typeface="Montserrat" pitchFamily="2" charset="77"/>
                <a:ea typeface="Fira Code" pitchFamily="49" charset="0"/>
                <a:cs typeface="Fira Code" pitchFamily="49" charset="0"/>
              </a:rPr>
              <a:t>Extended Requirements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Montserrat" pitchFamily="2" charset="77"/>
                <a:ea typeface="Fira Code" pitchFamily="49" charset="0"/>
                <a:cs typeface="Fira Code" pitchFamily="49" charset="0"/>
              </a:rPr>
              <a:t>Opening up the base requirements</a:t>
            </a:r>
            <a:endParaRPr kumimoji="0" lang="en-US" sz="2000" b="0"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endParaRPr>
          </a:p>
        </p:txBody>
      </p:sp>
    </p:spTree>
    <p:extLst>
      <p:ext uri="{BB962C8B-B14F-4D97-AF65-F5344CB8AC3E}">
        <p14:creationId xmlns:p14="http://schemas.microsoft.com/office/powerpoint/2010/main" val="2296989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EB295-C020-722F-53CA-41258724784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3AAB789-E4E8-5F2B-BD6B-6FD4040C465D}"/>
              </a:ext>
            </a:extLst>
          </p:cNvPr>
          <p:cNvSpPr>
            <a:spLocks noGrp="1"/>
          </p:cNvSpPr>
          <p:nvPr>
            <p:ph idx="1"/>
          </p:nvPr>
        </p:nvSpPr>
        <p:spPr/>
        <p:txBody>
          <a:bodyPr>
            <a:normAutofit fontScale="92500" lnSpcReduction="10000"/>
          </a:bodyPr>
          <a:lstStyle/>
          <a:p>
            <a:r>
              <a:rPr lang="en-US" b="1" dirty="0">
                <a:latin typeface="Montserrat" pitchFamily="2" charset="77"/>
              </a:rPr>
              <a:t>Foremost: A grammar for defining product schemas: </a:t>
            </a:r>
          </a:p>
          <a:p>
            <a:pPr lvl="1"/>
            <a:r>
              <a:rPr lang="en-US" dirty="0">
                <a:latin typeface="Montserrat" pitchFamily="2" charset="77"/>
              </a:rPr>
              <a:t>A product schema provides a ‘template’ for a class of products:</a:t>
            </a:r>
          </a:p>
          <a:p>
            <a:pPr lvl="2"/>
            <a:r>
              <a:rPr lang="en-US" dirty="0">
                <a:latin typeface="Montserrat" pitchFamily="2" charset="77"/>
              </a:rPr>
              <a:t>Any product schema can be defined between two partners based on the grammar.</a:t>
            </a:r>
          </a:p>
          <a:p>
            <a:pPr lvl="1"/>
            <a:r>
              <a:rPr lang="en-US" b="1" dirty="0">
                <a:latin typeface="Montserrat" pitchFamily="2" charset="77"/>
              </a:rPr>
              <a:t>Secondary</a:t>
            </a:r>
            <a:r>
              <a:rPr lang="en-US" dirty="0">
                <a:latin typeface="Montserrat" pitchFamily="2" charset="77"/>
              </a:rPr>
              <a:t> a set of product schemas ‘ready to use’ based upon the grammar: </a:t>
            </a:r>
          </a:p>
          <a:p>
            <a:pPr lvl="2"/>
            <a:r>
              <a:rPr lang="en-US" dirty="0">
                <a:latin typeface="Montserrat" pitchFamily="2" charset="77"/>
              </a:rPr>
              <a:t>APMWG will provide a set of ready to use product schemas e.g. Transport, Bag, Lounge,…  </a:t>
            </a:r>
          </a:p>
          <a:p>
            <a:pPr lvl="1"/>
            <a:endParaRPr lang="en-US" dirty="0">
              <a:latin typeface="Montserrat" pitchFamily="2" charset="77"/>
            </a:endParaRPr>
          </a:p>
          <a:p>
            <a:pPr lvl="2"/>
            <a:endParaRPr lang="en-US" dirty="0">
              <a:latin typeface="Montserrat" pitchFamily="2" charset="77"/>
            </a:endParaRPr>
          </a:p>
          <a:p>
            <a:r>
              <a:rPr lang="en-US" b="1" dirty="0">
                <a:latin typeface="Montserrat" pitchFamily="2" charset="77"/>
              </a:rPr>
              <a:t>Taxonomy: An extensible ‘ready to use’ taxonomy</a:t>
            </a:r>
          </a:p>
          <a:p>
            <a:pPr lvl="1"/>
            <a:r>
              <a:rPr lang="en-US" dirty="0">
                <a:latin typeface="Montserrat" pitchFamily="2" charset="77"/>
              </a:rPr>
              <a:t>Based on taxonomy standards to enable adaptations as required for the retailer / supplier relationship</a:t>
            </a:r>
          </a:p>
          <a:p>
            <a:endParaRPr lang="en-US" b="1" dirty="0">
              <a:latin typeface="Montserrat" pitchFamily="2" charset="77"/>
            </a:endParaRPr>
          </a:p>
          <a:p>
            <a:pPr lvl="1"/>
            <a:endParaRPr lang="en-US" dirty="0"/>
          </a:p>
          <a:p>
            <a:endParaRPr lang="en-US" dirty="0"/>
          </a:p>
          <a:p>
            <a:pPr marL="457200" lvl="1" indent="0">
              <a:buNone/>
            </a:pPr>
            <a:endParaRPr lang="en-US" dirty="0"/>
          </a:p>
        </p:txBody>
      </p:sp>
      <p:sp>
        <p:nvSpPr>
          <p:cNvPr id="4" name="Titre 1">
            <a:extLst>
              <a:ext uri="{FF2B5EF4-FFF2-40B4-BE49-F238E27FC236}">
                <a16:creationId xmlns:a16="http://schemas.microsoft.com/office/drawing/2014/main" id="{58659EDB-9B06-5A99-75E0-5EE8C78E4BFA}"/>
              </a:ext>
            </a:extLst>
          </p:cNvPr>
          <p:cNvSpPr txBox="1">
            <a:spLocks/>
          </p:cNvSpPr>
          <p:nvPr/>
        </p:nvSpPr>
        <p:spPr>
          <a:xfrm>
            <a:off x="118009" y="138548"/>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Common language</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The core for efficient communication between retailer and suppliers</a:t>
            </a:r>
          </a:p>
        </p:txBody>
      </p:sp>
    </p:spTree>
    <p:extLst>
      <p:ext uri="{BB962C8B-B14F-4D97-AF65-F5344CB8AC3E}">
        <p14:creationId xmlns:p14="http://schemas.microsoft.com/office/powerpoint/2010/main" val="2895215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B0CF4-8C8C-F2BB-BBD6-E5D5626F900A}"/>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F8FBBB54-0F77-42E2-3380-38BBC92E622D}"/>
              </a:ext>
            </a:extLst>
          </p:cNvPr>
          <p:cNvSpPr txBox="1">
            <a:spLocks/>
          </p:cNvSpPr>
          <p:nvPr/>
        </p:nvSpPr>
        <p:spPr>
          <a:xfrm>
            <a:off x="118009" y="138548"/>
            <a:ext cx="10515600" cy="109173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Product Definition</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Describing product in the </a:t>
            </a:r>
            <a:br>
              <a:rPr kumimoji="0" lang="en-US" sz="2000" b="0"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br>
            <a:r>
              <a:rPr kumimoji="0" lang="en-US" sz="2000" b="0"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Retailer / Supplier for automated processing</a:t>
            </a:r>
          </a:p>
        </p:txBody>
      </p:sp>
      <p:pic>
        <p:nvPicPr>
          <p:cNvPr id="11266" name="Picture 2">
            <a:extLst>
              <a:ext uri="{FF2B5EF4-FFF2-40B4-BE49-F238E27FC236}">
                <a16:creationId xmlns:a16="http://schemas.microsoft.com/office/drawing/2014/main" id="{842F5A5D-2F2F-63DD-B21B-64DF5B58E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1421" y="232757"/>
            <a:ext cx="5692246" cy="6442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757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A77BB-ECA4-FD04-D19B-73B3A0823B1A}"/>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3BB8C105-02AF-2325-4EF4-3A5E5863B747}"/>
              </a:ext>
            </a:extLst>
          </p:cNvPr>
          <p:cNvSpPr txBox="1">
            <a:spLocks/>
          </p:cNvSpPr>
          <p:nvPr/>
        </p:nvSpPr>
        <p:spPr>
          <a:xfrm>
            <a:off x="118009" y="138548"/>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Taxonomy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Applied to the Retailer / Supplier model</a:t>
            </a:r>
          </a:p>
        </p:txBody>
      </p:sp>
      <p:pic>
        <p:nvPicPr>
          <p:cNvPr id="12290" name="Picture 2">
            <a:extLst>
              <a:ext uri="{FF2B5EF4-FFF2-40B4-BE49-F238E27FC236}">
                <a16:creationId xmlns:a16="http://schemas.microsoft.com/office/drawing/2014/main" id="{C2AE74FE-1D5B-8302-C56A-E00AEF8DD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753" y="972587"/>
            <a:ext cx="5981763" cy="5483283"/>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4">
            <a:extLst>
              <a:ext uri="{FF2B5EF4-FFF2-40B4-BE49-F238E27FC236}">
                <a16:creationId xmlns:a16="http://schemas.microsoft.com/office/drawing/2014/main" id="{F0B51B06-E891-3E7A-F68D-FD6B22D264C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11">
            <a:extLst>
              <a:ext uri="{FF2B5EF4-FFF2-40B4-BE49-F238E27FC236}">
                <a16:creationId xmlns:a16="http://schemas.microsoft.com/office/drawing/2014/main" id="{17F94323-0063-E26C-B011-BC139F403695}"/>
              </a:ext>
            </a:extLst>
          </p:cNvPr>
          <p:cNvPicPr>
            <a:picLocks noChangeAspect="1"/>
          </p:cNvPicPr>
          <p:nvPr/>
        </p:nvPicPr>
        <p:blipFill>
          <a:blip r:embed="rId4"/>
          <a:stretch>
            <a:fillRect/>
          </a:stretch>
        </p:blipFill>
        <p:spPr>
          <a:xfrm>
            <a:off x="6615547" y="1246909"/>
            <a:ext cx="5138807" cy="4484517"/>
          </a:xfrm>
          <a:prstGeom prst="rect">
            <a:avLst/>
          </a:prstGeom>
        </p:spPr>
      </p:pic>
    </p:spTree>
    <p:extLst>
      <p:ext uri="{BB962C8B-B14F-4D97-AF65-F5344CB8AC3E}">
        <p14:creationId xmlns:p14="http://schemas.microsoft.com/office/powerpoint/2010/main" val="1258731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9C703-48EA-07B0-9B24-28AA0A6E2677}"/>
            </a:ext>
          </a:extLst>
        </p:cNvPr>
        <p:cNvGrpSpPr/>
        <p:nvPr/>
      </p:nvGrpSpPr>
      <p:grpSpPr>
        <a:xfrm>
          <a:off x="0" y="0"/>
          <a:ext cx="0" cy="0"/>
          <a:chOff x="0" y="0"/>
          <a:chExt cx="0" cy="0"/>
        </a:xfrm>
      </p:grpSpPr>
      <p:pic>
        <p:nvPicPr>
          <p:cNvPr id="2" name="Picture 4" descr="Vue de dessus des cubes reliés par des lignes noires">
            <a:extLst>
              <a:ext uri="{FF2B5EF4-FFF2-40B4-BE49-F238E27FC236}">
                <a16:creationId xmlns:a16="http://schemas.microsoft.com/office/drawing/2014/main" id="{9FD173CD-7B8C-B42D-49F2-3F874FF1F426}"/>
              </a:ext>
            </a:extLst>
          </p:cNvPr>
          <p:cNvPicPr>
            <a:picLocks noChangeAspect="1"/>
          </p:cNvPicPr>
          <p:nvPr/>
        </p:nvPicPr>
        <p:blipFill>
          <a:blip r:embed="rId3"/>
          <a:srcRect l="26794" r="16872"/>
          <a:stretch>
            <a:fillRect/>
          </a:stretch>
        </p:blipFill>
        <p:spPr>
          <a:xfrm>
            <a:off x="0" y="10"/>
            <a:ext cx="5151179" cy="6857990"/>
          </a:xfrm>
          <a:prstGeom prst="rect">
            <a:avLst/>
          </a:prstGeom>
        </p:spPr>
      </p:pic>
      <p:sp>
        <p:nvSpPr>
          <p:cNvPr id="4" name="Titre 1">
            <a:extLst>
              <a:ext uri="{FF2B5EF4-FFF2-40B4-BE49-F238E27FC236}">
                <a16:creationId xmlns:a16="http://schemas.microsoft.com/office/drawing/2014/main" id="{7AAE5441-FFEB-C341-A1CA-1B178FF96567}"/>
              </a:ext>
            </a:extLst>
          </p:cNvPr>
          <p:cNvSpPr txBox="1">
            <a:spLocks/>
          </p:cNvSpPr>
          <p:nvPr/>
        </p:nvSpPr>
        <p:spPr>
          <a:xfrm>
            <a:off x="118009" y="255567"/>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Business process design</a:t>
            </a:r>
          </a:p>
        </p:txBody>
      </p:sp>
      <p:sp>
        <p:nvSpPr>
          <p:cNvPr id="7" name="Espace réservé du contenu 2">
            <a:extLst>
              <a:ext uri="{FF2B5EF4-FFF2-40B4-BE49-F238E27FC236}">
                <a16:creationId xmlns:a16="http://schemas.microsoft.com/office/drawing/2014/main" id="{333BCE25-1A38-6AF8-0255-883A1D08F870}"/>
              </a:ext>
            </a:extLst>
          </p:cNvPr>
          <p:cNvSpPr>
            <a:spLocks noGrp="1"/>
          </p:cNvSpPr>
          <p:nvPr>
            <p:ph idx="1"/>
          </p:nvPr>
        </p:nvSpPr>
        <p:spPr>
          <a:xfrm>
            <a:off x="6045200" y="1105434"/>
            <a:ext cx="5098206" cy="5262998"/>
          </a:xfrm>
        </p:spPr>
        <p:txBody>
          <a:bodyPr>
            <a:normAutofit/>
          </a:bodyPr>
          <a:lstStyle/>
          <a:p>
            <a:r>
              <a:rPr lang="en-US" sz="1800" b="1" dirty="0">
                <a:latin typeface="Montserrat" pitchFamily="2" charset="77"/>
              </a:rPr>
              <a:t>Value Chain</a:t>
            </a:r>
          </a:p>
          <a:p>
            <a:pPr lvl="1"/>
            <a:r>
              <a:rPr lang="en-US" sz="1400" b="1" dirty="0">
                <a:latin typeface="Montserrat" pitchFamily="2" charset="77"/>
              </a:rPr>
              <a:t>Enabling a retailer to market, offer and sell products from one or more suppliers </a:t>
            </a:r>
          </a:p>
          <a:p>
            <a:pPr lvl="1"/>
            <a:endParaRPr lang="en-US" sz="1400" b="1" dirty="0">
              <a:latin typeface="Montserrat" pitchFamily="2" charset="77"/>
            </a:endParaRPr>
          </a:p>
          <a:p>
            <a:r>
              <a:rPr lang="en-US" sz="1800" b="1" dirty="0">
                <a:latin typeface="Montserrat" pitchFamily="2" charset="77"/>
              </a:rPr>
              <a:t>Business Processes enabling the Value Chain</a:t>
            </a:r>
          </a:p>
          <a:p>
            <a:pPr lvl="1"/>
            <a:r>
              <a:rPr lang="en-US" sz="1400" dirty="0">
                <a:latin typeface="Montserrat" pitchFamily="2" charset="77"/>
              </a:rPr>
              <a:t>Such as : </a:t>
            </a:r>
          </a:p>
          <a:p>
            <a:pPr lvl="2"/>
            <a:r>
              <a:rPr lang="en-US" sz="1000" b="1" dirty="0">
                <a:latin typeface="Montserrat" pitchFamily="2" charset="77"/>
              </a:rPr>
              <a:t>Enter into Agreement </a:t>
            </a:r>
            <a:r>
              <a:rPr lang="en-US" sz="1000" b="1" dirty="0">
                <a:latin typeface="Montserrat" pitchFamily="2" charset="77"/>
                <a:sym typeface="Wingdings" pitchFamily="2" charset="2"/>
              </a:rPr>
              <a:t></a:t>
            </a:r>
            <a:endParaRPr lang="en-US" sz="1000" b="1" dirty="0">
              <a:latin typeface="Montserrat" pitchFamily="2" charset="77"/>
            </a:endParaRPr>
          </a:p>
          <a:p>
            <a:pPr lvl="2"/>
            <a:r>
              <a:rPr lang="en-US" sz="1200" b="1" dirty="0">
                <a:latin typeface="Montserrat" pitchFamily="2" charset="77"/>
              </a:rPr>
              <a:t>Product Management </a:t>
            </a:r>
            <a:r>
              <a:rPr lang="en-US" sz="1200" b="1" dirty="0">
                <a:latin typeface="Montserrat" pitchFamily="2" charset="77"/>
                <a:sym typeface="Wingdings" pitchFamily="2" charset="2"/>
              </a:rPr>
              <a:t></a:t>
            </a:r>
            <a:endParaRPr lang="en-US" sz="1200" b="1" dirty="0">
              <a:latin typeface="Montserrat" pitchFamily="2" charset="77"/>
            </a:endParaRPr>
          </a:p>
          <a:p>
            <a:pPr lvl="2"/>
            <a:r>
              <a:rPr lang="en-US" sz="1100" b="1" dirty="0">
                <a:latin typeface="Montserrat" pitchFamily="2" charset="77"/>
              </a:rPr>
              <a:t>Supplier Offer </a:t>
            </a:r>
            <a:r>
              <a:rPr lang="en-US" sz="1100" b="1" dirty="0">
                <a:latin typeface="Montserrat" pitchFamily="2" charset="77"/>
                <a:sym typeface="Wingdings" pitchFamily="2" charset="2"/>
              </a:rPr>
              <a:t></a:t>
            </a:r>
            <a:endParaRPr lang="en-US" sz="1100" b="1" dirty="0">
              <a:latin typeface="Montserrat" pitchFamily="2" charset="77"/>
            </a:endParaRPr>
          </a:p>
          <a:p>
            <a:pPr lvl="2"/>
            <a:r>
              <a:rPr lang="en-US" sz="1000" dirty="0">
                <a:latin typeface="Montserrat" pitchFamily="2" charset="77"/>
              </a:rPr>
              <a:t>Supplier Order</a:t>
            </a:r>
          </a:p>
          <a:p>
            <a:pPr lvl="2"/>
            <a:r>
              <a:rPr lang="en-US" sz="1000" dirty="0">
                <a:latin typeface="Montserrat" pitchFamily="2" charset="77"/>
              </a:rPr>
              <a:t>Manage Delivery </a:t>
            </a:r>
          </a:p>
          <a:p>
            <a:pPr marL="914400" lvl="2" indent="0">
              <a:buNone/>
            </a:pPr>
            <a:endParaRPr lang="en-US" sz="1000" dirty="0">
              <a:latin typeface="Montserrat" pitchFamily="2" charset="77"/>
            </a:endParaRPr>
          </a:p>
        </p:txBody>
      </p:sp>
    </p:spTree>
    <p:extLst>
      <p:ext uri="{BB962C8B-B14F-4D97-AF65-F5344CB8AC3E}">
        <p14:creationId xmlns:p14="http://schemas.microsoft.com/office/powerpoint/2010/main" val="4273957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CFBBF-B4E9-C147-73D3-D83E36D66E7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0201C2-8FA9-E5F1-25B6-17D254AB9F2E}"/>
              </a:ext>
            </a:extLst>
          </p:cNvPr>
          <p:cNvSpPr>
            <a:spLocks noGrp="1"/>
          </p:cNvSpPr>
          <p:nvPr>
            <p:ph idx="1"/>
          </p:nvPr>
        </p:nvSpPr>
        <p:spPr>
          <a:xfrm>
            <a:off x="257692" y="1127205"/>
            <a:ext cx="10515600" cy="5262998"/>
          </a:xfrm>
        </p:spPr>
        <p:txBody>
          <a:bodyPr>
            <a:normAutofit fontScale="92500" lnSpcReduction="10000"/>
          </a:bodyPr>
          <a:lstStyle/>
          <a:p>
            <a:r>
              <a:rPr lang="en-US" sz="2000" b="1" dirty="0">
                <a:latin typeface="Montserrat" pitchFamily="2" charset="77"/>
              </a:rPr>
              <a:t>Level 2 : Enter into Agreement</a:t>
            </a:r>
            <a:endParaRPr lang="en-US" sz="2000" b="1" dirty="0">
              <a:latin typeface="Montserrat" pitchFamily="2" charset="77"/>
              <a:sym typeface="Wingdings" pitchFamily="2" charset="2"/>
            </a:endParaRPr>
          </a:p>
          <a:p>
            <a:pPr lvl="1"/>
            <a:r>
              <a:rPr lang="en-US" sz="1600" dirty="0">
                <a:latin typeface="Montserrat" pitchFamily="2" charset="77"/>
                <a:sym typeface="Wingdings" pitchFamily="2" charset="2"/>
              </a:rPr>
              <a:t>Level 3 Create -&gt; Execute -&gt; Maintain</a:t>
            </a:r>
          </a:p>
          <a:p>
            <a:pPr lvl="2"/>
            <a:r>
              <a:rPr lang="en-US" sz="1200" dirty="0">
                <a:latin typeface="Montserrat" pitchFamily="2" charset="77"/>
                <a:sym typeface="Wingdings" pitchFamily="2" charset="2"/>
              </a:rPr>
              <a:t>Level 4 : Select set of products to be retailed by Retailer </a:t>
            </a:r>
          </a:p>
          <a:p>
            <a:pPr lvl="2"/>
            <a:r>
              <a:rPr lang="en-US" sz="1200" dirty="0">
                <a:latin typeface="Montserrat" pitchFamily="2" charset="77"/>
                <a:sym typeface="Wingdings" pitchFamily="2" charset="2"/>
              </a:rPr>
              <a:t>Level 4 : Align/extend Product Schemas </a:t>
            </a:r>
          </a:p>
          <a:p>
            <a:pPr lvl="2"/>
            <a:r>
              <a:rPr lang="en-US" sz="1200" dirty="0">
                <a:latin typeface="Montserrat" pitchFamily="2" charset="77"/>
                <a:sym typeface="Wingdings" pitchFamily="2" charset="2"/>
              </a:rPr>
              <a:t>Level 4: Align/extend Taxonomy</a:t>
            </a:r>
          </a:p>
          <a:p>
            <a:r>
              <a:rPr lang="en-US" sz="2000" b="1" dirty="0">
                <a:latin typeface="Montserrat" pitchFamily="2" charset="77"/>
              </a:rPr>
              <a:t>Level 2: Product Management</a:t>
            </a:r>
            <a:endParaRPr lang="en-US" sz="2000" b="1" dirty="0">
              <a:latin typeface="Montserrat" pitchFamily="2" charset="77"/>
              <a:sym typeface="Wingdings" pitchFamily="2" charset="2"/>
            </a:endParaRPr>
          </a:p>
          <a:p>
            <a:pPr lvl="1"/>
            <a:r>
              <a:rPr lang="en-US" sz="1600" dirty="0">
                <a:latin typeface="Montserrat" pitchFamily="2" charset="77"/>
                <a:sym typeface="Wingdings" pitchFamily="2" charset="2"/>
              </a:rPr>
              <a:t>Level 3 : </a:t>
            </a:r>
            <a:r>
              <a:rPr lang="en-US" sz="1600" dirty="0">
                <a:latin typeface="Montserrat" pitchFamily="2" charset="77"/>
              </a:rPr>
              <a:t>Supplier : create initial supplier catalog artefacts ( schema, </a:t>
            </a:r>
            <a:r>
              <a:rPr lang="en-US" sz="1600" dirty="0" err="1">
                <a:latin typeface="Montserrat" pitchFamily="2" charset="77"/>
              </a:rPr>
              <a:t>taxonomie</a:t>
            </a:r>
            <a:r>
              <a:rPr lang="en-US" sz="1600" dirty="0">
                <a:latin typeface="Montserrat" pitchFamily="2" charset="77"/>
              </a:rPr>
              <a:t> , products, … )</a:t>
            </a:r>
          </a:p>
          <a:p>
            <a:pPr lvl="1"/>
            <a:r>
              <a:rPr lang="en-US" sz="1600" dirty="0">
                <a:latin typeface="Montserrat" pitchFamily="2" charset="77"/>
              </a:rPr>
              <a:t>Level 3 send supplier catalog artefacts to retailer(s)</a:t>
            </a:r>
          </a:p>
          <a:p>
            <a:pPr lvl="2"/>
            <a:r>
              <a:rPr lang="en-US" sz="1200" dirty="0">
                <a:latin typeface="Montserrat" pitchFamily="2" charset="77"/>
              </a:rPr>
              <a:t>Level 4: Serialize -&gt; Package -&gt; Send</a:t>
            </a:r>
          </a:p>
          <a:p>
            <a:pPr lvl="2"/>
            <a:r>
              <a:rPr lang="en-US" sz="1200" dirty="0">
                <a:latin typeface="Montserrat" pitchFamily="2" charset="77"/>
              </a:rPr>
              <a:t>Level 4: Receive -&gt; Unpack – Deserialize</a:t>
            </a:r>
          </a:p>
          <a:p>
            <a:pPr lvl="1"/>
            <a:r>
              <a:rPr lang="en-US" sz="1600" dirty="0">
                <a:latin typeface="Montserrat" pitchFamily="2" charset="77"/>
              </a:rPr>
              <a:t>Level 3 status change on any artefact -&gt; maintain(s) catalog / send delta to retailer </a:t>
            </a:r>
          </a:p>
          <a:p>
            <a:pPr lvl="1"/>
            <a:r>
              <a:rPr lang="en-US" sz="1600" b="1" dirty="0">
                <a:latin typeface="Montserrat" pitchFamily="2" charset="77"/>
              </a:rPr>
              <a:t>….  </a:t>
            </a:r>
          </a:p>
          <a:p>
            <a:pPr lvl="1"/>
            <a:endParaRPr lang="en-US" sz="1600" b="1" dirty="0">
              <a:latin typeface="Montserrat" pitchFamily="2" charset="77"/>
            </a:endParaRPr>
          </a:p>
          <a:p>
            <a:pPr marL="457200" lvl="1" indent="0">
              <a:buNone/>
            </a:pPr>
            <a:r>
              <a:rPr lang="en-US" sz="1600" b="1" dirty="0">
                <a:latin typeface="Montserrat" pitchFamily="2" charset="77"/>
                <a:sym typeface="Wingdings" pitchFamily="2" charset="2"/>
              </a:rPr>
              <a:t></a:t>
            </a:r>
            <a:r>
              <a:rPr lang="en-US" sz="1600" b="1" dirty="0">
                <a:latin typeface="Montserrat" pitchFamily="2" charset="77"/>
              </a:rPr>
              <a:t>The full process design from a business perspective is TBD</a:t>
            </a:r>
          </a:p>
          <a:p>
            <a:pPr marL="457200" lvl="1" indent="0">
              <a:buNone/>
            </a:pPr>
            <a:endParaRPr lang="en-US" sz="1600" b="1" dirty="0">
              <a:latin typeface="Montserrat" pitchFamily="2" charset="77"/>
            </a:endParaRPr>
          </a:p>
          <a:p>
            <a:r>
              <a:rPr lang="en-US" sz="1900" b="1" dirty="0">
                <a:latin typeface="Montserrat" pitchFamily="2" charset="77"/>
              </a:rPr>
              <a:t>Level 2: Supplier Offer </a:t>
            </a:r>
            <a:r>
              <a:rPr lang="en-US" sz="1900" b="1" dirty="0">
                <a:latin typeface="Montserrat" pitchFamily="2" charset="77"/>
                <a:sym typeface="Wingdings" pitchFamily="2" charset="2"/>
              </a:rPr>
              <a:t></a:t>
            </a:r>
          </a:p>
          <a:p>
            <a:pPr lvl="1"/>
            <a:r>
              <a:rPr lang="en-US" sz="1500" dirty="0">
                <a:latin typeface="Montserrat" pitchFamily="2" charset="77"/>
                <a:sym typeface="Wingdings" pitchFamily="2" charset="2"/>
              </a:rPr>
              <a:t>Usage of the Product Catalog to </a:t>
            </a:r>
            <a:br>
              <a:rPr lang="en-US" sz="1500" b="1" dirty="0">
                <a:latin typeface="Montserrat" pitchFamily="2" charset="77"/>
                <a:sym typeface="Wingdings" pitchFamily="2" charset="2"/>
              </a:rPr>
            </a:br>
            <a:r>
              <a:rPr lang="en-US" sz="1500" dirty="0">
                <a:latin typeface="Montserrat" pitchFamily="2" charset="77"/>
                <a:sym typeface="Wingdings" pitchFamily="2" charset="2"/>
              </a:rPr>
              <a:t>request offers from a supplier for all</a:t>
            </a:r>
            <a:br>
              <a:rPr lang="en-US" sz="1500" dirty="0">
                <a:latin typeface="Montserrat" pitchFamily="2" charset="77"/>
                <a:sym typeface="Wingdings" pitchFamily="2" charset="2"/>
              </a:rPr>
            </a:br>
            <a:r>
              <a:rPr lang="en-US" sz="1500" dirty="0">
                <a:latin typeface="Montserrat" pitchFamily="2" charset="77"/>
                <a:sym typeface="Wingdings" pitchFamily="2" charset="2"/>
              </a:rPr>
              <a:t>products which are under </a:t>
            </a:r>
            <a:br>
              <a:rPr lang="en-US" sz="1500" dirty="0">
                <a:latin typeface="Montserrat" pitchFamily="2" charset="77"/>
                <a:sym typeface="Wingdings" pitchFamily="2" charset="2"/>
              </a:rPr>
            </a:br>
            <a:r>
              <a:rPr lang="en-US" sz="1500" dirty="0">
                <a:latin typeface="Montserrat" pitchFamily="2" charset="77"/>
                <a:sym typeface="Wingdings" pitchFamily="2" charset="2"/>
              </a:rPr>
              <a:t>stock/pricing and delivery control </a:t>
            </a:r>
            <a:br>
              <a:rPr lang="en-US" sz="1500" dirty="0">
                <a:latin typeface="Montserrat" pitchFamily="2" charset="77"/>
                <a:sym typeface="Wingdings" pitchFamily="2" charset="2"/>
              </a:rPr>
            </a:br>
            <a:r>
              <a:rPr lang="en-US" sz="1500" dirty="0">
                <a:latin typeface="Montserrat" pitchFamily="2" charset="77"/>
                <a:sym typeface="Wingdings" pitchFamily="2" charset="2"/>
              </a:rPr>
              <a:t>by the supplier.</a:t>
            </a:r>
          </a:p>
          <a:p>
            <a:pPr marL="457200" lvl="1" indent="0">
              <a:buNone/>
            </a:pPr>
            <a:r>
              <a:rPr lang="en-US" sz="1500" b="1" dirty="0">
                <a:latin typeface="Montserrat" pitchFamily="2" charset="77"/>
                <a:sym typeface="Wingdings" pitchFamily="2" charset="2"/>
              </a:rPr>
              <a:t> E2E group </a:t>
            </a:r>
          </a:p>
        </p:txBody>
      </p:sp>
      <p:sp>
        <p:nvSpPr>
          <p:cNvPr id="4" name="Titre 1">
            <a:extLst>
              <a:ext uri="{FF2B5EF4-FFF2-40B4-BE49-F238E27FC236}">
                <a16:creationId xmlns:a16="http://schemas.microsoft.com/office/drawing/2014/main" id="{5587AF06-A8D3-0205-72C1-CF61FDD35E7A}"/>
              </a:ext>
            </a:extLst>
          </p:cNvPr>
          <p:cNvSpPr txBox="1">
            <a:spLocks/>
          </p:cNvSpPr>
          <p:nvPr/>
        </p:nvSpPr>
        <p:spPr>
          <a:xfrm>
            <a:off x="118009" y="138548"/>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Business process design</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ontserrat" pitchFamily="2" charset="77"/>
                <a:ea typeface="Fira Code" pitchFamily="49" charset="0"/>
                <a:cs typeface="Fira Code" pitchFamily="49" charset="0"/>
              </a:rPr>
              <a:t>Applied to the Retailer / Supplier model</a:t>
            </a:r>
          </a:p>
        </p:txBody>
      </p:sp>
      <p:pic>
        <p:nvPicPr>
          <p:cNvPr id="2" name="Graphique 1">
            <a:extLst>
              <a:ext uri="{FF2B5EF4-FFF2-40B4-BE49-F238E27FC236}">
                <a16:creationId xmlns:a16="http://schemas.microsoft.com/office/drawing/2014/main" id="{DF53493A-2C53-5318-2175-A0480E8B9E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1526" y="4310743"/>
            <a:ext cx="7312424" cy="2380890"/>
          </a:xfrm>
          <a:prstGeom prst="rect">
            <a:avLst/>
          </a:prstGeom>
        </p:spPr>
      </p:pic>
      <p:sp>
        <p:nvSpPr>
          <p:cNvPr id="5" name="ZoneTexte 4">
            <a:extLst>
              <a:ext uri="{FF2B5EF4-FFF2-40B4-BE49-F238E27FC236}">
                <a16:creationId xmlns:a16="http://schemas.microsoft.com/office/drawing/2014/main" id="{54B47840-70F1-752E-F467-7F7C93E1D245}"/>
              </a:ext>
            </a:extLst>
          </p:cNvPr>
          <p:cNvSpPr txBox="1"/>
          <p:nvPr/>
        </p:nvSpPr>
        <p:spPr>
          <a:xfrm>
            <a:off x="6346371" y="1099458"/>
            <a:ext cx="512435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Expected outcome : Full business process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BPMN format as the basis for implementation</a:t>
            </a:r>
          </a:p>
        </p:txBody>
      </p:sp>
    </p:spTree>
    <p:extLst>
      <p:ext uri="{BB962C8B-B14F-4D97-AF65-F5344CB8AC3E}">
        <p14:creationId xmlns:p14="http://schemas.microsoft.com/office/powerpoint/2010/main" val="2356618561"/>
      </p:ext>
    </p:extLst>
  </p:cSld>
  <p:clrMapOvr>
    <a:masterClrMapping/>
  </p:clrMapOvr>
</p:sld>
</file>

<file path=ppt/theme/theme1.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ATAAPMWG1.3" id="{99A1DCB5-4D8C-B240-9342-62D8E2786C9C}" vid="{41BEFDE3-AA0F-5B40-8D45-904DC3CE3EF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1547</Words>
  <Application>Microsoft Macintosh PowerPoint</Application>
  <PresentationFormat>Grand écran</PresentationFormat>
  <Paragraphs>154</Paragraphs>
  <Slides>12</Slides>
  <Notes>12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12</vt:i4>
      </vt:variant>
    </vt:vector>
  </HeadingPairs>
  <TitlesOfParts>
    <vt:vector size="19" baseType="lpstr">
      <vt:lpstr>Aptos</vt:lpstr>
      <vt:lpstr>Arial</vt:lpstr>
      <vt:lpstr>Calibri</vt:lpstr>
      <vt:lpstr>Calibri Light</vt:lpstr>
      <vt:lpstr>Montserrat</vt:lpstr>
      <vt:lpstr>Open Sans</vt:lpstr>
      <vt:lpstr>1_Thème Office</vt:lpstr>
      <vt:lpstr>Présentation PowerPoint</vt:lpstr>
      <vt:lpstr>Présentation PowerPoint</vt:lpstr>
      <vt:lpstr>Business problem to solve </vt:lpstr>
      <vt:lpstr>Base requirements  Retailer  Supplier</vt:lpstr>
      <vt:lpstr>Base requirements  Supplier  Retailer</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Gregor Baues</dc:creator>
  <cp:lastModifiedBy>Gregor Baues</cp:lastModifiedBy>
  <cp:revision>1</cp:revision>
  <dcterms:created xsi:type="dcterms:W3CDTF">2025-10-06T06:34:43Z</dcterms:created>
  <dcterms:modified xsi:type="dcterms:W3CDTF">2025-10-06T06:35:38Z</dcterms:modified>
</cp:coreProperties>
</file>